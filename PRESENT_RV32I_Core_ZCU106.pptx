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00" d="100"/>
          <a:sy n="100" d="100"/>
        </p:scale>
        <p:origin x="420" y="2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1520" y="1280160"/>
            <a:ext cx="73152" cy="4206240"/>
          </a:xfrm>
          <a:prstGeom prst="rect">
            <a:avLst/>
          </a:prstGeom>
          <a:solidFill>
            <a:srgbClr val="F26F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280160"/>
            <a:ext cx="10332720" cy="4206240"/>
          </a:xfrm>
          <a:prstGeom prst="rect">
            <a:avLst/>
          </a:prstGeom>
          <a:noFill/>
        </p:spPr>
        <p:txBody>
          <a:bodyPr wrap="square" lIns="0" tIns="0" rIns="0" bIns="0">
            <a:spAutoFit/>
          </a:bodyPr>
          <a:lstStyle/>
          <a:p>
            <a:pPr>
              <a:defRPr sz="1100" b="1">
                <a:solidFill>
                  <a:srgbClr val="F26F21"/>
                </a:solidFill>
                <a:latin typeface="Segoe UI"/>
              </a:defRPr>
            </a:pPr>
            <a:r>
              <a:t>FPT SEMICONDUCTOR • CPU DESIGN REPORT</a:t>
            </a:r>
          </a:p>
          <a:p>
            <a:pPr>
              <a:spcBef>
                <a:spcPts val="1200"/>
              </a:spcBef>
              <a:defRPr sz="3200" b="1">
                <a:solidFill>
                  <a:srgbClr val="0F172A"/>
                </a:solidFill>
                <a:latin typeface="Segoe UI"/>
              </a:defRPr>
            </a:pPr>
            <a:r>
              <a:t>Thiết Kế &amp; Kiểm Chứng</a:t>
            </a:r>
            <a:br/>
            <a:r>
              <a:t>CPU RISC-V RV32I Trên FPGA ZCU106</a:t>
            </a:r>
          </a:p>
          <a:p>
            <a:pPr>
              <a:spcBef>
                <a:spcPts val="1200"/>
              </a:spcBef>
              <a:defRPr sz="1300">
                <a:solidFill>
                  <a:srgbClr val="64748B"/>
                </a:solidFill>
                <a:latin typeface="Segoe UI"/>
              </a:defRPr>
            </a:pPr>
            <a:r>
              <a:t>Lõi rv32i_core 5 Tầng • IP rv32i_axi_integration_top • Top FPGA rv32i_bd_wrapper • 100 MHz Timing Closure</a:t>
            </a:r>
          </a:p>
          <a:p>
            <a:pPr>
              <a:spcBef>
                <a:spcPts val="2800"/>
              </a:spcBef>
              <a:defRPr sz="1150" b="1">
                <a:solidFill>
                  <a:srgbClr val="0F172A"/>
                </a:solidFill>
                <a:latin typeface="Segoe UI"/>
              </a:defRPr>
            </a:pPr>
            <a:r>
              <a:t>Người thực hiện: NGUYỄN TUẤN NGỌC   |   Người hướng dẫn: ĐÀO THANH MAI</a:t>
            </a:r>
          </a:p>
          <a:p>
            <a:pPr>
              <a:spcBef>
                <a:spcPts val="400"/>
              </a:spcBef>
              <a:defRPr sz="950">
                <a:solidFill>
                  <a:srgbClr val="64748B"/>
                </a:solidFill>
                <a:latin typeface="Segoe UI"/>
              </a:defRPr>
            </a:pPr>
            <a:r>
              <a:t>AMD Zynq UltraScale+ XCZU7EV  •  Vivado 2025.2  •  GCC 15.2.0  •  Icarus Verilog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MỤC LỤC TỔNG QUAN</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Cấu Trúc Báo Cáo Dự Án (6 Chương)</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2/28</a:t>
            </a:r>
          </a:p>
        </p:txBody>
      </p:sp>
      <p:sp>
        <p:nvSpPr>
          <p:cNvPr id="6" name="TextBox 5"/>
          <p:cNvSpPr txBox="1"/>
          <p:nvPr/>
        </p:nvSpPr>
        <p:spPr>
          <a:xfrm>
            <a:off x="731520" y="1691640"/>
            <a:ext cx="5120640" cy="4389120"/>
          </a:xfrm>
          <a:prstGeom prst="rect">
            <a:avLst/>
          </a:prstGeom>
          <a:noFill/>
        </p:spPr>
        <p:txBody>
          <a:bodyPr wrap="square" lIns="0" tIns="0" rIns="0" bIns="0">
            <a:spAutoFit/>
          </a:bodyPr>
          <a:lstStyle/>
          <a:p>
            <a:pPr>
              <a:spcAft>
                <a:spcPts val="2400"/>
              </a:spcAft>
              <a:defRPr sz="1150">
                <a:latin typeface="Segoe UI"/>
              </a:defRPr>
            </a:pPr>
            <a:r>
              <a:rPr b="1">
                <a:solidFill>
                  <a:srgbClr val="0F172A"/>
                </a:solidFill>
              </a:rPr>
              <a:t>01. GIỚI THIỆU DỰ ÁN — </a:t>
            </a:r>
            <a:r>
              <a:rPr>
                <a:solidFill>
                  <a:srgbClr val="334155"/>
                </a:solidFill>
              </a:rPr>
              <a:t>Bối cảnh, mục tiêu thiết kế, bộ công cụ phát triển, kiến trúc hệ thống SoC và kết quả tóm lược.</a:t>
            </a:r>
          </a:p>
          <a:p>
            <a:pPr>
              <a:spcAft>
                <a:spcPts val="2400"/>
              </a:spcAft>
              <a:defRPr sz="1150">
                <a:latin typeface="Segoe UI"/>
              </a:defRPr>
            </a:pPr>
            <a:r>
              <a:rPr b="1">
                <a:solidFill>
                  <a:srgbClr val="0F172A"/>
                </a:solidFill>
              </a:rPr>
              <a:t>02. KIẾN TRÚC CORE RV32I — </a:t>
            </a:r>
            <a:r>
              <a:rPr>
                <a:solidFill>
                  <a:srgbClr val="334155"/>
                </a:solidFill>
              </a:rPr>
              <a:t>Sơ đồ pipeline 5 tầng, chi tiết module Datapath, Register File, Bus AXI, tập lệnh và thanh ghi CSR.</a:t>
            </a:r>
          </a:p>
          <a:p>
            <a:pPr>
              <a:spcAft>
                <a:spcPts val="2400"/>
              </a:spcAft>
              <a:defRPr sz="1150">
                <a:latin typeface="Segoe UI"/>
              </a:defRPr>
            </a:pPr>
            <a:r>
              <a:rPr b="1">
                <a:solidFill>
                  <a:srgbClr val="0F172A"/>
                </a:solidFill>
              </a:rPr>
              <a:t>03. LUỒNG XỬ LÝ CHI TIẾT — </a:t>
            </a:r>
            <a:r>
              <a:rPr>
                <a:solidFill>
                  <a:srgbClr val="334155"/>
                </a:solidFill>
              </a:rPr>
              <a:t>Phân tích bản chất và sơ đồ FSM xử lý Data Hazard, Control Hazard, Memory Backpressure, Ngoại lệ và Ngắt.</a:t>
            </a:r>
          </a:p>
        </p:txBody>
      </p:sp>
      <p:sp>
        <p:nvSpPr>
          <p:cNvPr id="7" name="TextBox 6"/>
          <p:cNvSpPr txBox="1"/>
          <p:nvPr/>
        </p:nvSpPr>
        <p:spPr>
          <a:xfrm>
            <a:off x="6217920" y="1691640"/>
            <a:ext cx="5120640" cy="4389120"/>
          </a:xfrm>
          <a:prstGeom prst="rect">
            <a:avLst/>
          </a:prstGeom>
          <a:noFill/>
        </p:spPr>
        <p:txBody>
          <a:bodyPr wrap="square" lIns="0" tIns="0" rIns="0" bIns="0">
            <a:spAutoFit/>
          </a:bodyPr>
          <a:lstStyle/>
          <a:p>
            <a:pPr>
              <a:spcAft>
                <a:spcPts val="2400"/>
              </a:spcAft>
              <a:defRPr sz="1150">
                <a:latin typeface="Segoe UI"/>
              </a:defRPr>
            </a:pPr>
            <a:r>
              <a:rPr b="1">
                <a:solidFill>
                  <a:srgbClr val="0F172A"/>
                </a:solidFill>
              </a:rPr>
              <a:t>04. ĐIỂM SÁNG KIỂM CHỨNG — </a:t>
            </a:r>
            <a:r>
              <a:rPr>
                <a:solidFill>
                  <a:srgbClr val="334155"/>
                </a:solidFill>
              </a:rPr>
              <a:t>Chiến lược 3 lớp (101/101 PASS), đối soát chuẩn quốc tế riscv-tests, phân tích 6 lỗi debug thực chiến và timing 100 MHz.</a:t>
            </a:r>
          </a:p>
          <a:p>
            <a:pPr>
              <a:spcAft>
                <a:spcPts val="2400"/>
              </a:spcAft>
              <a:defRPr sz="1150">
                <a:latin typeface="Segoe UI"/>
              </a:defRPr>
            </a:pPr>
            <a:r>
              <a:rPr b="1">
                <a:solidFill>
                  <a:srgbClr val="0F172A"/>
                </a:solidFill>
              </a:rPr>
              <a:t>05. HƯỚNG PHÁT TRIỂN — </a:t>
            </a:r>
            <a:r>
              <a:rPr>
                <a:solidFill>
                  <a:srgbClr val="334155"/>
                </a:solidFill>
              </a:rPr>
              <a:t>Kiến trúc Dual-Clock (150/50 MHz), kích hoạt biến thể ALU tăng tốc (CLA/Barrel Shifter) và mở rộng tập lệnh.</a:t>
            </a:r>
          </a:p>
          <a:p>
            <a:pPr>
              <a:spcAft>
                <a:spcPts val="2400"/>
              </a:spcAft>
              <a:defRPr sz="1150">
                <a:latin typeface="Segoe UI"/>
              </a:defRPr>
            </a:pPr>
            <a:r>
              <a:rPr b="1">
                <a:solidFill>
                  <a:srgbClr val="0F172A"/>
                </a:solidFill>
              </a:rPr>
              <a:t>06. TỔNG KẾT — </a:t>
            </a:r>
            <a:r>
              <a:rPr>
                <a:solidFill>
                  <a:srgbClr val="334155"/>
                </a:solidFill>
              </a:rPr>
              <a:t>Tổng kết các thành tựu cốt lõi đã đạt được và phiên thảo luận kỹ thuật (Q&amp;A).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1. GIỚI THIỆU DỰ ÁN</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1.1 Bối Cảnh &amp; Mục Tiêu Thiết Kế Core RV32I</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3/28</a:t>
            </a:r>
          </a:p>
        </p:txBody>
      </p:sp>
      <p:sp>
        <p:nvSpPr>
          <p:cNvPr id="6" name="Rectangle 5"/>
          <p:cNvSpPr/>
          <p:nvPr/>
        </p:nvSpPr>
        <p:spPr>
          <a:xfrm>
            <a:off x="731520" y="1737360"/>
            <a:ext cx="54864" cy="1371600"/>
          </a:xfrm>
          <a:prstGeom prst="rect">
            <a:avLst/>
          </a:prstGeom>
          <a:solidFill>
            <a:srgbClr val="F26F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737360"/>
            <a:ext cx="4389120" cy="1371600"/>
          </a:xfrm>
          <a:prstGeom prst="rect">
            <a:avLst/>
          </a:prstGeom>
          <a:noFill/>
        </p:spPr>
        <p:txBody>
          <a:bodyPr wrap="square" lIns="0" tIns="0" rIns="0" bIns="0">
            <a:spAutoFit/>
          </a:bodyPr>
          <a:lstStyle/>
          <a:p>
            <a:pPr>
              <a:defRPr sz="1300" b="1">
                <a:solidFill>
                  <a:srgbClr val="0F172A"/>
                </a:solidFill>
                <a:latin typeface="Segoe UI"/>
              </a:defRPr>
            </a:pPr>
            <a:r>
              <a:t>Mục tiêu cốt lõi: Thiết kế CPU RISC-V hoàn chỉnh bằng Verilog từ con số 0.</a:t>
            </a:r>
          </a:p>
          <a:p>
            <a:pPr>
              <a:spcBef>
                <a:spcPts val="600"/>
              </a:spcBef>
              <a:defRPr sz="950">
                <a:solidFill>
                  <a:srgbClr val="64748B"/>
                </a:solidFill>
                <a:latin typeface="Segoe UI"/>
              </a:defRPr>
            </a:pPr>
            <a:r>
              <a:t>Đảm bảo in-order single commit, xử lý ngoại lệ chuẩn xác, chịu độ trễ bộ nhớ bất định và đóng timing phần cứng trên bo mạch ZCU106.</a:t>
            </a:r>
          </a:p>
        </p:txBody>
      </p:sp>
      <p:sp>
        <p:nvSpPr>
          <p:cNvPr id="8" name="TextBox 7"/>
          <p:cNvSpPr txBox="1"/>
          <p:nvPr/>
        </p:nvSpPr>
        <p:spPr>
          <a:xfrm>
            <a:off x="5669280" y="1737360"/>
            <a:ext cx="5760720" cy="4389120"/>
          </a:xfrm>
          <a:prstGeom prst="rect">
            <a:avLst/>
          </a:prstGeom>
          <a:noFill/>
        </p:spPr>
        <p:txBody>
          <a:bodyPr wrap="square" lIns="0" tIns="0" rIns="0" bIns="0">
            <a:spAutoFit/>
          </a:bodyPr>
          <a:lstStyle/>
          <a:p>
            <a:pPr>
              <a:spcAft>
                <a:spcPts val="1200"/>
              </a:spcAft>
              <a:defRPr sz="1000">
                <a:latin typeface="Segoe UI"/>
              </a:defRPr>
            </a:pPr>
            <a:r>
              <a:rPr b="1">
                <a:solidFill>
                  <a:srgbClr val="0F172A"/>
                </a:solidFill>
              </a:rPr>
              <a:t>Tập lệnh — </a:t>
            </a:r>
            <a:r>
              <a:rPr>
                <a:solidFill>
                  <a:srgbClr val="334155"/>
                </a:solidFill>
              </a:rPr>
              <a:t>37 lệnh RV32I base + Zicsr + Machine-mode (ECALL, EBREAK, MRET).</a:t>
            </a:r>
          </a:p>
          <a:p>
            <a:pPr>
              <a:spcAft>
                <a:spcPts val="1200"/>
              </a:spcAft>
              <a:defRPr sz="1000">
                <a:latin typeface="Segoe UI"/>
              </a:defRPr>
            </a:pPr>
            <a:r>
              <a:rPr b="1">
                <a:solidFill>
                  <a:srgbClr val="0F172A"/>
                </a:solidFill>
              </a:rPr>
              <a:t>Pipeline — </a:t>
            </a:r>
            <a:r>
              <a:rPr>
                <a:solidFill>
                  <a:srgbClr val="334155"/>
                </a:solidFill>
              </a:rPr>
              <a:t>In-order single-issue 5 tầng IF–ID–EX–MEM–WB, không dự đoán nhánh.</a:t>
            </a:r>
          </a:p>
          <a:p>
            <a:pPr>
              <a:spcAft>
                <a:spcPts val="1200"/>
              </a:spcAft>
              <a:defRPr sz="1000">
                <a:latin typeface="Segoe UI"/>
              </a:defRPr>
            </a:pPr>
            <a:r>
              <a:rPr b="1">
                <a:solidFill>
                  <a:srgbClr val="0F172A"/>
                </a:solidFill>
              </a:rPr>
              <a:t>Chịu trễ bất định — </a:t>
            </a:r>
            <a:r>
              <a:rPr>
                <a:solidFill>
                  <a:srgbClr val="334155"/>
                </a:solidFill>
              </a:rPr>
              <a:t>Tự động thích ứng với latency thay đổi của bus AXI mà không làm sai thứ tự lệnh.</a:t>
            </a:r>
          </a:p>
          <a:p>
            <a:pPr>
              <a:spcAft>
                <a:spcPts val="1200"/>
              </a:spcAft>
              <a:defRPr sz="1000">
                <a:latin typeface="Segoe UI"/>
              </a:defRPr>
            </a:pPr>
            <a:r>
              <a:rPr b="1">
                <a:solidFill>
                  <a:srgbClr val="0F172A"/>
                </a:solidFill>
              </a:rPr>
              <a:t>Ngoại lệ chính xác — </a:t>
            </a:r>
            <a:r>
              <a:rPr>
                <a:solidFill>
                  <a:srgbClr val="334155"/>
                </a:solidFill>
              </a:rPr>
              <a:t>Lỗi ở bất kỳ tầng nào cũng truyền tuần tự về WB để chỉ kích hoạt Trap đúng điểm commit.</a:t>
            </a:r>
          </a:p>
          <a:p>
            <a:pPr>
              <a:spcAft>
                <a:spcPts val="1200"/>
              </a:spcAft>
              <a:defRPr sz="1000">
                <a:latin typeface="Segoe UI"/>
              </a:defRPr>
            </a:pPr>
            <a:r>
              <a:rPr b="1">
                <a:solidFill>
                  <a:srgbClr val="0F172A"/>
                </a:solidFill>
              </a:rPr>
              <a:t>Mục tiêu FPGA — </a:t>
            </a:r>
            <a:r>
              <a:rPr>
                <a:solidFill>
                  <a:srgbClr val="334155"/>
                </a:solidFill>
              </a:rPr>
              <a:t>Tần số &gt;= 50 MHz trên ZCU106 (thực tế đạt 100 MHz với WNS +3.733 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1. GIỚI THIỆU DỰ ÁN</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1.1 Môi Trường Phát Triển &amp; Công Cụ</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4/28</a:t>
            </a:r>
          </a:p>
        </p:txBody>
      </p:sp>
      <p:sp>
        <p:nvSpPr>
          <p:cNvPr id="6" name="TextBox 5"/>
          <p:cNvSpPr txBox="1"/>
          <p:nvPr/>
        </p:nvSpPr>
        <p:spPr>
          <a:xfrm>
            <a:off x="731520" y="1737360"/>
            <a:ext cx="10698480" cy="219456"/>
          </a:xfrm>
          <a:prstGeom prst="rect">
            <a:avLst/>
          </a:prstGeom>
          <a:noFill/>
        </p:spPr>
        <p:txBody>
          <a:bodyPr wrap="square" lIns="0" tIns="0" rIns="0" bIns="0">
            <a:spAutoFit/>
          </a:bodyPr>
          <a:lstStyle/>
          <a:p>
            <a:pPr>
              <a:defRPr sz="900" b="1">
                <a:solidFill>
                  <a:srgbClr val="C2410C"/>
                </a:solidFill>
                <a:latin typeface="Segoe UI"/>
              </a:defRPr>
            </a:pPr>
            <a:r>
              <a:t>MÔI TRƯỜNG PHÁT TRIỂN VÀ CÔNG CỤ CỦA DỰ ÁN.</a:t>
            </a:r>
          </a:p>
        </p:txBody>
      </p:sp>
      <p:graphicFrame>
        <p:nvGraphicFramePr>
          <p:cNvPr id="7" name="Table 6"/>
          <p:cNvGraphicFramePr>
            <a:graphicFrameLocks noGrp="1"/>
          </p:cNvGraphicFramePr>
          <p:nvPr/>
        </p:nvGraphicFramePr>
        <p:xfrm>
          <a:off x="731520" y="1975104"/>
          <a:ext cx="10698480" cy="3968496"/>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566928">
                <a:tc>
                  <a:txBody>
                    <a:bodyPr/>
                    <a:lstStyle/>
                    <a:p>
                      <a:pPr>
                        <a:defRPr sz="950" b="1">
                          <a:solidFill>
                            <a:srgbClr val="0F172A"/>
                          </a:solidFill>
                          <a:latin typeface="Segoe UI"/>
                        </a:defRPr>
                      </a:pPr>
                      <a:r>
                        <a:t>Thành Phần</a:t>
                      </a:r>
                    </a:p>
                  </a:txBody>
                  <a:tcPr>
                    <a:solidFill>
                      <a:srgbClr val="F1F5F9"/>
                    </a:solidFill>
                  </a:tcPr>
                </a:tc>
                <a:tc>
                  <a:txBody>
                    <a:bodyPr/>
                    <a:lstStyle/>
                    <a:p>
                      <a:pPr>
                        <a:defRPr sz="950" b="1">
                          <a:solidFill>
                            <a:srgbClr val="0F172A"/>
                          </a:solidFill>
                          <a:latin typeface="Segoe UI"/>
                        </a:defRPr>
                      </a:pPr>
                      <a:r>
                        <a:t>Lựa Chọn</a:t>
                      </a:r>
                    </a:p>
                  </a:txBody>
                  <a:tcPr>
                    <a:solidFill>
                      <a:srgbClr val="F1F5F9"/>
                    </a:solidFill>
                  </a:tcPr>
                </a:tc>
                <a:tc>
                  <a:txBody>
                    <a:bodyPr/>
                    <a:lstStyle/>
                    <a:p>
                      <a:pPr>
                        <a:defRPr sz="950" b="1">
                          <a:solidFill>
                            <a:srgbClr val="0F172A"/>
                          </a:solidFill>
                          <a:latin typeface="Segoe UI"/>
                        </a:defRPr>
                      </a:pPr>
                      <a:r>
                        <a:t>Ghi Chú Kỹ Thuật</a:t>
                      </a:r>
                    </a:p>
                  </a:txBody>
                  <a:tcPr>
                    <a:solidFill>
                      <a:srgbClr val="F1F5F9"/>
                    </a:solidFill>
                  </a:tcPr>
                </a:tc>
                <a:extLst>
                  <a:ext uri="{0D108BD9-81ED-4DB2-BD59-A6C34878D82A}">
                    <a16:rowId xmlns:a16="http://schemas.microsoft.com/office/drawing/2014/main" val="10000"/>
                  </a:ext>
                </a:extLst>
              </a:tr>
              <a:tr h="566928">
                <a:tc>
                  <a:txBody>
                    <a:bodyPr/>
                    <a:lstStyle/>
                    <a:p>
                      <a:pPr>
                        <a:defRPr sz="900" b="1">
                          <a:solidFill>
                            <a:srgbClr val="0F172A"/>
                          </a:solidFill>
                          <a:latin typeface="Segoe UI"/>
                        </a:defRPr>
                      </a:pPr>
                      <a:r>
                        <a:t>Board FPGA</a:t>
                      </a:r>
                    </a:p>
                  </a:txBody>
                  <a:tcPr>
                    <a:solidFill>
                      <a:srgbClr val="FFFFFF"/>
                    </a:solidFill>
                  </a:tcPr>
                </a:tc>
                <a:tc>
                  <a:txBody>
                    <a:bodyPr/>
                    <a:lstStyle/>
                    <a:p>
                      <a:pPr>
                        <a:defRPr sz="900">
                          <a:solidFill>
                            <a:srgbClr val="334155"/>
                          </a:solidFill>
                          <a:latin typeface="Segoe UI"/>
                        </a:defRPr>
                      </a:pPr>
                      <a:r>
                        <a:t>ZCU106 (part0:2.6)</a:t>
                      </a:r>
                    </a:p>
                  </a:txBody>
                  <a:tcPr>
                    <a:solidFill>
                      <a:srgbClr val="FFFFFF"/>
                    </a:solidFill>
                  </a:tcPr>
                </a:tc>
                <a:tc>
                  <a:txBody>
                    <a:bodyPr/>
                    <a:lstStyle/>
                    <a:p>
                      <a:pPr>
                        <a:defRPr sz="900">
                          <a:solidFill>
                            <a:srgbClr val="334155"/>
                          </a:solidFill>
                          <a:latin typeface="Segoe UI"/>
                        </a:defRPr>
                      </a:pPr>
                      <a:r>
                        <a:t>AMD Zynq UltraScale+ Evaluation Kit</a:t>
                      </a:r>
                    </a:p>
                  </a:txBody>
                  <a:tcPr>
                    <a:solidFill>
                      <a:srgbClr val="FFFFFF"/>
                    </a:solidFill>
                  </a:tcPr>
                </a:tc>
                <a:extLst>
                  <a:ext uri="{0D108BD9-81ED-4DB2-BD59-A6C34878D82A}">
                    <a16:rowId xmlns:a16="http://schemas.microsoft.com/office/drawing/2014/main" val="10001"/>
                  </a:ext>
                </a:extLst>
              </a:tr>
              <a:tr h="566928">
                <a:tc>
                  <a:txBody>
                    <a:bodyPr/>
                    <a:lstStyle/>
                    <a:p>
                      <a:pPr>
                        <a:defRPr sz="900" b="1">
                          <a:solidFill>
                            <a:srgbClr val="0F172A"/>
                          </a:solidFill>
                          <a:latin typeface="Segoe UI"/>
                        </a:defRPr>
                      </a:pPr>
                      <a:r>
                        <a:t>FPGA Part</a:t>
                      </a:r>
                    </a:p>
                  </a:txBody>
                  <a:tcPr>
                    <a:solidFill>
                      <a:srgbClr val="F8FAFC"/>
                    </a:solidFill>
                  </a:tcPr>
                </a:tc>
                <a:tc>
                  <a:txBody>
                    <a:bodyPr/>
                    <a:lstStyle/>
                    <a:p>
                      <a:pPr>
                        <a:defRPr sz="900">
                          <a:solidFill>
                            <a:srgbClr val="334155"/>
                          </a:solidFill>
                          <a:latin typeface="Segoe UI"/>
                        </a:defRPr>
                      </a:pPr>
                      <a:r>
                        <a:t>xczu7ev-ffvc1156-2-e</a:t>
                      </a:r>
                    </a:p>
                  </a:txBody>
                  <a:tcPr>
                    <a:solidFill>
                      <a:srgbClr val="F8FAFC"/>
                    </a:solidFill>
                  </a:tcPr>
                </a:tc>
                <a:tc>
                  <a:txBody>
                    <a:bodyPr/>
                    <a:lstStyle/>
                    <a:p>
                      <a:pPr>
                        <a:defRPr sz="900">
                          <a:solidFill>
                            <a:srgbClr val="334155"/>
                          </a:solidFill>
                          <a:latin typeface="Segoe UI"/>
                        </a:defRPr>
                      </a:pPr>
                      <a:r>
                        <a:t>Speed grade -2, kiến trúc UltraScale+ hiện đại</a:t>
                      </a:r>
                    </a:p>
                  </a:txBody>
                  <a:tcPr>
                    <a:solidFill>
                      <a:srgbClr val="F8FAFC"/>
                    </a:solidFill>
                  </a:tcPr>
                </a:tc>
                <a:extLst>
                  <a:ext uri="{0D108BD9-81ED-4DB2-BD59-A6C34878D82A}">
                    <a16:rowId xmlns:a16="http://schemas.microsoft.com/office/drawing/2014/main" val="10002"/>
                  </a:ext>
                </a:extLst>
              </a:tr>
              <a:tr h="566928">
                <a:tc>
                  <a:txBody>
                    <a:bodyPr/>
                    <a:lstStyle/>
                    <a:p>
                      <a:pPr>
                        <a:defRPr sz="900" b="1">
                          <a:solidFill>
                            <a:srgbClr val="0F172A"/>
                          </a:solidFill>
                          <a:latin typeface="Segoe UI"/>
                        </a:defRPr>
                      </a:pPr>
                      <a:r>
                        <a:t>EDA Vivado</a:t>
                      </a:r>
                    </a:p>
                  </a:txBody>
                  <a:tcPr>
                    <a:solidFill>
                      <a:srgbClr val="FFFFFF"/>
                    </a:solidFill>
                  </a:tcPr>
                </a:tc>
                <a:tc>
                  <a:txBody>
                    <a:bodyPr/>
                    <a:lstStyle/>
                    <a:p>
                      <a:pPr>
                        <a:defRPr sz="900">
                          <a:solidFill>
                            <a:srgbClr val="334155"/>
                          </a:solidFill>
                          <a:latin typeface="Segoe UI"/>
                        </a:defRPr>
                      </a:pPr>
                      <a:r>
                        <a:t>Vivado 2025.2</a:t>
                      </a:r>
                    </a:p>
                  </a:txBody>
                  <a:tcPr>
                    <a:solidFill>
                      <a:srgbClr val="FFFFFF"/>
                    </a:solidFill>
                  </a:tcPr>
                </a:tc>
                <a:tc>
                  <a:txBody>
                    <a:bodyPr/>
                    <a:lstStyle/>
                    <a:p>
                      <a:pPr>
                        <a:defRPr sz="900">
                          <a:solidFill>
                            <a:srgbClr val="334155"/>
                          </a:solidFill>
                          <a:latin typeface="Segoe UI"/>
                        </a:defRPr>
                      </a:pPr>
                      <a:r>
                        <a:t>Top tổng hợp phần cứng: rv32i_bd_wrapper</a:t>
                      </a:r>
                    </a:p>
                  </a:txBody>
                  <a:tcPr>
                    <a:solidFill>
                      <a:srgbClr val="FFFFFF"/>
                    </a:solidFill>
                  </a:tcPr>
                </a:tc>
                <a:extLst>
                  <a:ext uri="{0D108BD9-81ED-4DB2-BD59-A6C34878D82A}">
                    <a16:rowId xmlns:a16="http://schemas.microsoft.com/office/drawing/2014/main" val="10003"/>
                  </a:ext>
                </a:extLst>
              </a:tr>
              <a:tr h="566928">
                <a:tc>
                  <a:txBody>
                    <a:bodyPr/>
                    <a:lstStyle/>
                    <a:p>
                      <a:pPr>
                        <a:defRPr sz="900" b="1">
                          <a:solidFill>
                            <a:srgbClr val="0F172A"/>
                          </a:solidFill>
                          <a:latin typeface="Segoe UI"/>
                        </a:defRPr>
                      </a:pPr>
                      <a:r>
                        <a:t>Toolchain</a:t>
                      </a:r>
                    </a:p>
                  </a:txBody>
                  <a:tcPr>
                    <a:solidFill>
                      <a:srgbClr val="F8FAFC"/>
                    </a:solidFill>
                  </a:tcPr>
                </a:tc>
                <a:tc>
                  <a:txBody>
                    <a:bodyPr/>
                    <a:lstStyle/>
                    <a:p>
                      <a:pPr>
                        <a:defRPr sz="900">
                          <a:solidFill>
                            <a:srgbClr val="334155"/>
                          </a:solidFill>
                          <a:latin typeface="Segoe UI"/>
                        </a:defRPr>
                      </a:pPr>
                      <a:r>
                        <a:t>riscv-none-elf-gcc 15.2.0</a:t>
                      </a:r>
                    </a:p>
                  </a:txBody>
                  <a:tcPr>
                    <a:solidFill>
                      <a:srgbClr val="F8FAFC"/>
                    </a:solidFill>
                  </a:tcPr>
                </a:tc>
                <a:tc>
                  <a:txBody>
                    <a:bodyPr/>
                    <a:lstStyle/>
                    <a:p>
                      <a:pPr>
                        <a:defRPr sz="900">
                          <a:solidFill>
                            <a:srgbClr val="334155"/>
                          </a:solidFill>
                          <a:latin typeface="Segoe UI"/>
                        </a:defRPr>
                      </a:pPr>
                      <a:r>
                        <a:t>Cờ biên dịch: -march=rv32i_zicsr -mabi=ilp32</a:t>
                      </a:r>
                    </a:p>
                  </a:txBody>
                  <a:tcPr>
                    <a:solidFill>
                      <a:srgbClr val="F8FAFC"/>
                    </a:solidFill>
                  </a:tcPr>
                </a:tc>
                <a:extLst>
                  <a:ext uri="{0D108BD9-81ED-4DB2-BD59-A6C34878D82A}">
                    <a16:rowId xmlns:a16="http://schemas.microsoft.com/office/drawing/2014/main" val="10004"/>
                  </a:ext>
                </a:extLst>
              </a:tr>
              <a:tr h="566928">
                <a:tc>
                  <a:txBody>
                    <a:bodyPr/>
                    <a:lstStyle/>
                    <a:p>
                      <a:pPr>
                        <a:defRPr sz="900" b="1">
                          <a:solidFill>
                            <a:srgbClr val="0F172A"/>
                          </a:solidFill>
                          <a:latin typeface="Segoe UI"/>
                        </a:defRPr>
                      </a:pPr>
                      <a:r>
                        <a:t>Mô Phỏng RTL</a:t>
                      </a:r>
                    </a:p>
                  </a:txBody>
                  <a:tcPr>
                    <a:solidFill>
                      <a:srgbClr val="FFFFFF"/>
                    </a:solidFill>
                  </a:tcPr>
                </a:tc>
                <a:tc>
                  <a:txBody>
                    <a:bodyPr/>
                    <a:lstStyle/>
                    <a:p>
                      <a:pPr>
                        <a:defRPr sz="900">
                          <a:solidFill>
                            <a:srgbClr val="334155"/>
                          </a:solidFill>
                          <a:latin typeface="Segoe UI"/>
                        </a:defRPr>
                      </a:pPr>
                      <a:r>
                        <a:t>Icarus Verilog (iverilog + vvp)</a:t>
                      </a:r>
                    </a:p>
                  </a:txBody>
                  <a:tcPr>
                    <a:solidFill>
                      <a:srgbClr val="FFFFFF"/>
                    </a:solidFill>
                  </a:tcPr>
                </a:tc>
                <a:tc>
                  <a:txBody>
                    <a:bodyPr/>
                    <a:lstStyle/>
                    <a:p>
                      <a:pPr>
                        <a:defRPr sz="900">
                          <a:solidFill>
                            <a:srgbClr val="334155"/>
                          </a:solidFill>
                          <a:latin typeface="Segoe UI"/>
                        </a:defRPr>
                      </a:pPr>
                      <a:r>
                        <a:t>Toàn bộ testbench self-checking tự động không cần license</a:t>
                      </a:r>
                    </a:p>
                  </a:txBody>
                  <a:tcPr>
                    <a:solidFill>
                      <a:srgbClr val="FFFFFF"/>
                    </a:solidFill>
                  </a:tcPr>
                </a:tc>
                <a:extLst>
                  <a:ext uri="{0D108BD9-81ED-4DB2-BD59-A6C34878D82A}">
                    <a16:rowId xmlns:a16="http://schemas.microsoft.com/office/drawing/2014/main" val="10005"/>
                  </a:ext>
                </a:extLst>
              </a:tr>
              <a:tr h="566928">
                <a:tc>
                  <a:txBody>
                    <a:bodyPr/>
                    <a:lstStyle/>
                    <a:p>
                      <a:pPr>
                        <a:defRPr sz="900" b="1">
                          <a:solidFill>
                            <a:srgbClr val="0F172A"/>
                          </a:solidFill>
                          <a:latin typeface="Segoe UI"/>
                        </a:defRPr>
                      </a:pPr>
                      <a:r>
                        <a:t>Nạp Firmware</a:t>
                      </a:r>
                    </a:p>
                  </a:txBody>
                  <a:tcPr>
                    <a:solidFill>
                      <a:srgbClr val="F8FAFC"/>
                    </a:solidFill>
                  </a:tcPr>
                </a:tc>
                <a:tc>
                  <a:txBody>
                    <a:bodyPr/>
                    <a:lstStyle/>
                    <a:p>
                      <a:pPr>
                        <a:defRPr sz="900">
                          <a:solidFill>
                            <a:srgbClr val="334155"/>
                          </a:solidFill>
                          <a:latin typeface="Segoe UI"/>
                        </a:defRPr>
                      </a:pPr>
                      <a:r>
                        <a:t>JTAG-to-AXI + Tcl script</a:t>
                      </a:r>
                    </a:p>
                  </a:txBody>
                  <a:tcPr>
                    <a:solidFill>
                      <a:srgbClr val="F8FAFC"/>
                    </a:solidFill>
                  </a:tcPr>
                </a:tc>
                <a:tc>
                  <a:txBody>
                    <a:bodyPr/>
                    <a:lstStyle/>
                    <a:p>
                      <a:pPr>
                        <a:defRPr sz="900">
                          <a:solidFill>
                            <a:srgbClr val="334155"/>
                          </a:solidFill>
                          <a:latin typeface="Segoe UI"/>
                        </a:defRPr>
                      </a:pPr>
                      <a:r>
                        <a:t>Nạp trực tiếp BRAM từ host, không cần build lại bitstream</a:t>
                      </a:r>
                    </a:p>
                  </a:txBody>
                  <a:tcPr>
                    <a:solidFill>
                      <a:srgbClr val="F8FAF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1. GIỚI THIỆU DỰ ÁN</a:t>
            </a:r>
          </a:p>
        </p:txBody>
      </p:sp>
      <p:sp>
        <p:nvSpPr>
          <p:cNvPr id="3" name="TextBox 2"/>
          <p:cNvSpPr txBox="1"/>
          <p:nvPr/>
        </p:nvSpPr>
        <p:spPr>
          <a:xfrm>
            <a:off x="731520" y="621792"/>
            <a:ext cx="10698480" cy="300082"/>
          </a:xfrm>
          <a:prstGeom prst="rect">
            <a:avLst/>
          </a:prstGeom>
          <a:noFill/>
        </p:spPr>
        <p:txBody>
          <a:bodyPr wrap="square" lIns="0" tIns="0" rIns="0" bIns="0">
            <a:spAutoFit/>
          </a:bodyPr>
          <a:lstStyle/>
          <a:p>
            <a:pPr>
              <a:defRPr sz="1950" b="1">
                <a:solidFill>
                  <a:srgbClr val="0F172A"/>
                </a:solidFill>
                <a:latin typeface="Segoe UI"/>
              </a:defRPr>
            </a:pPr>
            <a:r>
              <a:rPr dirty="0"/>
              <a:t>1.2 &amp; 1.3 </a:t>
            </a:r>
            <a:r>
              <a:rPr dirty="0" err="1"/>
              <a:t>Kiến</a:t>
            </a:r>
            <a:r>
              <a:rPr dirty="0"/>
              <a:t> </a:t>
            </a:r>
            <a:r>
              <a:rPr dirty="0" err="1"/>
              <a:t>Trúc</a:t>
            </a:r>
            <a:r>
              <a:rPr dirty="0"/>
              <a:t> </a:t>
            </a:r>
            <a:r>
              <a:rPr dirty="0" err="1"/>
              <a:t>Hệ</a:t>
            </a:r>
            <a:r>
              <a:rPr dirty="0"/>
              <a:t> </a:t>
            </a:r>
            <a:r>
              <a:rPr dirty="0" err="1"/>
              <a:t>Thống</a:t>
            </a:r>
            <a:r>
              <a:rPr dirty="0"/>
              <a:t> SoC </a:t>
            </a:r>
          </a:p>
        </p:txBody>
      </p:sp>
      <p:sp>
        <p:nvSpPr>
          <p:cNvPr id="4" name="TextBox 3"/>
          <p:cNvSpPr txBox="1"/>
          <p:nvPr/>
        </p:nvSpPr>
        <p:spPr>
          <a:xfrm>
            <a:off x="731520" y="1115568"/>
            <a:ext cx="10698480" cy="256032"/>
          </a:xfrm>
          <a:prstGeom prst="rect">
            <a:avLst/>
          </a:prstGeom>
          <a:noFill/>
        </p:spPr>
        <p:txBody>
          <a:bodyPr wrap="square" lIns="0" tIns="0" rIns="0" bIns="0">
            <a:spAutoFit/>
          </a:bodyPr>
          <a:lstStyle/>
          <a:p>
            <a:pPr>
              <a:defRPr sz="1050">
                <a:solidFill>
                  <a:srgbClr val="64748B"/>
                </a:solidFill>
                <a:latin typeface="Segoe UI"/>
              </a:defRPr>
            </a:pPr>
            <a:r>
              <a:t>Cấu trúc Harvard kép với 3 AXI Masters qua AMD SmartConnect Interconnect</a:t>
            </a:r>
          </a:p>
        </p:txBody>
      </p:sp>
      <p:sp>
        <p:nvSpPr>
          <p:cNvPr id="5" name="Rectangle 4"/>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5/28</a:t>
            </a:r>
          </a:p>
        </p:txBody>
      </p:sp>
      <p:sp>
        <p:nvSpPr>
          <p:cNvPr id="7" name="TextBox 6"/>
          <p:cNvSpPr txBox="1"/>
          <p:nvPr/>
        </p:nvSpPr>
        <p:spPr>
          <a:xfrm>
            <a:off x="731520" y="1737360"/>
            <a:ext cx="4572000" cy="4389120"/>
          </a:xfrm>
          <a:prstGeom prst="rect">
            <a:avLst/>
          </a:prstGeom>
          <a:noFill/>
        </p:spPr>
        <p:txBody>
          <a:bodyPr wrap="square" lIns="0" tIns="0" rIns="0" bIns="0">
            <a:spAutoFit/>
          </a:bodyPr>
          <a:lstStyle/>
          <a:p>
            <a:pPr>
              <a:spcAft>
                <a:spcPts val="1400"/>
              </a:spcAft>
              <a:defRPr sz="1000">
                <a:latin typeface="Segoe UI"/>
              </a:defRPr>
            </a:pPr>
            <a:r>
              <a:rPr b="1">
                <a:solidFill>
                  <a:srgbClr val="0F172A"/>
                </a:solidFill>
              </a:rPr>
              <a:t>Core Subsystem — </a:t>
            </a:r>
            <a:r>
              <a:rPr>
                <a:solidFill>
                  <a:srgbClr val="334155"/>
                </a:solidFill>
              </a:rPr>
              <a:t>Lõi `rv32i_core` 5 tầng kết hợp 2 AXI Adapters trong IP `rv32i_axi_integration_top`.</a:t>
            </a:r>
          </a:p>
          <a:p>
            <a:pPr>
              <a:spcAft>
                <a:spcPts val="1400"/>
              </a:spcAft>
              <a:defRPr sz="1000">
                <a:latin typeface="Segoe UI"/>
              </a:defRPr>
            </a:pPr>
            <a:r>
              <a:rPr b="1">
                <a:solidFill>
                  <a:srgbClr val="0F172A"/>
                </a:solidFill>
              </a:rPr>
              <a:t>AXI Interconnect — </a:t>
            </a:r>
            <a:r>
              <a:rPr>
                <a:solidFill>
                  <a:srgbClr val="334155"/>
                </a:solidFill>
              </a:rPr>
              <a:t>AMD SmartConnect điều phối 3 Master: I-AXI (Fetch), D-AXI (Load/Store), JTAG-to-AXI.</a:t>
            </a:r>
          </a:p>
          <a:p>
            <a:pPr>
              <a:spcAft>
                <a:spcPts val="1400"/>
              </a:spcAft>
              <a:defRPr sz="1000">
                <a:latin typeface="Segoe UI"/>
              </a:defRPr>
            </a:pPr>
            <a:r>
              <a:rPr b="1">
                <a:solidFill>
                  <a:srgbClr val="0F172A"/>
                </a:solidFill>
              </a:rPr>
              <a:t>Bộ nhớ &amp; Ngoại vi — </a:t>
            </a:r>
            <a:r>
              <a:rPr>
                <a:solidFill>
                  <a:srgbClr val="334155"/>
                </a:solidFill>
              </a:rPr>
              <a:t>IMEM BRAM 8KB, DMEM BRAM 8KB, UART Lite 115200 8N1, AXI INTC (Interrupt Controller).</a:t>
            </a:r>
          </a:p>
          <a:p>
            <a:pPr>
              <a:spcAft>
                <a:spcPts val="1400"/>
              </a:spcAft>
              <a:defRPr sz="1000">
                <a:latin typeface="Segoe UI"/>
              </a:defRPr>
            </a:pPr>
            <a:r>
              <a:rPr b="1">
                <a:solidFill>
                  <a:srgbClr val="0F172A"/>
                </a:solidFill>
              </a:rPr>
              <a:t>Clock &amp; Debug — </a:t>
            </a:r>
            <a:r>
              <a:rPr>
                <a:solidFill>
                  <a:srgbClr val="334155"/>
                </a:solidFill>
              </a:rPr>
              <a:t>Clocking Wizard 100 MHz, Processor System Reset, JTAG-to-AXI nạp code trực tiếp.</a:t>
            </a:r>
          </a:p>
        </p:txBody>
      </p:sp>
      <p:sp>
        <p:nvSpPr>
          <p:cNvPr id="8" name="Rectangle 7"/>
          <p:cNvSpPr/>
          <p:nvPr/>
        </p:nvSpPr>
        <p:spPr>
          <a:xfrm>
            <a:off x="5669280" y="1737360"/>
            <a:ext cx="5760720" cy="4389120"/>
          </a:xfrm>
          <a:prstGeom prst="rect">
            <a:avLst/>
          </a:prstGeom>
          <a:solidFill>
            <a:srgbClr val="F3F4F6"/>
          </a:solidFill>
          <a:ln w="19050">
            <a:solidFill>
              <a:srgbClr val="D1D5DB"/>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0" y="3657600"/>
            <a:ext cx="5760720" cy="307777"/>
          </a:xfrm>
          <a:prstGeom prst="rect">
            <a:avLst/>
          </a:prstGeom>
          <a:noFill/>
        </p:spPr>
        <p:txBody>
          <a:bodyPr wrap="square" lIns="0" tIns="0" rIns="0" bIns="0">
            <a:spAutoFit/>
          </a:bodyPr>
          <a:lstStyle/>
          <a:p>
            <a:pPr algn="ctr">
              <a:defRPr sz="1100" b="1">
                <a:solidFill>
                  <a:srgbClr val="64748B"/>
                </a:solidFill>
                <a:latin typeface="Segoe UI"/>
              </a:defRPr>
            </a:pPr>
            <a:r>
              <a:rPr dirty="0"/>
              <a:t>[ </a:t>
            </a:r>
            <a:r>
              <a:rPr dirty="0" err="1"/>
              <a:t>Hình</a:t>
            </a:r>
            <a:r>
              <a:rPr dirty="0"/>
              <a:t> 1. </a:t>
            </a:r>
            <a:r>
              <a:rPr dirty="0" err="1"/>
              <a:t>Sơ</a:t>
            </a:r>
            <a:r>
              <a:rPr dirty="0"/>
              <a:t> </a:t>
            </a:r>
            <a:r>
              <a:rPr dirty="0" err="1"/>
              <a:t>đồ</a:t>
            </a:r>
            <a:r>
              <a:rPr dirty="0"/>
              <a:t> </a:t>
            </a:r>
            <a:r>
              <a:rPr dirty="0" err="1"/>
              <a:t>khối</a:t>
            </a:r>
            <a:r>
              <a:rPr dirty="0"/>
              <a:t> SoC </a:t>
            </a:r>
            <a:r>
              <a:rPr dirty="0" err="1"/>
              <a:t>trên</a:t>
            </a:r>
            <a:r>
              <a:rPr dirty="0"/>
              <a:t> ZCU106 ]</a:t>
            </a:r>
          </a:p>
          <a:p>
            <a:pPr algn="ctr">
              <a:defRPr sz="900">
                <a:solidFill>
                  <a:srgbClr val="64748B"/>
                </a:solidFill>
                <a:latin typeface="Segoe UI"/>
              </a:defRPr>
            </a:pPr>
            <a:endParaRPr dirty="0"/>
          </a:p>
        </p:txBody>
      </p:sp>
      <p:pic>
        <p:nvPicPr>
          <p:cNvPr id="10" name="Picture 9">
            <a:extLst>
              <a:ext uri="{FF2B5EF4-FFF2-40B4-BE49-F238E27FC236}">
                <a16:creationId xmlns:a16="http://schemas.microsoft.com/office/drawing/2014/main" id="{851DCD72-B790-4652-B1CF-9219B74692D5}"/>
              </a:ext>
            </a:extLst>
          </p:cNvPr>
          <p:cNvPicPr/>
          <p:nvPr/>
        </p:nvPicPr>
        <p:blipFill>
          <a:blip r:embed="rId2"/>
          <a:stretch>
            <a:fillRect/>
          </a:stretch>
        </p:blipFill>
        <p:spPr>
          <a:xfrm>
            <a:off x="5669280" y="1723642"/>
            <a:ext cx="6223000" cy="44536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1. GIỚI THIỆU DỰ ÁN</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1.2 Bản Đồ Địa Chỉ SoC &amp; Phân Cấp Module</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6/28</a:t>
            </a:r>
          </a:p>
        </p:txBody>
      </p:sp>
      <p:sp>
        <p:nvSpPr>
          <p:cNvPr id="6" name="TextBox 5"/>
          <p:cNvSpPr txBox="1"/>
          <p:nvPr/>
        </p:nvSpPr>
        <p:spPr>
          <a:xfrm>
            <a:off x="731520" y="1737360"/>
            <a:ext cx="10698480" cy="219456"/>
          </a:xfrm>
          <a:prstGeom prst="rect">
            <a:avLst/>
          </a:prstGeom>
          <a:noFill/>
        </p:spPr>
        <p:txBody>
          <a:bodyPr wrap="square" lIns="0" tIns="0" rIns="0" bIns="0">
            <a:spAutoFit/>
          </a:bodyPr>
          <a:lstStyle/>
          <a:p>
            <a:pPr>
              <a:defRPr sz="900" b="1">
                <a:solidFill>
                  <a:srgbClr val="C2410C"/>
                </a:solidFill>
                <a:latin typeface="Segoe UI"/>
              </a:defRPr>
            </a:pPr>
            <a:r>
              <a:t>BẢN ĐỒ ĐỊA CHỈ CỦA SOC TRÊN FPGA.</a:t>
            </a:r>
          </a:p>
        </p:txBody>
      </p:sp>
      <p:graphicFrame>
        <p:nvGraphicFramePr>
          <p:cNvPr id="7" name="Table 6"/>
          <p:cNvGraphicFramePr>
            <a:graphicFrameLocks noGrp="1"/>
          </p:cNvGraphicFramePr>
          <p:nvPr/>
        </p:nvGraphicFramePr>
        <p:xfrm>
          <a:off x="731520" y="1975104"/>
          <a:ext cx="10698480" cy="2048256"/>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4663440">
                  <a:extLst>
                    <a:ext uri="{9D8B030D-6E8A-4147-A177-3AD203B41FA5}">
                      <a16:colId xmlns:a16="http://schemas.microsoft.com/office/drawing/2014/main" val="20004"/>
                    </a:ext>
                  </a:extLst>
                </a:gridCol>
              </a:tblGrid>
              <a:tr h="409651">
                <a:tc>
                  <a:txBody>
                    <a:bodyPr/>
                    <a:lstStyle/>
                    <a:p>
                      <a:pPr>
                        <a:defRPr sz="950" b="1">
                          <a:solidFill>
                            <a:srgbClr val="0F172A"/>
                          </a:solidFill>
                          <a:latin typeface="Segoe UI"/>
                        </a:defRPr>
                      </a:pPr>
                      <a:r>
                        <a:t>Vùng Bộ Nhớ</a:t>
                      </a:r>
                    </a:p>
                  </a:txBody>
                  <a:tcPr>
                    <a:solidFill>
                      <a:srgbClr val="F1F5F9"/>
                    </a:solidFill>
                  </a:tcPr>
                </a:tc>
                <a:tc>
                  <a:txBody>
                    <a:bodyPr/>
                    <a:lstStyle/>
                    <a:p>
                      <a:pPr>
                        <a:defRPr sz="950" b="1">
                          <a:solidFill>
                            <a:srgbClr val="0F172A"/>
                          </a:solidFill>
                          <a:latin typeface="Segoe UI"/>
                        </a:defRPr>
                      </a:pPr>
                      <a:r>
                        <a:t>Địa Chỉ</a:t>
                      </a:r>
                    </a:p>
                  </a:txBody>
                  <a:tcPr>
                    <a:solidFill>
                      <a:srgbClr val="F1F5F9"/>
                    </a:solidFill>
                  </a:tcPr>
                </a:tc>
                <a:tc>
                  <a:txBody>
                    <a:bodyPr/>
                    <a:lstStyle/>
                    <a:p>
                      <a:pPr>
                        <a:defRPr sz="950" b="1">
                          <a:solidFill>
                            <a:srgbClr val="0F172A"/>
                          </a:solidFill>
                          <a:latin typeface="Segoe UI"/>
                        </a:defRPr>
                      </a:pPr>
                      <a:r>
                        <a:t>Kích Thước</a:t>
                      </a:r>
                    </a:p>
                  </a:txBody>
                  <a:tcPr>
                    <a:solidFill>
                      <a:srgbClr val="F1F5F9"/>
                    </a:solidFill>
                  </a:tcPr>
                </a:tc>
                <a:tc>
                  <a:txBody>
                    <a:bodyPr/>
                    <a:lstStyle/>
                    <a:p>
                      <a:pPr>
                        <a:defRPr sz="950" b="1">
                          <a:solidFill>
                            <a:srgbClr val="0F172A"/>
                          </a:solidFill>
                          <a:latin typeface="Segoe UI"/>
                        </a:defRPr>
                      </a:pPr>
                      <a:r>
                        <a:t>Thiết Bị / IP Kết Nối</a:t>
                      </a:r>
                    </a:p>
                  </a:txBody>
                  <a:tcPr>
                    <a:solidFill>
                      <a:srgbClr val="F1F5F9"/>
                    </a:solidFill>
                  </a:tcPr>
                </a:tc>
                <a:tc>
                  <a:txBody>
                    <a:bodyPr/>
                    <a:lstStyle/>
                    <a:p>
                      <a:pPr>
                        <a:defRPr sz="950" b="1">
                          <a:solidFill>
                            <a:srgbClr val="0F172A"/>
                          </a:solidFill>
                          <a:latin typeface="Segoe UI"/>
                        </a:defRPr>
                      </a:pPr>
                      <a:r>
                        <a:t>Chức Năng Kỹ Thuật</a:t>
                      </a:r>
                    </a:p>
                  </a:txBody>
                  <a:tcPr>
                    <a:solidFill>
                      <a:srgbClr val="F1F5F9"/>
                    </a:solidFill>
                  </a:tcPr>
                </a:tc>
                <a:extLst>
                  <a:ext uri="{0D108BD9-81ED-4DB2-BD59-A6C34878D82A}">
                    <a16:rowId xmlns:a16="http://schemas.microsoft.com/office/drawing/2014/main" val="10000"/>
                  </a:ext>
                </a:extLst>
              </a:tr>
              <a:tr h="409651">
                <a:tc>
                  <a:txBody>
                    <a:bodyPr/>
                    <a:lstStyle/>
                    <a:p>
                      <a:pPr>
                        <a:defRPr sz="900" b="1">
                          <a:solidFill>
                            <a:srgbClr val="0F172A"/>
                          </a:solidFill>
                          <a:latin typeface="Segoe UI"/>
                        </a:defRPr>
                      </a:pPr>
                      <a:r>
                        <a:t>IMEM</a:t>
                      </a:r>
                    </a:p>
                  </a:txBody>
                  <a:tcPr>
                    <a:solidFill>
                      <a:srgbClr val="FFFFFF"/>
                    </a:solidFill>
                  </a:tcPr>
                </a:tc>
                <a:tc>
                  <a:txBody>
                    <a:bodyPr/>
                    <a:lstStyle/>
                    <a:p>
                      <a:pPr>
                        <a:defRPr sz="900">
                          <a:solidFill>
                            <a:srgbClr val="334155"/>
                          </a:solidFill>
                          <a:latin typeface="Segoe UI"/>
                        </a:defRPr>
                      </a:pPr>
                      <a:r>
                        <a:t>0x0000_0000</a:t>
                      </a:r>
                    </a:p>
                  </a:txBody>
                  <a:tcPr>
                    <a:solidFill>
                      <a:srgbClr val="FFFFFF"/>
                    </a:solidFill>
                  </a:tcPr>
                </a:tc>
                <a:tc>
                  <a:txBody>
                    <a:bodyPr/>
                    <a:lstStyle/>
                    <a:p>
                      <a:pPr>
                        <a:defRPr sz="900">
                          <a:solidFill>
                            <a:srgbClr val="334155"/>
                          </a:solidFill>
                          <a:latin typeface="Segoe UI"/>
                        </a:defRPr>
                      </a:pPr>
                      <a:r>
                        <a:t>8 KiB</a:t>
                      </a:r>
                    </a:p>
                  </a:txBody>
                  <a:tcPr>
                    <a:solidFill>
                      <a:srgbClr val="FFFFFF"/>
                    </a:solidFill>
                  </a:tcPr>
                </a:tc>
                <a:tc>
                  <a:txBody>
                    <a:bodyPr/>
                    <a:lstStyle/>
                    <a:p>
                      <a:pPr>
                        <a:defRPr sz="900">
                          <a:solidFill>
                            <a:srgbClr val="334155"/>
                          </a:solidFill>
                          <a:latin typeface="Segoe UI"/>
                        </a:defRPr>
                      </a:pPr>
                      <a:r>
                        <a:t>axi_bram_ctrl_0</a:t>
                      </a:r>
                    </a:p>
                  </a:txBody>
                  <a:tcPr>
                    <a:solidFill>
                      <a:srgbClr val="FFFFFF"/>
                    </a:solidFill>
                  </a:tcPr>
                </a:tc>
                <a:tc>
                  <a:txBody>
                    <a:bodyPr/>
                    <a:lstStyle/>
                    <a:p>
                      <a:pPr>
                        <a:defRPr sz="900">
                          <a:solidFill>
                            <a:srgbClr val="334155"/>
                          </a:solidFill>
                          <a:latin typeface="Segoe UI"/>
                        </a:defRPr>
                      </a:pPr>
                      <a:r>
                        <a:t>Chứa Firmware, địa chỉ Reset PC của Core</a:t>
                      </a:r>
                    </a:p>
                  </a:txBody>
                  <a:tcPr>
                    <a:solidFill>
                      <a:srgbClr val="FFFFFF"/>
                    </a:solidFill>
                  </a:tcPr>
                </a:tc>
                <a:extLst>
                  <a:ext uri="{0D108BD9-81ED-4DB2-BD59-A6C34878D82A}">
                    <a16:rowId xmlns:a16="http://schemas.microsoft.com/office/drawing/2014/main" val="10001"/>
                  </a:ext>
                </a:extLst>
              </a:tr>
              <a:tr h="409651">
                <a:tc>
                  <a:txBody>
                    <a:bodyPr/>
                    <a:lstStyle/>
                    <a:p>
                      <a:pPr>
                        <a:defRPr sz="900" b="1">
                          <a:solidFill>
                            <a:srgbClr val="0F172A"/>
                          </a:solidFill>
                          <a:latin typeface="Segoe UI"/>
                        </a:defRPr>
                      </a:pPr>
                      <a:r>
                        <a:t>DMEM</a:t>
                      </a:r>
                    </a:p>
                  </a:txBody>
                  <a:tcPr>
                    <a:solidFill>
                      <a:srgbClr val="F8FAFC"/>
                    </a:solidFill>
                  </a:tcPr>
                </a:tc>
                <a:tc>
                  <a:txBody>
                    <a:bodyPr/>
                    <a:lstStyle/>
                    <a:p>
                      <a:pPr>
                        <a:defRPr sz="900">
                          <a:solidFill>
                            <a:srgbClr val="334155"/>
                          </a:solidFill>
                          <a:latin typeface="Segoe UI"/>
                        </a:defRPr>
                      </a:pPr>
                      <a:r>
                        <a:t>0x0000_2000</a:t>
                      </a:r>
                    </a:p>
                  </a:txBody>
                  <a:tcPr>
                    <a:solidFill>
                      <a:srgbClr val="F8FAFC"/>
                    </a:solidFill>
                  </a:tcPr>
                </a:tc>
                <a:tc>
                  <a:txBody>
                    <a:bodyPr/>
                    <a:lstStyle/>
                    <a:p>
                      <a:pPr>
                        <a:defRPr sz="900">
                          <a:solidFill>
                            <a:srgbClr val="334155"/>
                          </a:solidFill>
                          <a:latin typeface="Segoe UI"/>
                        </a:defRPr>
                      </a:pPr>
                      <a:r>
                        <a:t>8 KiB</a:t>
                      </a:r>
                    </a:p>
                  </a:txBody>
                  <a:tcPr>
                    <a:solidFill>
                      <a:srgbClr val="F8FAFC"/>
                    </a:solidFill>
                  </a:tcPr>
                </a:tc>
                <a:tc>
                  <a:txBody>
                    <a:bodyPr/>
                    <a:lstStyle/>
                    <a:p>
                      <a:pPr>
                        <a:defRPr sz="900">
                          <a:solidFill>
                            <a:srgbClr val="334155"/>
                          </a:solidFill>
                          <a:latin typeface="Segoe UI"/>
                        </a:defRPr>
                      </a:pPr>
                      <a:r>
                        <a:t>axi_bram_ctrl_1</a:t>
                      </a:r>
                    </a:p>
                  </a:txBody>
                  <a:tcPr>
                    <a:solidFill>
                      <a:srgbClr val="F8FAFC"/>
                    </a:solidFill>
                  </a:tcPr>
                </a:tc>
                <a:tc>
                  <a:txBody>
                    <a:bodyPr/>
                    <a:lstStyle/>
                    <a:p>
                      <a:pPr>
                        <a:defRPr sz="900">
                          <a:solidFill>
                            <a:srgbClr val="334155"/>
                          </a:solidFill>
                          <a:latin typeface="Segoe UI"/>
                        </a:defRPr>
                      </a:pPr>
                      <a:r>
                        <a:t>Chứa Stack, Data, Heap qua D-AXI Master</a:t>
                      </a:r>
                    </a:p>
                  </a:txBody>
                  <a:tcPr>
                    <a:solidFill>
                      <a:srgbClr val="F8FAFC"/>
                    </a:solidFill>
                  </a:tcPr>
                </a:tc>
                <a:extLst>
                  <a:ext uri="{0D108BD9-81ED-4DB2-BD59-A6C34878D82A}">
                    <a16:rowId xmlns:a16="http://schemas.microsoft.com/office/drawing/2014/main" val="10002"/>
                  </a:ext>
                </a:extLst>
              </a:tr>
              <a:tr h="409651">
                <a:tc>
                  <a:txBody>
                    <a:bodyPr/>
                    <a:lstStyle/>
                    <a:p>
                      <a:pPr>
                        <a:defRPr sz="900" b="1">
                          <a:solidFill>
                            <a:srgbClr val="0F172A"/>
                          </a:solidFill>
                          <a:latin typeface="Segoe UI"/>
                        </a:defRPr>
                      </a:pPr>
                      <a:r>
                        <a:t>UART Lite</a:t>
                      </a:r>
                    </a:p>
                  </a:txBody>
                  <a:tcPr>
                    <a:solidFill>
                      <a:srgbClr val="FFFFFF"/>
                    </a:solidFill>
                  </a:tcPr>
                </a:tc>
                <a:tc>
                  <a:txBody>
                    <a:bodyPr/>
                    <a:lstStyle/>
                    <a:p>
                      <a:pPr>
                        <a:defRPr sz="900">
                          <a:solidFill>
                            <a:srgbClr val="334155"/>
                          </a:solidFill>
                          <a:latin typeface="Segoe UI"/>
                        </a:defRPr>
                      </a:pPr>
                      <a:r>
                        <a:t>0x0004_0000</a:t>
                      </a:r>
                    </a:p>
                  </a:txBody>
                  <a:tcPr>
                    <a:solidFill>
                      <a:srgbClr val="FFFFFF"/>
                    </a:solidFill>
                  </a:tcPr>
                </a:tc>
                <a:tc>
                  <a:txBody>
                    <a:bodyPr/>
                    <a:lstStyle/>
                    <a:p>
                      <a:pPr>
                        <a:defRPr sz="900">
                          <a:solidFill>
                            <a:srgbClr val="334155"/>
                          </a:solidFill>
                          <a:latin typeface="Segoe UI"/>
                        </a:defRPr>
                      </a:pPr>
                      <a:r>
                        <a:t>64 KiB</a:t>
                      </a:r>
                    </a:p>
                  </a:txBody>
                  <a:tcPr>
                    <a:solidFill>
                      <a:srgbClr val="FFFFFF"/>
                    </a:solidFill>
                  </a:tcPr>
                </a:tc>
                <a:tc>
                  <a:txBody>
                    <a:bodyPr/>
                    <a:lstStyle/>
                    <a:p>
                      <a:pPr>
                        <a:defRPr sz="900">
                          <a:solidFill>
                            <a:srgbClr val="334155"/>
                          </a:solidFill>
                          <a:latin typeface="Segoe UI"/>
                        </a:defRPr>
                      </a:pPr>
                      <a:r>
                        <a:t>axi_uartlite_0</a:t>
                      </a:r>
                    </a:p>
                  </a:txBody>
                  <a:tcPr>
                    <a:solidFill>
                      <a:srgbClr val="FFFFFF"/>
                    </a:solidFill>
                  </a:tcPr>
                </a:tc>
                <a:tc>
                  <a:txBody>
                    <a:bodyPr/>
                    <a:lstStyle/>
                    <a:p>
                      <a:pPr>
                        <a:defRPr sz="900">
                          <a:solidFill>
                            <a:srgbClr val="334155"/>
                          </a:solidFill>
                          <a:latin typeface="Segoe UI"/>
                        </a:defRPr>
                      </a:pPr>
                      <a:r>
                        <a:t>Console Serial I/O 115200 baud, 8N1</a:t>
                      </a:r>
                    </a:p>
                  </a:txBody>
                  <a:tcPr>
                    <a:solidFill>
                      <a:srgbClr val="FFFFFF"/>
                    </a:solidFill>
                  </a:tcPr>
                </a:tc>
                <a:extLst>
                  <a:ext uri="{0D108BD9-81ED-4DB2-BD59-A6C34878D82A}">
                    <a16:rowId xmlns:a16="http://schemas.microsoft.com/office/drawing/2014/main" val="10003"/>
                  </a:ext>
                </a:extLst>
              </a:tr>
              <a:tr h="409652">
                <a:tc>
                  <a:txBody>
                    <a:bodyPr/>
                    <a:lstStyle/>
                    <a:p>
                      <a:pPr>
                        <a:defRPr sz="900" b="1">
                          <a:solidFill>
                            <a:srgbClr val="0F172A"/>
                          </a:solidFill>
                          <a:latin typeface="Segoe UI"/>
                        </a:defRPr>
                      </a:pPr>
                      <a:r>
                        <a:t>INTC</a:t>
                      </a:r>
                    </a:p>
                  </a:txBody>
                  <a:tcPr>
                    <a:solidFill>
                      <a:srgbClr val="F8FAFC"/>
                    </a:solidFill>
                  </a:tcPr>
                </a:tc>
                <a:tc>
                  <a:txBody>
                    <a:bodyPr/>
                    <a:lstStyle/>
                    <a:p>
                      <a:pPr>
                        <a:defRPr sz="900">
                          <a:solidFill>
                            <a:srgbClr val="334155"/>
                          </a:solidFill>
                          <a:latin typeface="Segoe UI"/>
                        </a:defRPr>
                      </a:pPr>
                      <a:r>
                        <a:t>0x0005_0000</a:t>
                      </a:r>
                    </a:p>
                  </a:txBody>
                  <a:tcPr>
                    <a:solidFill>
                      <a:srgbClr val="F8FAFC"/>
                    </a:solidFill>
                  </a:tcPr>
                </a:tc>
                <a:tc>
                  <a:txBody>
                    <a:bodyPr/>
                    <a:lstStyle/>
                    <a:p>
                      <a:pPr>
                        <a:defRPr sz="900">
                          <a:solidFill>
                            <a:srgbClr val="334155"/>
                          </a:solidFill>
                          <a:latin typeface="Segoe UI"/>
                        </a:defRPr>
                      </a:pPr>
                      <a:r>
                        <a:t>64 KiB</a:t>
                      </a:r>
                    </a:p>
                  </a:txBody>
                  <a:tcPr>
                    <a:solidFill>
                      <a:srgbClr val="F8FAFC"/>
                    </a:solidFill>
                  </a:tcPr>
                </a:tc>
                <a:tc>
                  <a:txBody>
                    <a:bodyPr/>
                    <a:lstStyle/>
                    <a:p>
                      <a:pPr>
                        <a:defRPr sz="900">
                          <a:solidFill>
                            <a:srgbClr val="334155"/>
                          </a:solidFill>
                          <a:latin typeface="Segoe UI"/>
                        </a:defRPr>
                      </a:pPr>
                      <a:r>
                        <a:t>axi_intc_0</a:t>
                      </a:r>
                    </a:p>
                  </a:txBody>
                  <a:tcPr>
                    <a:solidFill>
                      <a:srgbClr val="F8FAFC"/>
                    </a:solidFill>
                  </a:tcPr>
                </a:tc>
                <a:tc>
                  <a:txBody>
                    <a:bodyPr/>
                    <a:lstStyle/>
                    <a:p>
                      <a:pPr>
                        <a:defRPr sz="900">
                          <a:solidFill>
                            <a:srgbClr val="334155"/>
                          </a:solidFill>
                          <a:latin typeface="Segoe UI"/>
                        </a:defRPr>
                      </a:pPr>
                      <a:r>
                        <a:t>Quản lý ngắt ngoại vi, sinh `irq_external`</a:t>
                      </a:r>
                    </a:p>
                  </a:txBody>
                  <a:tcPr>
                    <a:solidFill>
                      <a:srgbClr val="F8FAFC"/>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731520" y="4480560"/>
            <a:ext cx="10698480" cy="1645920"/>
          </a:xfrm>
          <a:prstGeom prst="rect">
            <a:avLst/>
          </a:prstGeom>
          <a:noFill/>
        </p:spPr>
        <p:txBody>
          <a:bodyPr wrap="square" lIns="0" tIns="0" rIns="0" bIns="0">
            <a:spAutoFit/>
          </a:bodyPr>
          <a:lstStyle/>
          <a:p>
            <a:pPr>
              <a:spcAft>
                <a:spcPts val="600"/>
              </a:spcAft>
              <a:defRPr sz="1000">
                <a:latin typeface="Segoe UI"/>
              </a:defRPr>
            </a:pPr>
            <a:r>
              <a:rPr b="1">
                <a:solidFill>
                  <a:srgbClr val="0F172A"/>
                </a:solidFill>
              </a:rPr>
              <a:t>Top FPGA (`rv32i_bd_wrapper`) — </a:t>
            </a:r>
            <a:r>
              <a:rPr>
                <a:solidFill>
                  <a:srgbClr val="334155"/>
                </a:solidFill>
              </a:rPr>
              <a:t>Top module cấp cao nhất trên chip FPGA ZCU106, bọc toàn bộ Block Design để tổng hợp và đo timing/tài nguyên.</a:t>
            </a:r>
          </a:p>
          <a:p>
            <a:pPr>
              <a:spcAft>
                <a:spcPts val="600"/>
              </a:spcAft>
              <a:defRPr sz="1000">
                <a:latin typeface="Segoe UI"/>
              </a:defRPr>
            </a:pPr>
            <a:r>
              <a:rPr b="1">
                <a:solidFill>
                  <a:srgbClr val="0F172A"/>
                </a:solidFill>
              </a:rPr>
              <a:t>IP Core (`rv32i_axi_integration_top`) — </a:t>
            </a:r>
            <a:r>
              <a:rPr>
                <a:solidFill>
                  <a:srgbClr val="334155"/>
                </a:solidFill>
              </a:rPr>
              <a:t>Đóng gói lõi `rv32i_core` cùng 2 adapter AXI4-Lite độc lập để đưa vào thư viện IP Vivado.</a:t>
            </a:r>
          </a:p>
          <a:p>
            <a:pPr>
              <a:spcAft>
                <a:spcPts val="600"/>
              </a:spcAft>
              <a:defRPr sz="1000">
                <a:latin typeface="Segoe UI"/>
              </a:defRPr>
            </a:pPr>
            <a:r>
              <a:rPr b="1">
                <a:solidFill>
                  <a:srgbClr val="0F172A"/>
                </a:solidFill>
              </a:rPr>
              <a:t>Lõi CPU (`rv32i_core`) — </a:t>
            </a:r>
            <a:r>
              <a:rPr>
                <a:solidFill>
                  <a:srgbClr val="334155"/>
                </a:solidFill>
              </a:rPr>
              <a:t>Lõi xử lý RV32I 5 tầng thực hiện tập lệnh, hazard, CSR và ngoại lệ.</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1. GIỚI THIỆU DỰ ÁN</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1.4 Kết Quả Tóm Lược Đạt Được</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7/28</a:t>
            </a:r>
          </a:p>
        </p:txBody>
      </p:sp>
      <p:sp>
        <p:nvSpPr>
          <p:cNvPr id="6" name="TextBox 5"/>
          <p:cNvSpPr txBox="1"/>
          <p:nvPr/>
        </p:nvSpPr>
        <p:spPr>
          <a:xfrm>
            <a:off x="731520" y="1691640"/>
            <a:ext cx="2468880" cy="1097280"/>
          </a:xfrm>
          <a:prstGeom prst="rect">
            <a:avLst/>
          </a:prstGeom>
          <a:noFill/>
        </p:spPr>
        <p:txBody>
          <a:bodyPr wrap="square" lIns="0" tIns="0" rIns="0" bIns="0">
            <a:spAutoFit/>
          </a:bodyPr>
          <a:lstStyle/>
          <a:p>
            <a:pPr>
              <a:defRPr sz="3200" b="1">
                <a:solidFill>
                  <a:srgbClr val="F26F21"/>
                </a:solidFill>
                <a:latin typeface="Segoe UI"/>
              </a:defRPr>
            </a:pPr>
            <a:r>
              <a:t>100 MHz</a:t>
            </a:r>
          </a:p>
          <a:p>
            <a:pPr>
              <a:spcBef>
                <a:spcPts val="200"/>
              </a:spcBef>
              <a:defRPr sz="1100" b="1">
                <a:solidFill>
                  <a:srgbClr val="0F172A"/>
                </a:solidFill>
                <a:latin typeface="Segoe UI"/>
              </a:defRPr>
            </a:pPr>
            <a:r>
              <a:t>Tần Số Hệ Thống</a:t>
            </a:r>
          </a:p>
          <a:p>
            <a:pPr>
              <a:defRPr sz="900">
                <a:solidFill>
                  <a:srgbClr val="64748B"/>
                </a:solidFill>
                <a:latin typeface="Segoe UI"/>
              </a:defRPr>
            </a:pPr>
            <a:r>
              <a:t>Gấp đôi mục tiêu ban đầu (&gt;= 50 MHz)</a:t>
            </a:r>
          </a:p>
        </p:txBody>
      </p:sp>
      <p:sp>
        <p:nvSpPr>
          <p:cNvPr id="7" name="TextBox 6"/>
          <p:cNvSpPr txBox="1"/>
          <p:nvPr/>
        </p:nvSpPr>
        <p:spPr>
          <a:xfrm>
            <a:off x="3474720" y="1691640"/>
            <a:ext cx="2468880" cy="1097280"/>
          </a:xfrm>
          <a:prstGeom prst="rect">
            <a:avLst/>
          </a:prstGeom>
          <a:noFill/>
        </p:spPr>
        <p:txBody>
          <a:bodyPr wrap="square" lIns="0" tIns="0" rIns="0" bIns="0">
            <a:spAutoFit/>
          </a:bodyPr>
          <a:lstStyle/>
          <a:p>
            <a:pPr>
              <a:defRPr sz="3200" b="1">
                <a:solidFill>
                  <a:srgbClr val="F26F21"/>
                </a:solidFill>
                <a:latin typeface="Segoe UI"/>
              </a:defRPr>
            </a:pPr>
            <a:r>
              <a:t>+3.733 ns</a:t>
            </a:r>
          </a:p>
          <a:p>
            <a:pPr>
              <a:spcBef>
                <a:spcPts val="200"/>
              </a:spcBef>
              <a:defRPr sz="1100" b="1">
                <a:solidFill>
                  <a:srgbClr val="0F172A"/>
                </a:solidFill>
                <a:latin typeface="Segoe UI"/>
              </a:defRPr>
            </a:pPr>
            <a:r>
              <a:t>WNS Sau Route</a:t>
            </a:r>
          </a:p>
          <a:p>
            <a:pPr>
              <a:defRPr sz="900">
                <a:solidFill>
                  <a:srgbClr val="64748B"/>
                </a:solidFill>
                <a:latin typeface="Segoe UI"/>
              </a:defRPr>
            </a:pPr>
            <a:r>
              <a:t>TNS = 0.000 ns (Fmax ~160 MHz)</a:t>
            </a:r>
          </a:p>
        </p:txBody>
      </p:sp>
      <p:sp>
        <p:nvSpPr>
          <p:cNvPr id="8" name="TextBox 7"/>
          <p:cNvSpPr txBox="1"/>
          <p:nvPr/>
        </p:nvSpPr>
        <p:spPr>
          <a:xfrm>
            <a:off x="6217920" y="1691640"/>
            <a:ext cx="2468880" cy="1097280"/>
          </a:xfrm>
          <a:prstGeom prst="rect">
            <a:avLst/>
          </a:prstGeom>
          <a:noFill/>
        </p:spPr>
        <p:txBody>
          <a:bodyPr wrap="square" lIns="0" tIns="0" rIns="0" bIns="0">
            <a:spAutoFit/>
          </a:bodyPr>
          <a:lstStyle/>
          <a:p>
            <a:pPr>
              <a:defRPr sz="3200" b="1">
                <a:solidFill>
                  <a:srgbClr val="F26F21"/>
                </a:solidFill>
                <a:latin typeface="Segoe UI"/>
              </a:defRPr>
            </a:pPr>
            <a:r>
              <a:t>4,337</a:t>
            </a:r>
          </a:p>
          <a:p>
            <a:pPr>
              <a:spcBef>
                <a:spcPts val="200"/>
              </a:spcBef>
              <a:defRPr sz="1100" b="1">
                <a:solidFill>
                  <a:srgbClr val="0F172A"/>
                </a:solidFill>
                <a:latin typeface="Segoe UI"/>
              </a:defRPr>
            </a:pPr>
            <a:r>
              <a:t>LUTs Toàn Hệ Thống</a:t>
            </a:r>
          </a:p>
          <a:p>
            <a:pPr>
              <a:defRPr sz="900">
                <a:solidFill>
                  <a:srgbClr val="64748B"/>
                </a:solidFill>
                <a:latin typeface="Segoe UI"/>
              </a:defRPr>
            </a:pPr>
            <a:r>
              <a:t>1.88% LUT và 1.06% FF của ZU7EV</a:t>
            </a:r>
          </a:p>
        </p:txBody>
      </p:sp>
      <p:sp>
        <p:nvSpPr>
          <p:cNvPr id="9" name="TextBox 8"/>
          <p:cNvSpPr txBox="1"/>
          <p:nvPr/>
        </p:nvSpPr>
        <p:spPr>
          <a:xfrm>
            <a:off x="8961120" y="1691640"/>
            <a:ext cx="2468880" cy="1097280"/>
          </a:xfrm>
          <a:prstGeom prst="rect">
            <a:avLst/>
          </a:prstGeom>
          <a:noFill/>
        </p:spPr>
        <p:txBody>
          <a:bodyPr wrap="square" lIns="0" tIns="0" rIns="0" bIns="0">
            <a:spAutoFit/>
          </a:bodyPr>
          <a:lstStyle/>
          <a:p>
            <a:pPr>
              <a:defRPr sz="3200" b="1">
                <a:solidFill>
                  <a:srgbClr val="F26F21"/>
                </a:solidFill>
                <a:latin typeface="Segoe UI"/>
              </a:defRPr>
            </a:pPr>
            <a:r>
              <a:t>101 / 101</a:t>
            </a:r>
          </a:p>
          <a:p>
            <a:pPr>
              <a:spcBef>
                <a:spcPts val="200"/>
              </a:spcBef>
              <a:defRPr sz="1100" b="1">
                <a:solidFill>
                  <a:srgbClr val="0F172A"/>
                </a:solidFill>
                <a:latin typeface="Segoe UI"/>
              </a:defRPr>
            </a:pPr>
            <a:r>
              <a:t>Regression PASS</a:t>
            </a:r>
          </a:p>
          <a:p>
            <a:pPr>
              <a:defRPr sz="900">
                <a:solidFill>
                  <a:srgbClr val="64748B"/>
                </a:solidFill>
                <a:latin typeface="Segoe UI"/>
              </a:defRPr>
            </a:pPr>
            <a:r>
              <a:t>100% PASS (21 RTL + 30 Arch + 50 ISA)</a:t>
            </a:r>
          </a:p>
        </p:txBody>
      </p:sp>
      <p:sp>
        <p:nvSpPr>
          <p:cNvPr id="10" name="TextBox 9"/>
          <p:cNvSpPr txBox="1"/>
          <p:nvPr/>
        </p:nvSpPr>
        <p:spPr>
          <a:xfrm>
            <a:off x="731520" y="3291840"/>
            <a:ext cx="10698480" cy="219456"/>
          </a:xfrm>
          <a:prstGeom prst="rect">
            <a:avLst/>
          </a:prstGeom>
          <a:noFill/>
        </p:spPr>
        <p:txBody>
          <a:bodyPr wrap="square" lIns="0" tIns="0" rIns="0" bIns="0">
            <a:spAutoFit/>
          </a:bodyPr>
          <a:lstStyle/>
          <a:p>
            <a:pPr>
              <a:defRPr sz="900" b="1">
                <a:solidFill>
                  <a:srgbClr val="C2410C"/>
                </a:solidFill>
                <a:latin typeface="Segoe UI"/>
              </a:defRPr>
            </a:pPr>
            <a:r>
              <a:t>TÓM LƯỢC KẾT QUẢ ĐẠT ĐƯỢC.</a:t>
            </a:r>
          </a:p>
        </p:txBody>
      </p:sp>
      <p:graphicFrame>
        <p:nvGraphicFramePr>
          <p:cNvPr id="11" name="Table 10"/>
          <p:cNvGraphicFramePr>
            <a:graphicFrameLocks noGrp="1"/>
          </p:cNvGraphicFramePr>
          <p:nvPr/>
        </p:nvGraphicFramePr>
        <p:xfrm>
          <a:off x="731520" y="3529584"/>
          <a:ext cx="10698480" cy="2596896"/>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432816">
                <a:tc>
                  <a:txBody>
                    <a:bodyPr/>
                    <a:lstStyle/>
                    <a:p>
                      <a:pPr>
                        <a:defRPr sz="950" b="1">
                          <a:solidFill>
                            <a:srgbClr val="0F172A"/>
                          </a:solidFill>
                          <a:latin typeface="Segoe UI"/>
                        </a:defRPr>
                      </a:pPr>
                      <a:r>
                        <a:t>Chỉ Tiêu</a:t>
                      </a:r>
                    </a:p>
                  </a:txBody>
                  <a:tcPr>
                    <a:solidFill>
                      <a:srgbClr val="F1F5F9"/>
                    </a:solidFill>
                  </a:tcPr>
                </a:tc>
                <a:tc>
                  <a:txBody>
                    <a:bodyPr/>
                    <a:lstStyle/>
                    <a:p>
                      <a:pPr>
                        <a:defRPr sz="950" b="1">
                          <a:solidFill>
                            <a:srgbClr val="0F172A"/>
                          </a:solidFill>
                          <a:latin typeface="Segoe UI"/>
                        </a:defRPr>
                      </a:pPr>
                      <a:r>
                        <a:t>Kết Quả</a:t>
                      </a:r>
                    </a:p>
                  </a:txBody>
                  <a:tcPr>
                    <a:solidFill>
                      <a:srgbClr val="F1F5F9"/>
                    </a:solidFill>
                  </a:tcPr>
                </a:tc>
                <a:tc>
                  <a:txBody>
                    <a:bodyPr/>
                    <a:lstStyle/>
                    <a:p>
                      <a:pPr>
                        <a:defRPr sz="950" b="1">
                          <a:solidFill>
                            <a:srgbClr val="0F172A"/>
                          </a:solidFill>
                          <a:latin typeface="Segoe UI"/>
                        </a:defRPr>
                      </a:pPr>
                      <a:r>
                        <a:t>Nhận Xét Kỹ Thuật</a:t>
                      </a:r>
                    </a:p>
                  </a:txBody>
                  <a:tcPr>
                    <a:solidFill>
                      <a:srgbClr val="F1F5F9"/>
                    </a:solidFill>
                  </a:tcPr>
                </a:tc>
                <a:extLst>
                  <a:ext uri="{0D108BD9-81ED-4DB2-BD59-A6C34878D82A}">
                    <a16:rowId xmlns:a16="http://schemas.microsoft.com/office/drawing/2014/main" val="10000"/>
                  </a:ext>
                </a:extLst>
              </a:tr>
              <a:tr h="432816">
                <a:tc>
                  <a:txBody>
                    <a:bodyPr/>
                    <a:lstStyle/>
                    <a:p>
                      <a:pPr>
                        <a:defRPr sz="900" b="1">
                          <a:solidFill>
                            <a:srgbClr val="0F172A"/>
                          </a:solidFill>
                          <a:latin typeface="Segoe UI"/>
                        </a:defRPr>
                      </a:pPr>
                      <a:r>
                        <a:t>Tần số hoạt động</a:t>
                      </a:r>
                    </a:p>
                  </a:txBody>
                  <a:tcPr>
                    <a:solidFill>
                      <a:srgbClr val="FFFFFF"/>
                    </a:solidFill>
                  </a:tcPr>
                </a:tc>
                <a:tc>
                  <a:txBody>
                    <a:bodyPr/>
                    <a:lstStyle/>
                    <a:p>
                      <a:pPr>
                        <a:defRPr sz="900">
                          <a:solidFill>
                            <a:srgbClr val="334155"/>
                          </a:solidFill>
                          <a:latin typeface="Segoe UI"/>
                        </a:defRPr>
                      </a:pPr>
                      <a:r>
                        <a:t>100 MHz (clock vào 125 MHz từ board)</a:t>
                      </a:r>
                    </a:p>
                  </a:txBody>
                  <a:tcPr>
                    <a:solidFill>
                      <a:srgbClr val="FFFFFF"/>
                    </a:solidFill>
                  </a:tcPr>
                </a:tc>
                <a:tc>
                  <a:txBody>
                    <a:bodyPr/>
                    <a:lstStyle/>
                    <a:p>
                      <a:pPr>
                        <a:defRPr sz="900">
                          <a:solidFill>
                            <a:srgbClr val="334155"/>
                          </a:solidFill>
                          <a:latin typeface="Segoe UI"/>
                        </a:defRPr>
                      </a:pPr>
                      <a:r>
                        <a:t>Đóng timing an toàn trên chu kỳ 10.0 ns</a:t>
                      </a:r>
                    </a:p>
                  </a:txBody>
                  <a:tcPr>
                    <a:solidFill>
                      <a:srgbClr val="FFFFFF"/>
                    </a:solidFill>
                  </a:tcPr>
                </a:tc>
                <a:extLst>
                  <a:ext uri="{0D108BD9-81ED-4DB2-BD59-A6C34878D82A}">
                    <a16:rowId xmlns:a16="http://schemas.microsoft.com/office/drawing/2014/main" val="10001"/>
                  </a:ext>
                </a:extLst>
              </a:tr>
              <a:tr h="432816">
                <a:tc>
                  <a:txBody>
                    <a:bodyPr/>
                    <a:lstStyle/>
                    <a:p>
                      <a:pPr>
                        <a:defRPr sz="900" b="1">
                          <a:solidFill>
                            <a:srgbClr val="0F172A"/>
                          </a:solidFill>
                          <a:latin typeface="Segoe UI"/>
                        </a:defRPr>
                      </a:pPr>
                      <a:r>
                        <a:t>WNS sau route</a:t>
                      </a:r>
                    </a:p>
                  </a:txBody>
                  <a:tcPr>
                    <a:solidFill>
                      <a:srgbClr val="F8FAFC"/>
                    </a:solidFill>
                  </a:tcPr>
                </a:tc>
                <a:tc>
                  <a:txBody>
                    <a:bodyPr/>
                    <a:lstStyle/>
                    <a:p>
                      <a:pPr>
                        <a:defRPr sz="900">
                          <a:solidFill>
                            <a:srgbClr val="334155"/>
                          </a:solidFill>
                          <a:latin typeface="Segoe UI"/>
                        </a:defRPr>
                      </a:pPr>
                      <a:r>
                        <a:t>+3.733 ns (Setup Slack dương lớn)</a:t>
                      </a:r>
                    </a:p>
                  </a:txBody>
                  <a:tcPr>
                    <a:solidFill>
                      <a:srgbClr val="F8FAFC"/>
                    </a:solidFill>
                  </a:tcPr>
                </a:tc>
                <a:tc>
                  <a:txBody>
                    <a:bodyPr/>
                    <a:lstStyle/>
                    <a:p>
                      <a:pPr>
                        <a:defRPr sz="900">
                          <a:solidFill>
                            <a:srgbClr val="334155"/>
                          </a:solidFill>
                          <a:latin typeface="Segoe UI"/>
                        </a:defRPr>
                      </a:pPr>
                      <a:r>
                        <a:t>Không có bất kỳ endpoint nào vi phạm thời gian</a:t>
                      </a:r>
                    </a:p>
                  </a:txBody>
                  <a:tcPr>
                    <a:solidFill>
                      <a:srgbClr val="F8FAFC"/>
                    </a:solidFill>
                  </a:tcPr>
                </a:tc>
                <a:extLst>
                  <a:ext uri="{0D108BD9-81ED-4DB2-BD59-A6C34878D82A}">
                    <a16:rowId xmlns:a16="http://schemas.microsoft.com/office/drawing/2014/main" val="10002"/>
                  </a:ext>
                </a:extLst>
              </a:tr>
              <a:tr h="432816">
                <a:tc>
                  <a:txBody>
                    <a:bodyPr/>
                    <a:lstStyle/>
                    <a:p>
                      <a:pPr>
                        <a:defRPr sz="900" b="1">
                          <a:solidFill>
                            <a:srgbClr val="0F172A"/>
                          </a:solidFill>
                          <a:latin typeface="Segoe UI"/>
                        </a:defRPr>
                      </a:pPr>
                      <a:r>
                        <a:t>Tài nguyên SoC</a:t>
                      </a:r>
                    </a:p>
                  </a:txBody>
                  <a:tcPr>
                    <a:solidFill>
                      <a:srgbClr val="FFFFFF"/>
                    </a:solidFill>
                  </a:tcPr>
                </a:tc>
                <a:tc>
                  <a:txBody>
                    <a:bodyPr/>
                    <a:lstStyle/>
                    <a:p>
                      <a:pPr>
                        <a:defRPr sz="900">
                          <a:solidFill>
                            <a:srgbClr val="334155"/>
                          </a:solidFill>
                          <a:latin typeface="Segoe UI"/>
                        </a:defRPr>
                      </a:pPr>
                      <a:r>
                        <a:t>4337 LUT (1.88%), 6.5 BRAM tile</a:t>
                      </a:r>
                    </a:p>
                  </a:txBody>
                  <a:tcPr>
                    <a:solidFill>
                      <a:srgbClr val="FFFFFF"/>
                    </a:solidFill>
                  </a:tcPr>
                </a:tc>
                <a:tc>
                  <a:txBody>
                    <a:bodyPr/>
                    <a:lstStyle/>
                    <a:p>
                      <a:pPr>
                        <a:defRPr sz="900">
                          <a:solidFill>
                            <a:srgbClr val="334155"/>
                          </a:solidFill>
                          <a:latin typeface="Segoe UI"/>
                        </a:defRPr>
                      </a:pPr>
                      <a:r>
                        <a:t>Không dùng DSP; tài nguyên còn trống &gt; 98%</a:t>
                      </a:r>
                    </a:p>
                  </a:txBody>
                  <a:tcPr>
                    <a:solidFill>
                      <a:srgbClr val="FFFFFF"/>
                    </a:solidFill>
                  </a:tcPr>
                </a:tc>
                <a:extLst>
                  <a:ext uri="{0D108BD9-81ED-4DB2-BD59-A6C34878D82A}">
                    <a16:rowId xmlns:a16="http://schemas.microsoft.com/office/drawing/2014/main" val="10003"/>
                  </a:ext>
                </a:extLst>
              </a:tr>
              <a:tr h="432816">
                <a:tc>
                  <a:txBody>
                    <a:bodyPr/>
                    <a:lstStyle/>
                    <a:p>
                      <a:pPr>
                        <a:defRPr sz="900" b="1">
                          <a:solidFill>
                            <a:srgbClr val="0F172A"/>
                          </a:solidFill>
                          <a:latin typeface="Segoe UI"/>
                        </a:defRPr>
                      </a:pPr>
                      <a:r>
                        <a:t>Kết quả Regression</a:t>
                      </a:r>
                    </a:p>
                  </a:txBody>
                  <a:tcPr>
                    <a:solidFill>
                      <a:srgbClr val="F8FAFC"/>
                    </a:solidFill>
                  </a:tcPr>
                </a:tc>
                <a:tc>
                  <a:txBody>
                    <a:bodyPr/>
                    <a:lstStyle/>
                    <a:p>
                      <a:pPr>
                        <a:defRPr sz="900">
                          <a:solidFill>
                            <a:srgbClr val="334155"/>
                          </a:solidFill>
                          <a:latin typeface="Segoe UI"/>
                        </a:defRPr>
                      </a:pPr>
                      <a:r>
                        <a:t>21/21 + 30/30 + 50/50 PASS</a:t>
                      </a:r>
                    </a:p>
                  </a:txBody>
                  <a:tcPr>
                    <a:solidFill>
                      <a:srgbClr val="F8FAFC"/>
                    </a:solidFill>
                  </a:tcPr>
                </a:tc>
                <a:tc>
                  <a:txBody>
                    <a:bodyPr/>
                    <a:lstStyle/>
                    <a:p>
                      <a:pPr>
                        <a:defRPr sz="900">
                          <a:solidFill>
                            <a:srgbClr val="334155"/>
                          </a:solidFill>
                          <a:latin typeface="Segoe UI"/>
                        </a:defRPr>
                      </a:pPr>
                      <a:r>
                        <a:t>101 bài test tự động self-checking, 0 FAIL</a:t>
                      </a:r>
                    </a:p>
                  </a:txBody>
                  <a:tcPr>
                    <a:solidFill>
                      <a:srgbClr val="F8FAFC"/>
                    </a:solidFill>
                  </a:tcPr>
                </a:tc>
                <a:extLst>
                  <a:ext uri="{0D108BD9-81ED-4DB2-BD59-A6C34878D82A}">
                    <a16:rowId xmlns:a16="http://schemas.microsoft.com/office/drawing/2014/main" val="10004"/>
                  </a:ext>
                </a:extLst>
              </a:tr>
              <a:tr h="432816">
                <a:tc>
                  <a:txBody>
                    <a:bodyPr/>
                    <a:lstStyle/>
                    <a:p>
                      <a:pPr>
                        <a:defRPr sz="900" b="1">
                          <a:solidFill>
                            <a:srgbClr val="0F172A"/>
                          </a:solidFill>
                          <a:latin typeface="Segoe UI"/>
                        </a:defRPr>
                      </a:pPr>
                      <a:r>
                        <a:t>Trạng thái phần cứng</a:t>
                      </a:r>
                    </a:p>
                  </a:txBody>
                  <a:tcPr>
                    <a:solidFill>
                      <a:srgbClr val="FFFFFF"/>
                    </a:solidFill>
                  </a:tcPr>
                </a:tc>
                <a:tc>
                  <a:txBody>
                    <a:bodyPr/>
                    <a:lstStyle/>
                    <a:p>
                      <a:pPr>
                        <a:defRPr sz="900">
                          <a:solidFill>
                            <a:srgbClr val="334155"/>
                          </a:solidFill>
                          <a:latin typeface="Segoe UI"/>
                        </a:defRPr>
                      </a:pPr>
                      <a:r>
                        <a:t>Firmware, UART và ngắt hoạt động</a:t>
                      </a:r>
                    </a:p>
                  </a:txBody>
                  <a:tcPr>
                    <a:solidFill>
                      <a:srgbClr val="FFFFFF"/>
                    </a:solidFill>
                  </a:tcPr>
                </a:tc>
                <a:tc>
                  <a:txBody>
                    <a:bodyPr/>
                    <a:lstStyle/>
                    <a:p>
                      <a:pPr>
                        <a:defRPr sz="900">
                          <a:solidFill>
                            <a:srgbClr val="334155"/>
                          </a:solidFill>
                          <a:latin typeface="Segoe UI"/>
                        </a:defRPr>
                      </a:pPr>
                      <a:r>
                        <a:t>Đã nạp qua JTAG và phục hồi sau nút reset trên board</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2. KIẾN TRÚC CORE RV32I</a:t>
            </a:r>
          </a:p>
        </p:txBody>
      </p:sp>
      <p:sp>
        <p:nvSpPr>
          <p:cNvPr id="3" name="TextBox 2"/>
          <p:cNvSpPr txBox="1"/>
          <p:nvPr/>
        </p:nvSpPr>
        <p:spPr>
          <a:xfrm>
            <a:off x="731520" y="621792"/>
            <a:ext cx="10698480" cy="300082"/>
          </a:xfrm>
          <a:prstGeom prst="rect">
            <a:avLst/>
          </a:prstGeom>
          <a:noFill/>
        </p:spPr>
        <p:txBody>
          <a:bodyPr wrap="square" lIns="0" tIns="0" rIns="0" bIns="0">
            <a:spAutoFit/>
          </a:bodyPr>
          <a:lstStyle/>
          <a:p>
            <a:pPr>
              <a:defRPr sz="1950" b="1">
                <a:solidFill>
                  <a:srgbClr val="0F172A"/>
                </a:solidFill>
                <a:latin typeface="Segoe UI"/>
              </a:defRPr>
            </a:pPr>
            <a:r>
              <a:rPr dirty="0"/>
              <a:t>2.1 </a:t>
            </a:r>
            <a:r>
              <a:rPr dirty="0" err="1"/>
              <a:t>Sơ</a:t>
            </a:r>
            <a:r>
              <a:rPr dirty="0"/>
              <a:t> </a:t>
            </a:r>
            <a:r>
              <a:rPr dirty="0" err="1"/>
              <a:t>Đồ</a:t>
            </a:r>
            <a:r>
              <a:rPr dirty="0"/>
              <a:t> Pipeline 5 </a:t>
            </a:r>
            <a:r>
              <a:rPr dirty="0" err="1"/>
              <a:t>Tầng</a:t>
            </a:r>
            <a:r>
              <a:rPr dirty="0"/>
              <a:t> </a:t>
            </a:r>
          </a:p>
        </p:txBody>
      </p:sp>
      <p:sp>
        <p:nvSpPr>
          <p:cNvPr id="5" name="Rectangle 4"/>
          <p:cNvSpPr/>
          <p:nvPr/>
        </p:nvSpPr>
        <p:spPr>
          <a:xfrm>
            <a:off x="731520" y="1176428"/>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8/28</a:t>
            </a:r>
          </a:p>
        </p:txBody>
      </p:sp>
      <p:sp>
        <p:nvSpPr>
          <p:cNvPr id="7" name="Rectangle 6"/>
          <p:cNvSpPr/>
          <p:nvPr/>
        </p:nvSpPr>
        <p:spPr>
          <a:xfrm>
            <a:off x="731520" y="1737360"/>
            <a:ext cx="6583680" cy="3200400"/>
          </a:xfrm>
          <a:prstGeom prst="rect">
            <a:avLst/>
          </a:prstGeom>
          <a:solidFill>
            <a:srgbClr val="F3F4F6"/>
          </a:solidFill>
          <a:ln w="19050">
            <a:solidFill>
              <a:srgbClr val="D1D5DB"/>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13" name="Picture 12">
            <a:extLst>
              <a:ext uri="{FF2B5EF4-FFF2-40B4-BE49-F238E27FC236}">
                <a16:creationId xmlns:a16="http://schemas.microsoft.com/office/drawing/2014/main" id="{D5190990-797F-4C60-90A1-F448F0439CA2}"/>
              </a:ext>
            </a:extLst>
          </p:cNvPr>
          <p:cNvPicPr>
            <a:picLocks noChangeAspect="1"/>
          </p:cNvPicPr>
          <p:nvPr/>
        </p:nvPicPr>
        <p:blipFill>
          <a:blip r:embed="rId2"/>
          <a:stretch>
            <a:fillRect/>
          </a:stretch>
        </p:blipFill>
        <p:spPr>
          <a:xfrm>
            <a:off x="0" y="1235434"/>
            <a:ext cx="12053455" cy="521657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2. KIẾN TRÚC CORE RV32I</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2.2 Nhóm Module Tầng Pipeline</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9/28</a:t>
            </a:r>
          </a:p>
        </p:txBody>
      </p:sp>
      <p:sp>
        <p:nvSpPr>
          <p:cNvPr id="6" name="TextBox 5"/>
          <p:cNvSpPr txBox="1"/>
          <p:nvPr/>
        </p:nvSpPr>
        <p:spPr>
          <a:xfrm>
            <a:off x="731520" y="1737360"/>
            <a:ext cx="10698480" cy="219456"/>
          </a:xfrm>
          <a:prstGeom prst="rect">
            <a:avLst/>
          </a:prstGeom>
          <a:noFill/>
        </p:spPr>
        <p:txBody>
          <a:bodyPr wrap="square" lIns="0" tIns="0" rIns="0" bIns="0">
            <a:spAutoFit/>
          </a:bodyPr>
          <a:lstStyle/>
          <a:p>
            <a:pPr>
              <a:defRPr sz="900" b="1">
                <a:solidFill>
                  <a:srgbClr val="C2410C"/>
                </a:solidFill>
                <a:latin typeface="Segoe UI"/>
              </a:defRPr>
            </a:pPr>
            <a:r>
              <a:t>CHỨC NĂNG NHÓM MODULE TẦNG PIPELINE.</a:t>
            </a:r>
          </a:p>
        </p:txBody>
      </p:sp>
      <p:graphicFrame>
        <p:nvGraphicFramePr>
          <p:cNvPr id="7" name="Table 6"/>
          <p:cNvGraphicFramePr>
            <a:graphicFrameLocks noGrp="1"/>
          </p:cNvGraphicFramePr>
          <p:nvPr/>
        </p:nvGraphicFramePr>
        <p:xfrm>
          <a:off x="731520" y="1975104"/>
          <a:ext cx="10698480" cy="4151376"/>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691896">
                <a:tc>
                  <a:txBody>
                    <a:bodyPr/>
                    <a:lstStyle/>
                    <a:p>
                      <a:pPr>
                        <a:defRPr sz="950" b="1">
                          <a:solidFill>
                            <a:srgbClr val="0F172A"/>
                          </a:solidFill>
                          <a:latin typeface="Segoe UI"/>
                        </a:defRPr>
                      </a:pPr>
                      <a:r>
                        <a:t>Module Tầng</a:t>
                      </a:r>
                    </a:p>
                  </a:txBody>
                  <a:tcPr>
                    <a:solidFill>
                      <a:srgbClr val="F1F5F9"/>
                    </a:solidFill>
                  </a:tcPr>
                </a:tc>
                <a:tc>
                  <a:txBody>
                    <a:bodyPr/>
                    <a:lstStyle/>
                    <a:p>
                      <a:pPr>
                        <a:defRPr sz="950" b="1">
                          <a:solidFill>
                            <a:srgbClr val="0F172A"/>
                          </a:solidFill>
                          <a:latin typeface="Segoe UI"/>
                        </a:defRPr>
                      </a:pPr>
                      <a:r>
                        <a:t>Chức Năng Chính</a:t>
                      </a:r>
                    </a:p>
                  </a:txBody>
                  <a:tcPr>
                    <a:solidFill>
                      <a:srgbClr val="F1F5F9"/>
                    </a:solidFill>
                  </a:tcPr>
                </a:tc>
                <a:tc>
                  <a:txBody>
                    <a:bodyPr/>
                    <a:lstStyle/>
                    <a:p>
                      <a:pPr>
                        <a:defRPr sz="950" b="1">
                          <a:solidFill>
                            <a:srgbClr val="0F172A"/>
                          </a:solidFill>
                          <a:latin typeface="Segoe UI"/>
                        </a:defRPr>
                      </a:pPr>
                      <a:r>
                        <a:t>Điểm Cần Chú Ý Kỹ Thuật</a:t>
                      </a:r>
                    </a:p>
                  </a:txBody>
                  <a:tcPr>
                    <a:solidFill>
                      <a:srgbClr val="F1F5F9"/>
                    </a:solidFill>
                  </a:tcPr>
                </a:tc>
                <a:extLst>
                  <a:ext uri="{0D108BD9-81ED-4DB2-BD59-A6C34878D82A}">
                    <a16:rowId xmlns:a16="http://schemas.microsoft.com/office/drawing/2014/main" val="10000"/>
                  </a:ext>
                </a:extLst>
              </a:tr>
              <a:tr h="691896">
                <a:tc>
                  <a:txBody>
                    <a:bodyPr/>
                    <a:lstStyle/>
                    <a:p>
                      <a:pPr>
                        <a:defRPr sz="900" b="1">
                          <a:solidFill>
                            <a:srgbClr val="0F172A"/>
                          </a:solidFill>
                          <a:latin typeface="Segoe UI"/>
                        </a:defRPr>
                      </a:pPr>
                      <a:r>
                        <a:t>if_stage</a:t>
                      </a:r>
                    </a:p>
                  </a:txBody>
                  <a:tcPr>
                    <a:solidFill>
                      <a:srgbClr val="FFFFFF"/>
                    </a:solidFill>
                  </a:tcPr>
                </a:tc>
                <a:tc>
                  <a:txBody>
                    <a:bodyPr/>
                    <a:lstStyle/>
                    <a:p>
                      <a:pPr>
                        <a:defRPr sz="900">
                          <a:solidFill>
                            <a:srgbClr val="334155"/>
                          </a:solidFill>
                          <a:latin typeface="Segoe UI"/>
                        </a:defRPr>
                      </a:pPr>
                      <a:r>
                        <a:t>Giữ PC, phát yêu cầu đọc lệnh, ghép lệnh nhận về với đúng PC</a:t>
                      </a:r>
                    </a:p>
                  </a:txBody>
                  <a:tcPr>
                    <a:solidFill>
                      <a:srgbClr val="FFFFFF"/>
                    </a:solidFill>
                  </a:tcPr>
                </a:tc>
                <a:tc>
                  <a:txBody>
                    <a:bodyPr/>
                    <a:lstStyle/>
                    <a:p>
                      <a:pPr>
                        <a:defRPr sz="900">
                          <a:solidFill>
                            <a:srgbClr val="334155"/>
                          </a:solidFill>
                          <a:latin typeface="Segoe UI"/>
                        </a:defRPr>
                      </a:pPr>
                      <a:r>
                        <a:t>Giữ lệnh khi stall (hold buffer); bỏ qua lệnh của yêu cầu đã bị hủy</a:t>
                      </a:r>
                    </a:p>
                  </a:txBody>
                  <a:tcPr>
                    <a:solidFill>
                      <a:srgbClr val="FFFFFF"/>
                    </a:solidFill>
                  </a:tcPr>
                </a:tc>
                <a:extLst>
                  <a:ext uri="{0D108BD9-81ED-4DB2-BD59-A6C34878D82A}">
                    <a16:rowId xmlns:a16="http://schemas.microsoft.com/office/drawing/2014/main" val="10001"/>
                  </a:ext>
                </a:extLst>
              </a:tr>
              <a:tr h="691896">
                <a:tc>
                  <a:txBody>
                    <a:bodyPr/>
                    <a:lstStyle/>
                    <a:p>
                      <a:pPr>
                        <a:defRPr sz="900" b="1">
                          <a:solidFill>
                            <a:srgbClr val="0F172A"/>
                          </a:solidFill>
                          <a:latin typeface="Segoe UI"/>
                        </a:defRPr>
                      </a:pPr>
                      <a:r>
                        <a:t>id_stage</a:t>
                      </a:r>
                    </a:p>
                  </a:txBody>
                  <a:tcPr>
                    <a:solidFill>
                      <a:srgbClr val="F8FAFC"/>
                    </a:solidFill>
                  </a:tcPr>
                </a:tc>
                <a:tc>
                  <a:txBody>
                    <a:bodyPr/>
                    <a:lstStyle/>
                    <a:p>
                      <a:pPr>
                        <a:defRPr sz="900">
                          <a:solidFill>
                            <a:srgbClr val="334155"/>
                          </a:solidFill>
                          <a:latin typeface="Segoe UI"/>
                        </a:defRPr>
                      </a:pPr>
                      <a:r>
                        <a:t>Giải mã lệnh, đọc rs1/rs2, sinh immediate mở rộng dấu</a:t>
                      </a:r>
                    </a:p>
                  </a:txBody>
                  <a:tcPr>
                    <a:solidFill>
                      <a:srgbClr val="F8FAFC"/>
                    </a:solidFill>
                  </a:tcPr>
                </a:tc>
                <a:tc>
                  <a:txBody>
                    <a:bodyPr/>
                    <a:lstStyle/>
                    <a:p>
                      <a:pPr>
                        <a:defRPr sz="900">
                          <a:solidFill>
                            <a:srgbClr val="334155"/>
                          </a:solidFill>
                          <a:latin typeface="Segoe UI"/>
                        </a:defRPr>
                      </a:pPr>
                      <a:r>
                        <a:t>Phát hiện Illegal/ECALL/EBREAK đánh dấu vào Fault Bundle</a:t>
                      </a:r>
                    </a:p>
                  </a:txBody>
                  <a:tcPr>
                    <a:solidFill>
                      <a:srgbClr val="F8FAFC"/>
                    </a:solidFill>
                  </a:tcPr>
                </a:tc>
                <a:extLst>
                  <a:ext uri="{0D108BD9-81ED-4DB2-BD59-A6C34878D82A}">
                    <a16:rowId xmlns:a16="http://schemas.microsoft.com/office/drawing/2014/main" val="10002"/>
                  </a:ext>
                </a:extLst>
              </a:tr>
              <a:tr h="691896">
                <a:tc>
                  <a:txBody>
                    <a:bodyPr/>
                    <a:lstStyle/>
                    <a:p>
                      <a:pPr>
                        <a:defRPr sz="900" b="1">
                          <a:solidFill>
                            <a:srgbClr val="0F172A"/>
                          </a:solidFill>
                          <a:latin typeface="Segoe UI"/>
                        </a:defRPr>
                      </a:pPr>
                      <a:r>
                        <a:t>ex_stage</a:t>
                      </a:r>
                    </a:p>
                  </a:txBody>
                  <a:tcPr>
                    <a:solidFill>
                      <a:srgbClr val="FFFFFF"/>
                    </a:solidFill>
                  </a:tcPr>
                </a:tc>
                <a:tc>
                  <a:txBody>
                    <a:bodyPr/>
                    <a:lstStyle/>
                    <a:p>
                      <a:pPr>
                        <a:defRPr sz="900">
                          <a:solidFill>
                            <a:srgbClr val="334155"/>
                          </a:solidFill>
                          <a:latin typeface="Segoe UI"/>
                        </a:defRPr>
                      </a:pPr>
                      <a:r>
                        <a:t>ALU 11 phép, so sánh branch, tính địa chỉ nhảy, CSR operand</a:t>
                      </a:r>
                    </a:p>
                  </a:txBody>
                  <a:tcPr>
                    <a:solidFill>
                      <a:srgbClr val="FFFFFF"/>
                    </a:solidFill>
                  </a:tcPr>
                </a:tc>
                <a:tc>
                  <a:txBody>
                    <a:bodyPr/>
                    <a:lstStyle/>
                    <a:p>
                      <a:pPr>
                        <a:defRPr sz="900">
                          <a:solidFill>
                            <a:srgbClr val="334155"/>
                          </a:solidFill>
                          <a:latin typeface="Segoe UI"/>
                        </a:defRPr>
                      </a:pPr>
                      <a:r>
                        <a:t>Nơi giải quyết branch, phát tín hiệu chuyển hướng PC về IF</a:t>
                      </a:r>
                    </a:p>
                  </a:txBody>
                  <a:tcPr>
                    <a:solidFill>
                      <a:srgbClr val="FFFFFF"/>
                    </a:solidFill>
                  </a:tcPr>
                </a:tc>
                <a:extLst>
                  <a:ext uri="{0D108BD9-81ED-4DB2-BD59-A6C34878D82A}">
                    <a16:rowId xmlns:a16="http://schemas.microsoft.com/office/drawing/2014/main" val="10003"/>
                  </a:ext>
                </a:extLst>
              </a:tr>
              <a:tr h="691896">
                <a:tc>
                  <a:txBody>
                    <a:bodyPr/>
                    <a:lstStyle/>
                    <a:p>
                      <a:pPr>
                        <a:defRPr sz="900" b="1">
                          <a:solidFill>
                            <a:srgbClr val="0F172A"/>
                          </a:solidFill>
                          <a:latin typeface="Segoe UI"/>
                        </a:defRPr>
                      </a:pPr>
                      <a:r>
                        <a:t>mem_stage</a:t>
                      </a:r>
                    </a:p>
                  </a:txBody>
                  <a:tcPr>
                    <a:solidFill>
                      <a:srgbClr val="F8FAFC"/>
                    </a:solidFill>
                  </a:tcPr>
                </a:tc>
                <a:tc>
                  <a:txBody>
                    <a:bodyPr/>
                    <a:lstStyle/>
                    <a:p>
                      <a:pPr>
                        <a:defRPr sz="900">
                          <a:solidFill>
                            <a:srgbClr val="334155"/>
                          </a:solidFill>
                          <a:latin typeface="Segoe UI"/>
                        </a:defRPr>
                      </a:pPr>
                      <a:r>
                        <a:t>Điều khiển Load/Store, chọn byte, chuẩn hóa dữ liệu</a:t>
                      </a:r>
                    </a:p>
                  </a:txBody>
                  <a:tcPr>
                    <a:solidFill>
                      <a:srgbClr val="F8FAFC"/>
                    </a:solidFill>
                  </a:tcPr>
                </a:tc>
                <a:tc>
                  <a:txBody>
                    <a:bodyPr/>
                    <a:lstStyle/>
                    <a:p>
                      <a:pPr>
                        <a:defRPr sz="900">
                          <a:solidFill>
                            <a:srgbClr val="334155"/>
                          </a:solidFill>
                          <a:latin typeface="Segoe UI"/>
                        </a:defRPr>
                      </a:pPr>
                      <a:r>
                        <a:t>Kiểm tra căn lề địa chỉ và báo lỗi kèm mtval</a:t>
                      </a:r>
                    </a:p>
                  </a:txBody>
                  <a:tcPr>
                    <a:solidFill>
                      <a:srgbClr val="F8FAFC"/>
                    </a:solidFill>
                  </a:tcPr>
                </a:tc>
                <a:extLst>
                  <a:ext uri="{0D108BD9-81ED-4DB2-BD59-A6C34878D82A}">
                    <a16:rowId xmlns:a16="http://schemas.microsoft.com/office/drawing/2014/main" val="10004"/>
                  </a:ext>
                </a:extLst>
              </a:tr>
              <a:tr h="691896">
                <a:tc>
                  <a:txBody>
                    <a:bodyPr/>
                    <a:lstStyle/>
                    <a:p>
                      <a:pPr>
                        <a:defRPr sz="900" b="1">
                          <a:solidFill>
                            <a:srgbClr val="0F172A"/>
                          </a:solidFill>
                          <a:latin typeface="Segoe UI"/>
                        </a:defRPr>
                      </a:pPr>
                      <a:r>
                        <a:t>wb_stage</a:t>
                      </a:r>
                    </a:p>
                  </a:txBody>
                  <a:tcPr>
                    <a:solidFill>
                      <a:srgbClr val="FFFFFF"/>
                    </a:solidFill>
                  </a:tcPr>
                </a:tc>
                <a:tc>
                  <a:txBody>
                    <a:bodyPr/>
                    <a:lstStyle/>
                    <a:p>
                      <a:pPr>
                        <a:defRPr sz="900">
                          <a:solidFill>
                            <a:srgbClr val="334155"/>
                          </a:solidFill>
                          <a:latin typeface="Segoe UI"/>
                        </a:defRPr>
                      </a:pPr>
                      <a:r>
                        <a:t>Chọn dữ liệu ghi về, ghi RegFile và commit kiến trúc</a:t>
                      </a:r>
                    </a:p>
                  </a:txBody>
                  <a:tcPr>
                    <a:solidFill>
                      <a:srgbClr val="FFFFFF"/>
                    </a:solidFill>
                  </a:tcPr>
                </a:tc>
                <a:tc>
                  <a:txBody>
                    <a:bodyPr/>
                    <a:lstStyle/>
                    <a:p>
                      <a:pPr>
                        <a:defRPr sz="900">
                          <a:solidFill>
                            <a:srgbClr val="334155"/>
                          </a:solidFill>
                          <a:latin typeface="Segoe UI"/>
                        </a:defRPr>
                      </a:pPr>
                      <a:r>
                        <a:t>Điểm commit DUY NHẤT; chứa Replay Guard chống ghi lặp khi stall</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2. KIẾN TRÚC CORE RV32I</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2.3 Nhóm Module Register &amp; Lưu Trữ</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10/28</a:t>
            </a:r>
          </a:p>
        </p:txBody>
      </p:sp>
      <p:sp>
        <p:nvSpPr>
          <p:cNvPr id="6" name="TextBox 5"/>
          <p:cNvSpPr txBox="1"/>
          <p:nvPr/>
        </p:nvSpPr>
        <p:spPr>
          <a:xfrm>
            <a:off x="731520" y="1737360"/>
            <a:ext cx="10698480" cy="219456"/>
          </a:xfrm>
          <a:prstGeom prst="rect">
            <a:avLst/>
          </a:prstGeom>
          <a:noFill/>
        </p:spPr>
        <p:txBody>
          <a:bodyPr wrap="square" lIns="0" tIns="0" rIns="0" bIns="0">
            <a:spAutoFit/>
          </a:bodyPr>
          <a:lstStyle/>
          <a:p>
            <a:pPr>
              <a:defRPr sz="900" b="1">
                <a:solidFill>
                  <a:srgbClr val="C2410C"/>
                </a:solidFill>
                <a:latin typeface="Segoe UI"/>
              </a:defRPr>
            </a:pPr>
            <a:r>
              <a:t>CHỨC NĂNG NHÓM MODULE REGISTER VÀ LƯU TRỮ.</a:t>
            </a:r>
          </a:p>
        </p:txBody>
      </p:sp>
      <p:graphicFrame>
        <p:nvGraphicFramePr>
          <p:cNvPr id="7" name="Table 6"/>
          <p:cNvGraphicFramePr>
            <a:graphicFrameLocks noGrp="1"/>
          </p:cNvGraphicFramePr>
          <p:nvPr/>
        </p:nvGraphicFramePr>
        <p:xfrm>
          <a:off x="731520" y="1975104"/>
          <a:ext cx="10698480" cy="4151376"/>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691896">
                <a:tc>
                  <a:txBody>
                    <a:bodyPr/>
                    <a:lstStyle/>
                    <a:p>
                      <a:pPr>
                        <a:defRPr sz="950" b="1">
                          <a:solidFill>
                            <a:srgbClr val="0F172A"/>
                          </a:solidFill>
                          <a:latin typeface="Segoe UI"/>
                        </a:defRPr>
                      </a:pPr>
                      <a:r>
                        <a:t>Module Lưu Trữ</a:t>
                      </a:r>
                    </a:p>
                  </a:txBody>
                  <a:tcPr>
                    <a:solidFill>
                      <a:srgbClr val="F1F5F9"/>
                    </a:solidFill>
                  </a:tcPr>
                </a:tc>
                <a:tc>
                  <a:txBody>
                    <a:bodyPr/>
                    <a:lstStyle/>
                    <a:p>
                      <a:pPr>
                        <a:defRPr sz="950" b="1">
                          <a:solidFill>
                            <a:srgbClr val="0F172A"/>
                          </a:solidFill>
                          <a:latin typeface="Segoe UI"/>
                        </a:defRPr>
                      </a:pPr>
                      <a:r>
                        <a:t>Chức Năng Chính</a:t>
                      </a:r>
                    </a:p>
                  </a:txBody>
                  <a:tcPr>
                    <a:solidFill>
                      <a:srgbClr val="F1F5F9"/>
                    </a:solidFill>
                  </a:tcPr>
                </a:tc>
                <a:tc>
                  <a:txBody>
                    <a:bodyPr/>
                    <a:lstStyle/>
                    <a:p>
                      <a:pPr>
                        <a:defRPr sz="950" b="1">
                          <a:solidFill>
                            <a:srgbClr val="0F172A"/>
                          </a:solidFill>
                          <a:latin typeface="Segoe UI"/>
                        </a:defRPr>
                      </a:pPr>
                      <a:r>
                        <a:t>Điểm Cần Chú Ý Kỹ Thuật</a:t>
                      </a:r>
                    </a:p>
                  </a:txBody>
                  <a:tcPr>
                    <a:solidFill>
                      <a:srgbClr val="F1F5F9"/>
                    </a:solidFill>
                  </a:tcPr>
                </a:tc>
                <a:extLst>
                  <a:ext uri="{0D108BD9-81ED-4DB2-BD59-A6C34878D82A}">
                    <a16:rowId xmlns:a16="http://schemas.microsoft.com/office/drawing/2014/main" val="10000"/>
                  </a:ext>
                </a:extLst>
              </a:tr>
              <a:tr h="691896">
                <a:tc>
                  <a:txBody>
                    <a:bodyPr/>
                    <a:lstStyle/>
                    <a:p>
                      <a:pPr>
                        <a:defRPr sz="900" b="1">
                          <a:solidFill>
                            <a:srgbClr val="0F172A"/>
                          </a:solidFill>
                          <a:latin typeface="Segoe UI"/>
                        </a:defRPr>
                      </a:pPr>
                      <a:r>
                        <a:t>if_id_reg</a:t>
                      </a:r>
                    </a:p>
                  </a:txBody>
                  <a:tcPr>
                    <a:solidFill>
                      <a:srgbClr val="FFFFFF"/>
                    </a:solidFill>
                  </a:tcPr>
                </a:tc>
                <a:tc>
                  <a:txBody>
                    <a:bodyPr/>
                    <a:lstStyle/>
                    <a:p>
                      <a:pPr>
                        <a:defRPr sz="900">
                          <a:solidFill>
                            <a:srgbClr val="334155"/>
                          </a:solidFill>
                          <a:latin typeface="Segoe UI"/>
                        </a:defRPr>
                      </a:pPr>
                      <a:r>
                        <a:t>Chốt mã lệnh và PC giữa IF và ID</a:t>
                      </a:r>
                    </a:p>
                  </a:txBody>
                  <a:tcPr>
                    <a:solidFill>
                      <a:srgbClr val="FFFFFF"/>
                    </a:solidFill>
                  </a:tcPr>
                </a:tc>
                <a:tc>
                  <a:txBody>
                    <a:bodyPr/>
                    <a:lstStyle/>
                    <a:p>
                      <a:pPr>
                        <a:defRPr sz="900">
                          <a:solidFill>
                            <a:srgbClr val="334155"/>
                          </a:solidFill>
                          <a:latin typeface="Segoe UI"/>
                        </a:defRPr>
                      </a:pPr>
                      <a:r>
                        <a:t>Bị xóa (flush) khi redirect hoặc có trap</a:t>
                      </a:r>
                    </a:p>
                  </a:txBody>
                  <a:tcPr>
                    <a:solidFill>
                      <a:srgbClr val="FFFFFF"/>
                    </a:solidFill>
                  </a:tcPr>
                </a:tc>
                <a:extLst>
                  <a:ext uri="{0D108BD9-81ED-4DB2-BD59-A6C34878D82A}">
                    <a16:rowId xmlns:a16="http://schemas.microsoft.com/office/drawing/2014/main" val="10001"/>
                  </a:ext>
                </a:extLst>
              </a:tr>
              <a:tr h="691896">
                <a:tc>
                  <a:txBody>
                    <a:bodyPr/>
                    <a:lstStyle/>
                    <a:p>
                      <a:pPr>
                        <a:defRPr sz="900" b="1">
                          <a:solidFill>
                            <a:srgbClr val="0F172A"/>
                          </a:solidFill>
                          <a:latin typeface="Segoe UI"/>
                        </a:defRPr>
                      </a:pPr>
                      <a:r>
                        <a:t>id_ex_reg</a:t>
                      </a:r>
                    </a:p>
                  </a:txBody>
                  <a:tcPr>
                    <a:solidFill>
                      <a:srgbClr val="F8FAFC"/>
                    </a:solidFill>
                  </a:tcPr>
                </a:tc>
                <a:tc>
                  <a:txBody>
                    <a:bodyPr/>
                    <a:lstStyle/>
                    <a:p>
                      <a:pPr>
                        <a:defRPr sz="900">
                          <a:solidFill>
                            <a:srgbClr val="334155"/>
                          </a:solidFill>
                          <a:latin typeface="Segoe UI"/>
                        </a:defRPr>
                      </a:pPr>
                      <a:r>
                        <a:t>Chốt toán hạng, immediate và tín hiệu điều khiển</a:t>
                      </a:r>
                    </a:p>
                  </a:txBody>
                  <a:tcPr>
                    <a:solidFill>
                      <a:srgbClr val="F8FAFC"/>
                    </a:solidFill>
                  </a:tcPr>
                </a:tc>
                <a:tc>
                  <a:txBody>
                    <a:bodyPr/>
                    <a:lstStyle/>
                    <a:p>
                      <a:pPr>
                        <a:defRPr sz="900">
                          <a:solidFill>
                            <a:srgbClr val="334155"/>
                          </a:solidFill>
                          <a:latin typeface="Segoe UI"/>
                        </a:defRPr>
                      </a:pPr>
                      <a:r>
                        <a:t>Khối tốn LUT nhất của Core: chiếm 1,004 LUT</a:t>
                      </a:r>
                    </a:p>
                  </a:txBody>
                  <a:tcPr>
                    <a:solidFill>
                      <a:srgbClr val="F8FAFC"/>
                    </a:solidFill>
                  </a:tcPr>
                </a:tc>
                <a:extLst>
                  <a:ext uri="{0D108BD9-81ED-4DB2-BD59-A6C34878D82A}">
                    <a16:rowId xmlns:a16="http://schemas.microsoft.com/office/drawing/2014/main" val="10002"/>
                  </a:ext>
                </a:extLst>
              </a:tr>
              <a:tr h="691896">
                <a:tc>
                  <a:txBody>
                    <a:bodyPr/>
                    <a:lstStyle/>
                    <a:p>
                      <a:pPr>
                        <a:defRPr sz="900" b="1">
                          <a:solidFill>
                            <a:srgbClr val="0F172A"/>
                          </a:solidFill>
                          <a:latin typeface="Segoe UI"/>
                        </a:defRPr>
                      </a:pPr>
                      <a:r>
                        <a:t>ex_mem_reg</a:t>
                      </a:r>
                    </a:p>
                  </a:txBody>
                  <a:tcPr>
                    <a:solidFill>
                      <a:srgbClr val="FFFFFF"/>
                    </a:solidFill>
                  </a:tcPr>
                </a:tc>
                <a:tc>
                  <a:txBody>
                    <a:bodyPr/>
                    <a:lstStyle/>
                    <a:p>
                      <a:pPr>
                        <a:defRPr sz="900">
                          <a:solidFill>
                            <a:srgbClr val="334155"/>
                          </a:solidFill>
                          <a:latin typeface="Segoe UI"/>
                        </a:defRPr>
                      </a:pPr>
                      <a:r>
                        <a:t>Chốt kết quả ALU, địa chỉ và dữ liệu store</a:t>
                      </a:r>
                    </a:p>
                  </a:txBody>
                  <a:tcPr>
                    <a:solidFill>
                      <a:srgbClr val="FFFFFF"/>
                    </a:solidFill>
                  </a:tcPr>
                </a:tc>
                <a:tc>
                  <a:txBody>
                    <a:bodyPr/>
                    <a:lstStyle/>
                    <a:p>
                      <a:pPr>
                        <a:defRPr sz="900">
                          <a:solidFill>
                            <a:srgbClr val="334155"/>
                          </a:solidFill>
                          <a:latin typeface="Segoe UI"/>
                        </a:defRPr>
                      </a:pPr>
                      <a:r>
                        <a:t>Mang theo cả Fault Metadata phát hiện được ở EX</a:t>
                      </a:r>
                    </a:p>
                  </a:txBody>
                  <a:tcPr>
                    <a:solidFill>
                      <a:srgbClr val="FFFFFF"/>
                    </a:solidFill>
                  </a:tcPr>
                </a:tc>
                <a:extLst>
                  <a:ext uri="{0D108BD9-81ED-4DB2-BD59-A6C34878D82A}">
                    <a16:rowId xmlns:a16="http://schemas.microsoft.com/office/drawing/2014/main" val="10003"/>
                  </a:ext>
                </a:extLst>
              </a:tr>
              <a:tr h="691896">
                <a:tc>
                  <a:txBody>
                    <a:bodyPr/>
                    <a:lstStyle/>
                    <a:p>
                      <a:pPr>
                        <a:defRPr sz="900" b="1">
                          <a:solidFill>
                            <a:srgbClr val="0F172A"/>
                          </a:solidFill>
                          <a:latin typeface="Segoe UI"/>
                        </a:defRPr>
                      </a:pPr>
                      <a:r>
                        <a:t>mem_wb_reg</a:t>
                      </a:r>
                    </a:p>
                  </a:txBody>
                  <a:tcPr>
                    <a:solidFill>
                      <a:srgbClr val="F8FAFC"/>
                    </a:solidFill>
                  </a:tcPr>
                </a:tc>
                <a:tc>
                  <a:txBody>
                    <a:bodyPr/>
                    <a:lstStyle/>
                    <a:p>
                      <a:pPr>
                        <a:defRPr sz="900">
                          <a:solidFill>
                            <a:srgbClr val="334155"/>
                          </a:solidFill>
                          <a:latin typeface="Segoe UI"/>
                        </a:defRPr>
                      </a:pPr>
                      <a:r>
                        <a:t>Chốt dữ liệu load và kết quả cuối cùng</a:t>
                      </a:r>
                    </a:p>
                  </a:txBody>
                  <a:tcPr>
                    <a:solidFill>
                      <a:srgbClr val="F8FAFC"/>
                    </a:solidFill>
                  </a:tcPr>
                </a:tc>
                <a:tc>
                  <a:txBody>
                    <a:bodyPr/>
                    <a:lstStyle/>
                    <a:p>
                      <a:pPr>
                        <a:defRPr sz="900">
                          <a:solidFill>
                            <a:srgbClr val="334155"/>
                          </a:solidFill>
                          <a:latin typeface="Segoe UI"/>
                        </a:defRPr>
                      </a:pPr>
                      <a:r>
                        <a:t>Đầu vào của điểm commit kiến trúc</a:t>
                      </a:r>
                    </a:p>
                  </a:txBody>
                  <a:tcPr>
                    <a:solidFill>
                      <a:srgbClr val="F8FAFC"/>
                    </a:solidFill>
                  </a:tcPr>
                </a:tc>
                <a:extLst>
                  <a:ext uri="{0D108BD9-81ED-4DB2-BD59-A6C34878D82A}">
                    <a16:rowId xmlns:a16="http://schemas.microsoft.com/office/drawing/2014/main" val="10004"/>
                  </a:ext>
                </a:extLst>
              </a:tr>
              <a:tr h="691896">
                <a:tc>
                  <a:txBody>
                    <a:bodyPr/>
                    <a:lstStyle/>
                    <a:p>
                      <a:pPr>
                        <a:defRPr sz="900" b="1">
                          <a:solidFill>
                            <a:srgbClr val="0F172A"/>
                          </a:solidFill>
                          <a:latin typeface="Segoe UI"/>
                        </a:defRPr>
                      </a:pPr>
                      <a:r>
                        <a:t>reg_file</a:t>
                      </a:r>
                    </a:p>
                  </a:txBody>
                  <a:tcPr>
                    <a:solidFill>
                      <a:srgbClr val="FFFFFF"/>
                    </a:solidFill>
                  </a:tcPr>
                </a:tc>
                <a:tc>
                  <a:txBody>
                    <a:bodyPr/>
                    <a:lstStyle/>
                    <a:p>
                      <a:pPr>
                        <a:defRPr sz="900">
                          <a:solidFill>
                            <a:srgbClr val="334155"/>
                          </a:solidFill>
                          <a:latin typeface="Segoe UI"/>
                        </a:defRPr>
                      </a:pPr>
                      <a:r>
                        <a:t>32 thanh ghi 32-bit (x0–x31), 2 cổng đọc, 1 cổng ghi</a:t>
                      </a:r>
                    </a:p>
                  </a:txBody>
                  <a:tcPr>
                    <a:solidFill>
                      <a:srgbClr val="FFFFFF"/>
                    </a:solidFill>
                  </a:tcPr>
                </a:tc>
                <a:tc>
                  <a:txBody>
                    <a:bodyPr/>
                    <a:lstStyle/>
                    <a:p>
                      <a:pPr>
                        <a:defRPr sz="900">
                          <a:solidFill>
                            <a:srgbClr val="334155"/>
                          </a:solidFill>
                          <a:latin typeface="Segoe UI"/>
                        </a:defRPr>
                      </a:pPr>
                      <a:r>
                        <a:t>Dựng bằng Flip-Flop, đọc được giá trị vừa ghi trong cùng chu kỳ, x0 cứng bằng 0</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2. KIẾN TRÚC CORE RV32I</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2.4 Nhóm Module Datapath &amp; Tối Ưu Hóa ALU</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11/28</a:t>
            </a:r>
          </a:p>
        </p:txBody>
      </p:sp>
      <p:sp>
        <p:nvSpPr>
          <p:cNvPr id="6" name="TextBox 5"/>
          <p:cNvSpPr txBox="1"/>
          <p:nvPr/>
        </p:nvSpPr>
        <p:spPr>
          <a:xfrm>
            <a:off x="731520" y="1737360"/>
            <a:ext cx="10698480" cy="219456"/>
          </a:xfrm>
          <a:prstGeom prst="rect">
            <a:avLst/>
          </a:prstGeom>
          <a:noFill/>
        </p:spPr>
        <p:txBody>
          <a:bodyPr wrap="square" lIns="0" tIns="0" rIns="0" bIns="0">
            <a:spAutoFit/>
          </a:bodyPr>
          <a:lstStyle/>
          <a:p>
            <a:pPr>
              <a:defRPr sz="900" b="1">
                <a:solidFill>
                  <a:srgbClr val="C2410C"/>
                </a:solidFill>
                <a:latin typeface="Segoe UI"/>
              </a:defRPr>
            </a:pPr>
            <a:r>
              <a:t>CHỨC NĂNG NHÓM MODULE DATAPATH.</a:t>
            </a:r>
          </a:p>
        </p:txBody>
      </p:sp>
      <p:graphicFrame>
        <p:nvGraphicFramePr>
          <p:cNvPr id="7" name="Table 6"/>
          <p:cNvGraphicFramePr>
            <a:graphicFrameLocks noGrp="1"/>
          </p:cNvGraphicFramePr>
          <p:nvPr/>
        </p:nvGraphicFramePr>
        <p:xfrm>
          <a:off x="731520" y="1975104"/>
          <a:ext cx="10698480" cy="4151376"/>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691896">
                <a:tc>
                  <a:txBody>
                    <a:bodyPr/>
                    <a:lstStyle/>
                    <a:p>
                      <a:pPr>
                        <a:defRPr sz="950" b="1">
                          <a:solidFill>
                            <a:srgbClr val="0F172A"/>
                          </a:solidFill>
                          <a:latin typeface="Segoe UI"/>
                        </a:defRPr>
                      </a:pPr>
                      <a:r>
                        <a:t>Module Datapath</a:t>
                      </a:r>
                    </a:p>
                  </a:txBody>
                  <a:tcPr>
                    <a:solidFill>
                      <a:srgbClr val="F1F5F9"/>
                    </a:solidFill>
                  </a:tcPr>
                </a:tc>
                <a:tc>
                  <a:txBody>
                    <a:bodyPr/>
                    <a:lstStyle/>
                    <a:p>
                      <a:pPr>
                        <a:defRPr sz="950" b="1">
                          <a:solidFill>
                            <a:srgbClr val="0F172A"/>
                          </a:solidFill>
                          <a:latin typeface="Segoe UI"/>
                        </a:defRPr>
                      </a:pPr>
                      <a:r>
                        <a:t>Chức Năng Chính</a:t>
                      </a:r>
                    </a:p>
                  </a:txBody>
                  <a:tcPr>
                    <a:solidFill>
                      <a:srgbClr val="F1F5F9"/>
                    </a:solidFill>
                  </a:tcPr>
                </a:tc>
                <a:tc>
                  <a:txBody>
                    <a:bodyPr/>
                    <a:lstStyle/>
                    <a:p>
                      <a:pPr>
                        <a:defRPr sz="950" b="1">
                          <a:solidFill>
                            <a:srgbClr val="0F172A"/>
                          </a:solidFill>
                          <a:latin typeface="Segoe UI"/>
                        </a:defRPr>
                      </a:pPr>
                      <a:r>
                        <a:t>Điểm Cần Chú Ý Kỹ Thuật</a:t>
                      </a:r>
                    </a:p>
                  </a:txBody>
                  <a:tcPr>
                    <a:solidFill>
                      <a:srgbClr val="F1F5F9"/>
                    </a:solidFill>
                  </a:tcPr>
                </a:tc>
                <a:extLst>
                  <a:ext uri="{0D108BD9-81ED-4DB2-BD59-A6C34878D82A}">
                    <a16:rowId xmlns:a16="http://schemas.microsoft.com/office/drawing/2014/main" val="10000"/>
                  </a:ext>
                </a:extLst>
              </a:tr>
              <a:tr h="691896">
                <a:tc>
                  <a:txBody>
                    <a:bodyPr/>
                    <a:lstStyle/>
                    <a:p>
                      <a:pPr>
                        <a:defRPr sz="900" b="1">
                          <a:solidFill>
                            <a:srgbClr val="0F172A"/>
                          </a:solidFill>
                          <a:latin typeface="Segoe UI"/>
                        </a:defRPr>
                      </a:pPr>
                      <a:r>
                        <a:t>decoder</a:t>
                      </a:r>
                    </a:p>
                  </a:txBody>
                  <a:tcPr>
                    <a:solidFill>
                      <a:srgbClr val="FFFFFF"/>
                    </a:solidFill>
                  </a:tcPr>
                </a:tc>
                <a:tc>
                  <a:txBody>
                    <a:bodyPr/>
                    <a:lstStyle/>
                    <a:p>
                      <a:pPr>
                        <a:defRPr sz="900">
                          <a:solidFill>
                            <a:srgbClr val="334155"/>
                          </a:solidFill>
                          <a:latin typeface="Segoe UI"/>
                        </a:defRPr>
                      </a:pPr>
                      <a:r>
                        <a:t>Tách mã lệnh thành các trường opcode, funct, rs1, rs2, rd</a:t>
                      </a:r>
                    </a:p>
                  </a:txBody>
                  <a:tcPr>
                    <a:solidFill>
                      <a:srgbClr val="FFFFFF"/>
                    </a:solidFill>
                  </a:tcPr>
                </a:tc>
                <a:tc>
                  <a:txBody>
                    <a:bodyPr/>
                    <a:lstStyle/>
                    <a:p>
                      <a:pPr>
                        <a:defRPr sz="900">
                          <a:solidFill>
                            <a:srgbClr val="334155"/>
                          </a:solidFill>
                          <a:latin typeface="Segoe UI"/>
                        </a:defRPr>
                      </a:pPr>
                      <a:r>
                        <a:t>Thuần tổ hợp, không lưu trạng thái</a:t>
                      </a:r>
                    </a:p>
                  </a:txBody>
                  <a:tcPr>
                    <a:solidFill>
                      <a:srgbClr val="FFFFFF"/>
                    </a:solidFill>
                  </a:tcPr>
                </a:tc>
                <a:extLst>
                  <a:ext uri="{0D108BD9-81ED-4DB2-BD59-A6C34878D82A}">
                    <a16:rowId xmlns:a16="http://schemas.microsoft.com/office/drawing/2014/main" val="10001"/>
                  </a:ext>
                </a:extLst>
              </a:tr>
              <a:tr h="691896">
                <a:tc>
                  <a:txBody>
                    <a:bodyPr/>
                    <a:lstStyle/>
                    <a:p>
                      <a:pPr>
                        <a:defRPr sz="900" b="1">
                          <a:solidFill>
                            <a:srgbClr val="0F172A"/>
                          </a:solidFill>
                          <a:latin typeface="Segoe UI"/>
                        </a:defRPr>
                      </a:pPr>
                      <a:r>
                        <a:t>imm_gen</a:t>
                      </a:r>
                    </a:p>
                  </a:txBody>
                  <a:tcPr>
                    <a:solidFill>
                      <a:srgbClr val="F8FAFC"/>
                    </a:solidFill>
                  </a:tcPr>
                </a:tc>
                <a:tc>
                  <a:txBody>
                    <a:bodyPr/>
                    <a:lstStyle/>
                    <a:p>
                      <a:pPr>
                        <a:defRPr sz="900">
                          <a:solidFill>
                            <a:srgbClr val="334155"/>
                          </a:solidFill>
                          <a:latin typeface="Segoe UI"/>
                        </a:defRPr>
                      </a:pPr>
                      <a:r>
                        <a:t>Sinh hằng số cho 5 format lệnh I, S, B, U, J</a:t>
                      </a:r>
                    </a:p>
                  </a:txBody>
                  <a:tcPr>
                    <a:solidFill>
                      <a:srgbClr val="F8FAFC"/>
                    </a:solidFill>
                  </a:tcPr>
                </a:tc>
                <a:tc>
                  <a:txBody>
                    <a:bodyPr/>
                    <a:lstStyle/>
                    <a:p>
                      <a:pPr>
                        <a:defRPr sz="900">
                          <a:solidFill>
                            <a:srgbClr val="334155"/>
                          </a:solidFill>
                          <a:latin typeface="Segoe UI"/>
                        </a:defRPr>
                      </a:pPr>
                      <a:r>
                        <a:t>Có mạch mở rộng dấu tự động</a:t>
                      </a:r>
                    </a:p>
                  </a:txBody>
                  <a:tcPr>
                    <a:solidFill>
                      <a:srgbClr val="F8FAFC"/>
                    </a:solidFill>
                  </a:tcPr>
                </a:tc>
                <a:extLst>
                  <a:ext uri="{0D108BD9-81ED-4DB2-BD59-A6C34878D82A}">
                    <a16:rowId xmlns:a16="http://schemas.microsoft.com/office/drawing/2014/main" val="10002"/>
                  </a:ext>
                </a:extLst>
              </a:tr>
              <a:tr h="691896">
                <a:tc>
                  <a:txBody>
                    <a:bodyPr/>
                    <a:lstStyle/>
                    <a:p>
                      <a:pPr>
                        <a:defRPr sz="900" b="1">
                          <a:solidFill>
                            <a:srgbClr val="0F172A"/>
                          </a:solidFill>
                          <a:latin typeface="Segoe UI"/>
                        </a:defRPr>
                      </a:pPr>
                      <a:r>
                        <a:t>alu</a:t>
                      </a:r>
                    </a:p>
                  </a:txBody>
                  <a:tcPr>
                    <a:solidFill>
                      <a:srgbClr val="FFFFFF"/>
                    </a:solidFill>
                  </a:tcPr>
                </a:tc>
                <a:tc>
                  <a:txBody>
                    <a:bodyPr/>
                    <a:lstStyle/>
                    <a:p>
                      <a:pPr>
                        <a:defRPr sz="900">
                          <a:solidFill>
                            <a:srgbClr val="334155"/>
                          </a:solidFill>
                          <a:latin typeface="Segoe UI"/>
                        </a:defRPr>
                      </a:pPr>
                      <a:r>
                        <a:t>11 phép: ADD, SUB, SLL, SLT, SLTU, XOR, SRL, SRA, OR, AND, sel_B</a:t>
                      </a:r>
                    </a:p>
                  </a:txBody>
                  <a:tcPr>
                    <a:solidFill>
                      <a:srgbClr val="FFFFFF"/>
                    </a:solidFill>
                  </a:tcPr>
                </a:tc>
                <a:tc>
                  <a:txBody>
                    <a:bodyPr/>
                    <a:lstStyle/>
                    <a:p>
                      <a:pPr>
                        <a:defRPr sz="900">
                          <a:solidFill>
                            <a:srgbClr val="334155"/>
                          </a:solidFill>
                          <a:latin typeface="Segoe UI"/>
                        </a:defRPr>
                      </a:pPr>
                      <a:r>
                        <a:t>SUB, SLT, SLTU dùng chung 1 bộ cộng bù 2 để tiết kiệm LUT</a:t>
                      </a:r>
                    </a:p>
                  </a:txBody>
                  <a:tcPr>
                    <a:solidFill>
                      <a:srgbClr val="FFFFFF"/>
                    </a:solidFill>
                  </a:tcPr>
                </a:tc>
                <a:extLst>
                  <a:ext uri="{0D108BD9-81ED-4DB2-BD59-A6C34878D82A}">
                    <a16:rowId xmlns:a16="http://schemas.microsoft.com/office/drawing/2014/main" val="10003"/>
                  </a:ext>
                </a:extLst>
              </a:tr>
              <a:tr h="691896">
                <a:tc>
                  <a:txBody>
                    <a:bodyPr/>
                    <a:lstStyle/>
                    <a:p>
                      <a:pPr>
                        <a:defRPr sz="900" b="1">
                          <a:solidFill>
                            <a:srgbClr val="0F172A"/>
                          </a:solidFill>
                          <a:latin typeface="Segoe UI"/>
                        </a:defRPr>
                      </a:pPr>
                      <a:r>
                        <a:t>branch_unit</a:t>
                      </a:r>
                    </a:p>
                  </a:txBody>
                  <a:tcPr>
                    <a:solidFill>
                      <a:srgbClr val="F8FAFC"/>
                    </a:solidFill>
                  </a:tcPr>
                </a:tc>
                <a:tc>
                  <a:txBody>
                    <a:bodyPr/>
                    <a:lstStyle/>
                    <a:p>
                      <a:pPr>
                        <a:defRPr sz="900">
                          <a:solidFill>
                            <a:srgbClr val="334155"/>
                          </a:solidFill>
                          <a:latin typeface="Segoe UI"/>
                        </a:defRPr>
                      </a:pPr>
                      <a:r>
                        <a:t>Quyết định branch taken / not-taken</a:t>
                      </a:r>
                    </a:p>
                  </a:txBody>
                  <a:tcPr>
                    <a:solidFill>
                      <a:srgbClr val="F8FAFC"/>
                    </a:solidFill>
                  </a:tcPr>
                </a:tc>
                <a:tc>
                  <a:txBody>
                    <a:bodyPr/>
                    <a:lstStyle/>
                    <a:p>
                      <a:pPr>
                        <a:defRPr sz="900">
                          <a:solidFill>
                            <a:srgbClr val="334155"/>
                          </a:solidFill>
                          <a:latin typeface="Segoe UI"/>
                        </a:defRPr>
                      </a:pPr>
                      <a:r>
                        <a:t>Phủ đủ 6 điều kiện so sánh từ BEQ đến BGEU</a:t>
                      </a:r>
                    </a:p>
                  </a:txBody>
                  <a:tcPr>
                    <a:solidFill>
                      <a:srgbClr val="F8FAFC"/>
                    </a:solidFill>
                  </a:tcPr>
                </a:tc>
                <a:extLst>
                  <a:ext uri="{0D108BD9-81ED-4DB2-BD59-A6C34878D82A}">
                    <a16:rowId xmlns:a16="http://schemas.microsoft.com/office/drawing/2014/main" val="10004"/>
                  </a:ext>
                </a:extLst>
              </a:tr>
              <a:tr h="691896">
                <a:tc>
                  <a:txBody>
                    <a:bodyPr/>
                    <a:lstStyle/>
                    <a:p>
                      <a:pPr>
                        <a:defRPr sz="900" b="1">
                          <a:solidFill>
                            <a:srgbClr val="0F172A"/>
                          </a:solidFill>
                          <a:latin typeface="Segoe UI"/>
                        </a:defRPr>
                      </a:pPr>
                      <a:r>
                        <a:t>pc_unit</a:t>
                      </a:r>
                    </a:p>
                  </a:txBody>
                  <a:tcPr>
                    <a:solidFill>
                      <a:srgbClr val="FFFFFF"/>
                    </a:solidFill>
                  </a:tcPr>
                </a:tc>
                <a:tc>
                  <a:txBody>
                    <a:bodyPr/>
                    <a:lstStyle/>
                    <a:p>
                      <a:pPr>
                        <a:defRPr sz="900">
                          <a:solidFill>
                            <a:srgbClr val="334155"/>
                          </a:solidFill>
                          <a:latin typeface="Segoe UI"/>
                        </a:defRPr>
                      </a:pPr>
                      <a:r>
                        <a:t>Thanh ghi PC và logic chọn địa chỉ kế tiếp</a:t>
                      </a:r>
                    </a:p>
                  </a:txBody>
                  <a:tcPr>
                    <a:solidFill>
                      <a:srgbClr val="FFFFFF"/>
                    </a:solidFill>
                  </a:tcPr>
                </a:tc>
                <a:tc>
                  <a:txBody>
                    <a:bodyPr/>
                    <a:lstStyle/>
                    <a:p>
                      <a:pPr>
                        <a:defRPr sz="900">
                          <a:solidFill>
                            <a:srgbClr val="334155"/>
                          </a:solidFill>
                          <a:latin typeface="Segoe UI"/>
                        </a:defRPr>
                      </a:pPr>
                      <a:r>
                        <a:t>Thứ tự ưu tiên: Redirect &gt; Stall &gt; Next PC (PC+4)</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2. KIẾN TRÚC CORE RV32I</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2.5 Module Điều Khiển &amp; Xử Lý Ngoại Lệ</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12/28</a:t>
            </a:r>
          </a:p>
        </p:txBody>
      </p:sp>
      <p:sp>
        <p:nvSpPr>
          <p:cNvPr id="6" name="TextBox 5"/>
          <p:cNvSpPr txBox="1"/>
          <p:nvPr/>
        </p:nvSpPr>
        <p:spPr>
          <a:xfrm>
            <a:off x="731520" y="1737360"/>
            <a:ext cx="10698480" cy="219456"/>
          </a:xfrm>
          <a:prstGeom prst="rect">
            <a:avLst/>
          </a:prstGeom>
          <a:noFill/>
        </p:spPr>
        <p:txBody>
          <a:bodyPr wrap="square" lIns="0" tIns="0" rIns="0" bIns="0">
            <a:spAutoFit/>
          </a:bodyPr>
          <a:lstStyle/>
          <a:p>
            <a:pPr>
              <a:defRPr sz="900" b="1">
                <a:solidFill>
                  <a:srgbClr val="C2410C"/>
                </a:solidFill>
                <a:latin typeface="Segoe UI"/>
              </a:defRPr>
            </a:pPr>
            <a:r>
              <a:t>CHỨC NĂNG NHÓM MODULE ĐIỀU KHIỂN VÀ NGOẠI LỆ.</a:t>
            </a:r>
          </a:p>
        </p:txBody>
      </p:sp>
      <p:graphicFrame>
        <p:nvGraphicFramePr>
          <p:cNvPr id="7" name="Table 6"/>
          <p:cNvGraphicFramePr>
            <a:graphicFrameLocks noGrp="1"/>
          </p:cNvGraphicFramePr>
          <p:nvPr/>
        </p:nvGraphicFramePr>
        <p:xfrm>
          <a:off x="731520" y="1975104"/>
          <a:ext cx="10698480" cy="4151376"/>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691896">
                <a:tc>
                  <a:txBody>
                    <a:bodyPr/>
                    <a:lstStyle/>
                    <a:p>
                      <a:pPr>
                        <a:defRPr sz="950" b="1">
                          <a:solidFill>
                            <a:srgbClr val="0F172A"/>
                          </a:solidFill>
                          <a:latin typeface="Segoe UI"/>
                        </a:defRPr>
                      </a:pPr>
                      <a:r>
                        <a:t>Module Điều Khiển</a:t>
                      </a:r>
                    </a:p>
                  </a:txBody>
                  <a:tcPr>
                    <a:solidFill>
                      <a:srgbClr val="F1F5F9"/>
                    </a:solidFill>
                  </a:tcPr>
                </a:tc>
                <a:tc>
                  <a:txBody>
                    <a:bodyPr/>
                    <a:lstStyle/>
                    <a:p>
                      <a:pPr>
                        <a:defRPr sz="950" b="1">
                          <a:solidFill>
                            <a:srgbClr val="0F172A"/>
                          </a:solidFill>
                          <a:latin typeface="Segoe UI"/>
                        </a:defRPr>
                      </a:pPr>
                      <a:r>
                        <a:t>Chức Năng Chính</a:t>
                      </a:r>
                    </a:p>
                  </a:txBody>
                  <a:tcPr>
                    <a:solidFill>
                      <a:srgbClr val="F1F5F9"/>
                    </a:solidFill>
                  </a:tcPr>
                </a:tc>
                <a:tc>
                  <a:txBody>
                    <a:bodyPr/>
                    <a:lstStyle/>
                    <a:p>
                      <a:pPr>
                        <a:defRPr sz="950" b="1">
                          <a:solidFill>
                            <a:srgbClr val="0F172A"/>
                          </a:solidFill>
                          <a:latin typeface="Segoe UI"/>
                        </a:defRPr>
                      </a:pPr>
                      <a:r>
                        <a:t>Điểm Cần Chú Ý Kỹ Thuật</a:t>
                      </a:r>
                    </a:p>
                  </a:txBody>
                  <a:tcPr>
                    <a:solidFill>
                      <a:srgbClr val="F1F5F9"/>
                    </a:solidFill>
                  </a:tcPr>
                </a:tc>
                <a:extLst>
                  <a:ext uri="{0D108BD9-81ED-4DB2-BD59-A6C34878D82A}">
                    <a16:rowId xmlns:a16="http://schemas.microsoft.com/office/drawing/2014/main" val="10000"/>
                  </a:ext>
                </a:extLst>
              </a:tr>
              <a:tr h="691896">
                <a:tc>
                  <a:txBody>
                    <a:bodyPr/>
                    <a:lstStyle/>
                    <a:p>
                      <a:pPr>
                        <a:defRPr sz="900" b="1">
                          <a:solidFill>
                            <a:srgbClr val="0F172A"/>
                          </a:solidFill>
                          <a:latin typeface="Segoe UI"/>
                        </a:defRPr>
                      </a:pPr>
                      <a:r>
                        <a:t>control_unit</a:t>
                      </a:r>
                    </a:p>
                  </a:txBody>
                  <a:tcPr>
                    <a:solidFill>
                      <a:srgbClr val="FFFFFF"/>
                    </a:solidFill>
                  </a:tcPr>
                </a:tc>
                <a:tc>
                  <a:txBody>
                    <a:bodyPr/>
                    <a:lstStyle/>
                    <a:p>
                      <a:pPr>
                        <a:defRPr sz="900">
                          <a:solidFill>
                            <a:srgbClr val="334155"/>
                          </a:solidFill>
                          <a:latin typeface="Segoe UI"/>
                        </a:defRPr>
                      </a:pPr>
                      <a:r>
                        <a:t>Sinh tín hiệu điều khiển từ mã lệnh</a:t>
                      </a:r>
                    </a:p>
                  </a:txBody>
                  <a:tcPr>
                    <a:solidFill>
                      <a:srgbClr val="FFFFFF"/>
                    </a:solidFill>
                  </a:tcPr>
                </a:tc>
                <a:tc>
                  <a:txBody>
                    <a:bodyPr/>
                    <a:lstStyle/>
                    <a:p>
                      <a:pPr>
                        <a:defRPr sz="900">
                          <a:solidFill>
                            <a:srgbClr val="334155"/>
                          </a:solidFill>
                          <a:latin typeface="Segoe UI"/>
                        </a:defRPr>
                      </a:pPr>
                      <a:r>
                        <a:t>Mã lệnh lạ được đánh dấu Illegal thay vì chạy sai</a:t>
                      </a:r>
                    </a:p>
                  </a:txBody>
                  <a:tcPr>
                    <a:solidFill>
                      <a:srgbClr val="FFFFFF"/>
                    </a:solidFill>
                  </a:tcPr>
                </a:tc>
                <a:extLst>
                  <a:ext uri="{0D108BD9-81ED-4DB2-BD59-A6C34878D82A}">
                    <a16:rowId xmlns:a16="http://schemas.microsoft.com/office/drawing/2014/main" val="10001"/>
                  </a:ext>
                </a:extLst>
              </a:tr>
              <a:tr h="691896">
                <a:tc>
                  <a:txBody>
                    <a:bodyPr/>
                    <a:lstStyle/>
                    <a:p>
                      <a:pPr>
                        <a:defRPr sz="900" b="1">
                          <a:solidFill>
                            <a:srgbClr val="0F172A"/>
                          </a:solidFill>
                          <a:latin typeface="Segoe UI"/>
                        </a:defRPr>
                      </a:pPr>
                      <a:r>
                        <a:t>forwarding_unit</a:t>
                      </a:r>
                    </a:p>
                  </a:txBody>
                  <a:tcPr>
                    <a:solidFill>
                      <a:srgbClr val="F8FAFC"/>
                    </a:solidFill>
                  </a:tcPr>
                </a:tc>
                <a:tc>
                  <a:txBody>
                    <a:bodyPr/>
                    <a:lstStyle/>
                    <a:p>
                      <a:pPr>
                        <a:defRPr sz="900">
                          <a:solidFill>
                            <a:srgbClr val="334155"/>
                          </a:solidFill>
                          <a:latin typeface="Segoe UI"/>
                        </a:defRPr>
                      </a:pPr>
                      <a:r>
                        <a:t>Chuyển kết quả từ MEM/WB về EX</a:t>
                      </a:r>
                    </a:p>
                  </a:txBody>
                  <a:tcPr>
                    <a:solidFill>
                      <a:srgbClr val="F8FAFC"/>
                    </a:solidFill>
                  </a:tcPr>
                </a:tc>
                <a:tc>
                  <a:txBody>
                    <a:bodyPr/>
                    <a:lstStyle/>
                    <a:p>
                      <a:pPr>
                        <a:defRPr sz="900">
                          <a:solidFill>
                            <a:srgbClr val="334155"/>
                          </a:solidFill>
                          <a:latin typeface="Segoe UI"/>
                        </a:defRPr>
                      </a:pPr>
                      <a:r>
                        <a:t>MEM được ưu tiên trước WB (kết quả mới hơn)</a:t>
                      </a:r>
                    </a:p>
                  </a:txBody>
                  <a:tcPr>
                    <a:solidFill>
                      <a:srgbClr val="F8FAFC"/>
                    </a:solidFill>
                  </a:tcPr>
                </a:tc>
                <a:extLst>
                  <a:ext uri="{0D108BD9-81ED-4DB2-BD59-A6C34878D82A}">
                    <a16:rowId xmlns:a16="http://schemas.microsoft.com/office/drawing/2014/main" val="10002"/>
                  </a:ext>
                </a:extLst>
              </a:tr>
              <a:tr h="691896">
                <a:tc>
                  <a:txBody>
                    <a:bodyPr/>
                    <a:lstStyle/>
                    <a:p>
                      <a:pPr>
                        <a:defRPr sz="900" b="1">
                          <a:solidFill>
                            <a:srgbClr val="0F172A"/>
                          </a:solidFill>
                          <a:latin typeface="Segoe UI"/>
                        </a:defRPr>
                      </a:pPr>
                      <a:r>
                        <a:t>hazard_unit</a:t>
                      </a:r>
                    </a:p>
                  </a:txBody>
                  <a:tcPr>
                    <a:solidFill>
                      <a:srgbClr val="FFFFFF"/>
                    </a:solidFill>
                  </a:tcPr>
                </a:tc>
                <a:tc>
                  <a:txBody>
                    <a:bodyPr/>
                    <a:lstStyle/>
                    <a:p>
                      <a:pPr>
                        <a:defRPr sz="900">
                          <a:solidFill>
                            <a:srgbClr val="334155"/>
                          </a:solidFill>
                          <a:latin typeface="Segoe UI"/>
                        </a:defRPr>
                      </a:pPr>
                      <a:r>
                        <a:t>Phát hiện Load-Use stall, flush pipeline</a:t>
                      </a:r>
                    </a:p>
                  </a:txBody>
                  <a:tcPr>
                    <a:solidFill>
                      <a:srgbClr val="FFFFFF"/>
                    </a:solidFill>
                  </a:tcPr>
                </a:tc>
                <a:tc>
                  <a:txBody>
                    <a:bodyPr/>
                    <a:lstStyle/>
                    <a:p>
                      <a:pPr>
                        <a:defRPr sz="900">
                          <a:solidFill>
                            <a:srgbClr val="334155"/>
                          </a:solidFill>
                          <a:latin typeface="Segoe UI"/>
                        </a:defRPr>
                      </a:pPr>
                      <a:r>
                        <a:t>Chỉ xét rs2 với các lệnh thực sự dùng rs2</a:t>
                      </a:r>
                    </a:p>
                  </a:txBody>
                  <a:tcPr>
                    <a:solidFill>
                      <a:srgbClr val="FFFFFF"/>
                    </a:solidFill>
                  </a:tcPr>
                </a:tc>
                <a:extLst>
                  <a:ext uri="{0D108BD9-81ED-4DB2-BD59-A6C34878D82A}">
                    <a16:rowId xmlns:a16="http://schemas.microsoft.com/office/drawing/2014/main" val="10003"/>
                  </a:ext>
                </a:extLst>
              </a:tr>
              <a:tr h="691896">
                <a:tc>
                  <a:txBody>
                    <a:bodyPr/>
                    <a:lstStyle/>
                    <a:p>
                      <a:pPr>
                        <a:defRPr sz="900" b="1">
                          <a:solidFill>
                            <a:srgbClr val="0F172A"/>
                          </a:solidFill>
                          <a:latin typeface="Segoe UI"/>
                        </a:defRPr>
                      </a:pPr>
                      <a:r>
                        <a:t>csr_file</a:t>
                      </a:r>
                    </a:p>
                  </a:txBody>
                  <a:tcPr>
                    <a:solidFill>
                      <a:srgbClr val="F8FAFC"/>
                    </a:solidFill>
                  </a:tcPr>
                </a:tc>
                <a:tc>
                  <a:txBody>
                    <a:bodyPr/>
                    <a:lstStyle/>
                    <a:p>
                      <a:pPr>
                        <a:defRPr sz="900">
                          <a:solidFill>
                            <a:srgbClr val="334155"/>
                          </a:solidFill>
                          <a:latin typeface="Segoe UI"/>
                        </a:defRPr>
                      </a:pPr>
                      <a:r>
                        <a:t>Chứa toàn bộ CSR Machine mode và bộ đếm chu kỳ</a:t>
                      </a:r>
                    </a:p>
                  </a:txBody>
                  <a:tcPr>
                    <a:solidFill>
                      <a:srgbClr val="F8FAFC"/>
                    </a:solidFill>
                  </a:tcPr>
                </a:tc>
                <a:tc>
                  <a:txBody>
                    <a:bodyPr/>
                    <a:lstStyle/>
                    <a:p>
                      <a:pPr>
                        <a:defRPr sz="900">
                          <a:solidFill>
                            <a:srgbClr val="334155"/>
                          </a:solidFill>
                          <a:latin typeface="Segoe UI"/>
                        </a:defRPr>
                      </a:pPr>
                      <a:r>
                        <a:t>Ghi giá trị không hợp lệ sẽ tự chuẩn hóa (sanitize)</a:t>
                      </a:r>
                    </a:p>
                  </a:txBody>
                  <a:tcPr>
                    <a:solidFill>
                      <a:srgbClr val="F8FAFC"/>
                    </a:solidFill>
                  </a:tcPr>
                </a:tc>
                <a:extLst>
                  <a:ext uri="{0D108BD9-81ED-4DB2-BD59-A6C34878D82A}">
                    <a16:rowId xmlns:a16="http://schemas.microsoft.com/office/drawing/2014/main" val="10004"/>
                  </a:ext>
                </a:extLst>
              </a:tr>
              <a:tr h="691896">
                <a:tc>
                  <a:txBody>
                    <a:bodyPr/>
                    <a:lstStyle/>
                    <a:p>
                      <a:pPr>
                        <a:defRPr sz="900" b="1">
                          <a:solidFill>
                            <a:srgbClr val="0F172A"/>
                          </a:solidFill>
                          <a:latin typeface="Segoe UI"/>
                        </a:defRPr>
                      </a:pPr>
                      <a:r>
                        <a:t>trap_unit</a:t>
                      </a:r>
                    </a:p>
                  </a:txBody>
                  <a:tcPr>
                    <a:solidFill>
                      <a:srgbClr val="FFFFFF"/>
                    </a:solidFill>
                  </a:tcPr>
                </a:tc>
                <a:tc>
                  <a:txBody>
                    <a:bodyPr/>
                    <a:lstStyle/>
                    <a:p>
                      <a:pPr>
                        <a:defRPr sz="900">
                          <a:solidFill>
                            <a:srgbClr val="334155"/>
                          </a:solidFill>
                          <a:latin typeface="Segoe UI"/>
                        </a:defRPr>
                      </a:pPr>
                      <a:r>
                        <a:t>Chọn lỗi của lệnh già nhất, tính địa chỉ handler</a:t>
                      </a:r>
                    </a:p>
                  </a:txBody>
                  <a:tcPr>
                    <a:solidFill>
                      <a:srgbClr val="FFFFFF"/>
                    </a:solidFill>
                  </a:tcPr>
                </a:tc>
                <a:tc>
                  <a:txBody>
                    <a:bodyPr/>
                    <a:lstStyle/>
                    <a:p>
                      <a:pPr>
                        <a:defRPr sz="900">
                          <a:solidFill>
                            <a:srgbClr val="334155"/>
                          </a:solidFill>
                          <a:latin typeface="Segoe UI"/>
                        </a:defRPr>
                      </a:pPr>
                      <a:r>
                        <a:t>Ưu tiên theo tuổi lệnh: WB &gt; MEM &gt; EX &gt; ID &gt; IF</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2. KIẾN TRÚC CORE RV32I</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2.6 Giao Tiếp Bus &amp; Đóng Gói IP</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13/28</a:t>
            </a:r>
          </a:p>
        </p:txBody>
      </p:sp>
      <p:sp>
        <p:nvSpPr>
          <p:cNvPr id="6" name="TextBox 5"/>
          <p:cNvSpPr txBox="1"/>
          <p:nvPr/>
        </p:nvSpPr>
        <p:spPr>
          <a:xfrm>
            <a:off x="731520" y="1737360"/>
            <a:ext cx="10698480" cy="219456"/>
          </a:xfrm>
          <a:prstGeom prst="rect">
            <a:avLst/>
          </a:prstGeom>
          <a:noFill/>
        </p:spPr>
        <p:txBody>
          <a:bodyPr wrap="square" lIns="0" tIns="0" rIns="0" bIns="0">
            <a:spAutoFit/>
          </a:bodyPr>
          <a:lstStyle/>
          <a:p>
            <a:pPr>
              <a:defRPr sz="900" b="1">
                <a:solidFill>
                  <a:srgbClr val="C2410C"/>
                </a:solidFill>
                <a:latin typeface="Segoe UI"/>
              </a:defRPr>
            </a:pPr>
            <a:r>
              <a:t>CHỨC NĂNG NHÓM MODULE GIAO TIẾP BUS.</a:t>
            </a:r>
          </a:p>
        </p:txBody>
      </p:sp>
      <p:graphicFrame>
        <p:nvGraphicFramePr>
          <p:cNvPr id="7" name="Table 6"/>
          <p:cNvGraphicFramePr>
            <a:graphicFrameLocks noGrp="1"/>
          </p:cNvGraphicFramePr>
          <p:nvPr/>
        </p:nvGraphicFramePr>
        <p:xfrm>
          <a:off x="731520" y="1975104"/>
          <a:ext cx="10698480" cy="2048256"/>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12064">
                <a:tc>
                  <a:txBody>
                    <a:bodyPr/>
                    <a:lstStyle/>
                    <a:p>
                      <a:pPr>
                        <a:defRPr sz="950" b="1">
                          <a:solidFill>
                            <a:srgbClr val="0F172A"/>
                          </a:solidFill>
                          <a:latin typeface="Segoe UI"/>
                        </a:defRPr>
                      </a:pPr>
                      <a:r>
                        <a:t>Module Giao Tiếp</a:t>
                      </a:r>
                    </a:p>
                  </a:txBody>
                  <a:tcPr>
                    <a:solidFill>
                      <a:srgbClr val="F1F5F9"/>
                    </a:solidFill>
                  </a:tcPr>
                </a:tc>
                <a:tc>
                  <a:txBody>
                    <a:bodyPr/>
                    <a:lstStyle/>
                    <a:p>
                      <a:pPr>
                        <a:defRPr sz="950" b="1">
                          <a:solidFill>
                            <a:srgbClr val="0F172A"/>
                          </a:solidFill>
                          <a:latin typeface="Segoe UI"/>
                        </a:defRPr>
                      </a:pPr>
                      <a:r>
                        <a:t>Chức Năng Chính</a:t>
                      </a:r>
                    </a:p>
                  </a:txBody>
                  <a:tcPr>
                    <a:solidFill>
                      <a:srgbClr val="F1F5F9"/>
                    </a:solidFill>
                  </a:tcPr>
                </a:tc>
                <a:tc>
                  <a:txBody>
                    <a:bodyPr/>
                    <a:lstStyle/>
                    <a:p>
                      <a:pPr>
                        <a:defRPr sz="950" b="1">
                          <a:solidFill>
                            <a:srgbClr val="0F172A"/>
                          </a:solidFill>
                          <a:latin typeface="Segoe UI"/>
                        </a:defRPr>
                      </a:pPr>
                      <a:r>
                        <a:t>Điểm Cần Chú Ý Kỹ Thuật</a:t>
                      </a:r>
                    </a:p>
                  </a:txBody>
                  <a:tcPr>
                    <a:solidFill>
                      <a:srgbClr val="F1F5F9"/>
                    </a:solidFill>
                  </a:tcPr>
                </a:tc>
                <a:extLst>
                  <a:ext uri="{0D108BD9-81ED-4DB2-BD59-A6C34878D82A}">
                    <a16:rowId xmlns:a16="http://schemas.microsoft.com/office/drawing/2014/main" val="10000"/>
                  </a:ext>
                </a:extLst>
              </a:tr>
              <a:tr h="512064">
                <a:tc>
                  <a:txBody>
                    <a:bodyPr/>
                    <a:lstStyle/>
                    <a:p>
                      <a:pPr>
                        <a:defRPr sz="900" b="1">
                          <a:solidFill>
                            <a:srgbClr val="0F172A"/>
                          </a:solidFill>
                          <a:latin typeface="Segoe UI"/>
                        </a:defRPr>
                      </a:pPr>
                      <a:r>
                        <a:t>imem_axi_lite_adapter</a:t>
                      </a:r>
                    </a:p>
                  </a:txBody>
                  <a:tcPr>
                    <a:solidFill>
                      <a:srgbClr val="FFFFFF"/>
                    </a:solidFill>
                  </a:tcPr>
                </a:tc>
                <a:tc>
                  <a:txBody>
                    <a:bodyPr/>
                    <a:lstStyle/>
                    <a:p>
                      <a:pPr>
                        <a:defRPr sz="900">
                          <a:solidFill>
                            <a:srgbClr val="334155"/>
                          </a:solidFill>
                          <a:latin typeface="Segoe UI"/>
                        </a:defRPr>
                      </a:pPr>
                      <a:r>
                        <a:t>AXI4-Lite Master chỉ đọc, nạp lệnh từ IMEM</a:t>
                      </a:r>
                    </a:p>
                  </a:txBody>
                  <a:tcPr>
                    <a:solidFill>
                      <a:srgbClr val="FFFFFF"/>
                    </a:solidFill>
                  </a:tcPr>
                </a:tc>
                <a:tc>
                  <a:txBody>
                    <a:bodyPr/>
                    <a:lstStyle/>
                    <a:p>
                      <a:pPr>
                        <a:defRPr sz="900">
                          <a:solidFill>
                            <a:srgbClr val="334155"/>
                          </a:solidFill>
                          <a:latin typeface="Segoe UI"/>
                        </a:defRPr>
                      </a:pPr>
                      <a:r>
                        <a:t>Tự động drop lệnh cũ khi redirect</a:t>
                      </a:r>
                    </a:p>
                  </a:txBody>
                  <a:tcPr>
                    <a:solidFill>
                      <a:srgbClr val="FFFFFF"/>
                    </a:solidFill>
                  </a:tcPr>
                </a:tc>
                <a:extLst>
                  <a:ext uri="{0D108BD9-81ED-4DB2-BD59-A6C34878D82A}">
                    <a16:rowId xmlns:a16="http://schemas.microsoft.com/office/drawing/2014/main" val="10001"/>
                  </a:ext>
                </a:extLst>
              </a:tr>
              <a:tr h="512064">
                <a:tc>
                  <a:txBody>
                    <a:bodyPr/>
                    <a:lstStyle/>
                    <a:p>
                      <a:pPr>
                        <a:defRPr sz="900" b="1">
                          <a:solidFill>
                            <a:srgbClr val="0F172A"/>
                          </a:solidFill>
                          <a:latin typeface="Segoe UI"/>
                        </a:defRPr>
                      </a:pPr>
                      <a:r>
                        <a:t>dmem_axi_lite_adapter</a:t>
                      </a:r>
                    </a:p>
                  </a:txBody>
                  <a:tcPr>
                    <a:solidFill>
                      <a:srgbClr val="F8FAFC"/>
                    </a:solidFill>
                  </a:tcPr>
                </a:tc>
                <a:tc>
                  <a:txBody>
                    <a:bodyPr/>
                    <a:lstStyle/>
                    <a:p>
                      <a:pPr>
                        <a:defRPr sz="900">
                          <a:solidFill>
                            <a:srgbClr val="334155"/>
                          </a:solidFill>
                          <a:latin typeface="Segoe UI"/>
                        </a:defRPr>
                      </a:pPr>
                      <a:r>
                        <a:t>AXI4-Lite Master đọc/ghi, Load/Store + UART/INTC</a:t>
                      </a:r>
                    </a:p>
                  </a:txBody>
                  <a:tcPr>
                    <a:solidFill>
                      <a:srgbClr val="F8FAFC"/>
                    </a:solidFill>
                  </a:tcPr>
                </a:tc>
                <a:tc>
                  <a:txBody>
                    <a:bodyPr/>
                    <a:lstStyle/>
                    <a:p>
                      <a:pPr>
                        <a:defRPr sz="900">
                          <a:solidFill>
                            <a:srgbClr val="334155"/>
                          </a:solidFill>
                          <a:latin typeface="Segoe UI"/>
                        </a:defRPr>
                      </a:pPr>
                      <a:r>
                        <a:t>Đường truy cập bộ nhớ và thanh ghi ngoại vi</a:t>
                      </a:r>
                    </a:p>
                  </a:txBody>
                  <a:tcPr>
                    <a:solidFill>
                      <a:srgbClr val="F8FAFC"/>
                    </a:solidFill>
                  </a:tcPr>
                </a:tc>
                <a:extLst>
                  <a:ext uri="{0D108BD9-81ED-4DB2-BD59-A6C34878D82A}">
                    <a16:rowId xmlns:a16="http://schemas.microsoft.com/office/drawing/2014/main" val="10002"/>
                  </a:ext>
                </a:extLst>
              </a:tr>
              <a:tr h="512064">
                <a:tc>
                  <a:txBody>
                    <a:bodyPr/>
                    <a:lstStyle/>
                    <a:p>
                      <a:pPr>
                        <a:defRPr sz="900" b="1">
                          <a:solidFill>
                            <a:srgbClr val="0F172A"/>
                          </a:solidFill>
                          <a:latin typeface="Segoe UI"/>
                        </a:defRPr>
                      </a:pPr>
                      <a:r>
                        <a:t>rv32i_axi_integration_top</a:t>
                      </a:r>
                    </a:p>
                  </a:txBody>
                  <a:tcPr>
                    <a:solidFill>
                      <a:srgbClr val="FFFFFF"/>
                    </a:solidFill>
                  </a:tcPr>
                </a:tc>
                <a:tc>
                  <a:txBody>
                    <a:bodyPr/>
                    <a:lstStyle/>
                    <a:p>
                      <a:pPr>
                        <a:defRPr sz="900">
                          <a:solidFill>
                            <a:srgbClr val="334155"/>
                          </a:solidFill>
                          <a:latin typeface="Segoe UI"/>
                        </a:defRPr>
                      </a:pPr>
                      <a:r>
                        <a:t>Gói core + 2 adapter thành IP hoàn chỉnh</a:t>
                      </a:r>
                    </a:p>
                  </a:txBody>
                  <a:tcPr>
                    <a:solidFill>
                      <a:srgbClr val="FFFFFF"/>
                    </a:solidFill>
                  </a:tcPr>
                </a:tc>
                <a:tc>
                  <a:txBody>
                    <a:bodyPr/>
                    <a:lstStyle/>
                    <a:p>
                      <a:pPr>
                        <a:defRPr sz="900">
                          <a:solidFill>
                            <a:srgbClr val="334155"/>
                          </a:solidFill>
                          <a:latin typeface="Segoe UI"/>
                        </a:defRPr>
                      </a:pPr>
                      <a:r>
                        <a:t>Đưa vào Block Design xuất 2 cổng AXI Master</a:t>
                      </a:r>
                    </a:p>
                  </a:txBody>
                  <a:tcP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731520" y="4572000"/>
            <a:ext cx="10698480" cy="1463040"/>
          </a:xfrm>
          <a:prstGeom prst="rect">
            <a:avLst/>
          </a:prstGeom>
          <a:noFill/>
        </p:spPr>
        <p:txBody>
          <a:bodyPr wrap="square" lIns="0" tIns="0" rIns="0" bIns="0">
            <a:spAutoFit/>
          </a:bodyPr>
          <a:lstStyle/>
          <a:p>
            <a:pPr>
              <a:spcAft>
                <a:spcPts val="800"/>
              </a:spcAft>
              <a:defRPr sz="1000">
                <a:latin typeface="Segoe UI"/>
              </a:defRPr>
            </a:pPr>
            <a:r>
              <a:rPr b="1">
                <a:solidFill>
                  <a:srgbClr val="0F172A"/>
                </a:solidFill>
              </a:rPr>
              <a:t>Cách ly Core với Bus — </a:t>
            </a:r>
            <a:r>
              <a:rPr>
                <a:solidFill>
                  <a:srgbClr val="334155"/>
                </a:solidFill>
              </a:rPr>
              <a:t>Core sử dụng giao thức bắt tay nội bộ đơn giản. Nếu đổi sang bus AHB hoặc Wishbone, chỉ cần thay 2 Adapter mà không sửa RTL Core.</a:t>
            </a:r>
          </a:p>
          <a:p>
            <a:pPr>
              <a:spcAft>
                <a:spcPts val="800"/>
              </a:spcAft>
              <a:defRPr sz="1000">
                <a:latin typeface="Segoe UI"/>
              </a:defRPr>
            </a:pPr>
            <a:r>
              <a:rPr b="1">
                <a:solidFill>
                  <a:srgbClr val="0F172A"/>
                </a:solidFill>
              </a:rPr>
              <a:t>Tự hủy giao dịch cũ — </a:t>
            </a:r>
            <a:r>
              <a:rPr>
                <a:solidFill>
                  <a:srgbClr val="334155"/>
                </a:solidFill>
              </a:rPr>
              <a:t>Adapter tự drop giao dịch AXI cũ khi redirect mà không làm treo bus ngoài.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2. KIẾN TRÚC CORE RV32I</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2.7 Tập Lệnh RV32I &amp; Zicsr Đã Hiện Thực</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14/28</a:t>
            </a:r>
          </a:p>
        </p:txBody>
      </p:sp>
      <p:sp>
        <p:nvSpPr>
          <p:cNvPr id="6" name="TextBox 5"/>
          <p:cNvSpPr txBox="1"/>
          <p:nvPr/>
        </p:nvSpPr>
        <p:spPr>
          <a:xfrm>
            <a:off x="731520" y="1737360"/>
            <a:ext cx="10698480" cy="219456"/>
          </a:xfrm>
          <a:prstGeom prst="rect">
            <a:avLst/>
          </a:prstGeom>
          <a:noFill/>
        </p:spPr>
        <p:txBody>
          <a:bodyPr wrap="square" lIns="0" tIns="0" rIns="0" bIns="0">
            <a:spAutoFit/>
          </a:bodyPr>
          <a:lstStyle/>
          <a:p>
            <a:pPr>
              <a:defRPr sz="900" b="1">
                <a:solidFill>
                  <a:srgbClr val="C2410C"/>
                </a:solidFill>
                <a:latin typeface="Segoe UI"/>
              </a:defRPr>
            </a:pPr>
            <a:r>
              <a:t>TẬP LỆNH RV32I VÀ ZICSR ĐÃ HIỆN THỰC.</a:t>
            </a:r>
          </a:p>
        </p:txBody>
      </p:sp>
      <p:graphicFrame>
        <p:nvGraphicFramePr>
          <p:cNvPr id="7" name="Table 6"/>
          <p:cNvGraphicFramePr>
            <a:graphicFrameLocks noGrp="1"/>
          </p:cNvGraphicFramePr>
          <p:nvPr/>
        </p:nvGraphicFramePr>
        <p:xfrm>
          <a:off x="731520" y="1975104"/>
          <a:ext cx="10698480" cy="4151376"/>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461264">
                <a:tc>
                  <a:txBody>
                    <a:bodyPr/>
                    <a:lstStyle/>
                    <a:p>
                      <a:pPr>
                        <a:defRPr sz="950" b="1">
                          <a:solidFill>
                            <a:srgbClr val="0F172A"/>
                          </a:solidFill>
                          <a:latin typeface="Segoe UI"/>
                        </a:defRPr>
                      </a:pPr>
                      <a:r>
                        <a:t>Nhóm Lệnh</a:t>
                      </a:r>
                    </a:p>
                  </a:txBody>
                  <a:tcPr>
                    <a:solidFill>
                      <a:srgbClr val="F1F5F9"/>
                    </a:solidFill>
                  </a:tcPr>
                </a:tc>
                <a:tc>
                  <a:txBody>
                    <a:bodyPr/>
                    <a:lstStyle/>
                    <a:p>
                      <a:pPr>
                        <a:defRPr sz="950" b="1">
                          <a:solidFill>
                            <a:srgbClr val="0F172A"/>
                          </a:solidFill>
                          <a:latin typeface="Segoe UI"/>
                        </a:defRPr>
                      </a:pPr>
                      <a:r>
                        <a:t>Lệnh Đã Hiện Thực</a:t>
                      </a:r>
                    </a:p>
                  </a:txBody>
                  <a:tcPr>
                    <a:solidFill>
                      <a:srgbClr val="F1F5F9"/>
                    </a:solidFill>
                  </a:tcPr>
                </a:tc>
                <a:tc>
                  <a:txBody>
                    <a:bodyPr/>
                    <a:lstStyle/>
                    <a:p>
                      <a:pPr>
                        <a:defRPr sz="950" b="1">
                          <a:solidFill>
                            <a:srgbClr val="0F172A"/>
                          </a:solidFill>
                          <a:latin typeface="Segoe UI"/>
                        </a:defRPr>
                      </a:pPr>
                      <a:r>
                        <a:t>Ghi Chú Kỹ Thuật</a:t>
                      </a:r>
                    </a:p>
                  </a:txBody>
                  <a:tcPr>
                    <a:solidFill>
                      <a:srgbClr val="F1F5F9"/>
                    </a:solidFill>
                  </a:tcPr>
                </a:tc>
                <a:extLst>
                  <a:ext uri="{0D108BD9-81ED-4DB2-BD59-A6C34878D82A}">
                    <a16:rowId xmlns:a16="http://schemas.microsoft.com/office/drawing/2014/main" val="10000"/>
                  </a:ext>
                </a:extLst>
              </a:tr>
              <a:tr h="461264">
                <a:tc>
                  <a:txBody>
                    <a:bodyPr/>
                    <a:lstStyle/>
                    <a:p>
                      <a:pPr>
                        <a:defRPr sz="900" b="1">
                          <a:solidFill>
                            <a:srgbClr val="0F172A"/>
                          </a:solidFill>
                          <a:latin typeface="Segoe UI"/>
                        </a:defRPr>
                      </a:pPr>
                      <a:r>
                        <a:t>Số học &amp; Logic</a:t>
                      </a:r>
                    </a:p>
                  </a:txBody>
                  <a:tcPr>
                    <a:solidFill>
                      <a:srgbClr val="FFFFFF"/>
                    </a:solidFill>
                  </a:tcPr>
                </a:tc>
                <a:tc>
                  <a:txBody>
                    <a:bodyPr/>
                    <a:lstStyle/>
                    <a:p>
                      <a:pPr>
                        <a:defRPr sz="900">
                          <a:solidFill>
                            <a:srgbClr val="334155"/>
                          </a:solidFill>
                          <a:latin typeface="Segoe UI"/>
                        </a:defRPr>
                      </a:pPr>
                      <a:r>
                        <a:t>ADD, SUB, SLL, SLT, SLTU, XOR, SRL, SRA, OR, AND</a:t>
                      </a:r>
                    </a:p>
                  </a:txBody>
                  <a:tcPr>
                    <a:solidFill>
                      <a:srgbClr val="FFFFFF"/>
                    </a:solidFill>
                  </a:tcPr>
                </a:tc>
                <a:tc>
                  <a:txBody>
                    <a:bodyPr/>
                    <a:lstStyle/>
                    <a:p>
                      <a:pPr>
                        <a:defRPr sz="900">
                          <a:solidFill>
                            <a:srgbClr val="334155"/>
                          </a:solidFill>
                          <a:latin typeface="Segoe UI"/>
                        </a:defRPr>
                      </a:pPr>
                      <a:r>
                        <a:t>Đầy đủ cả R-type và I-type</a:t>
                      </a:r>
                    </a:p>
                  </a:txBody>
                  <a:tcPr>
                    <a:solidFill>
                      <a:srgbClr val="FFFFFF"/>
                    </a:solidFill>
                  </a:tcPr>
                </a:tc>
                <a:extLst>
                  <a:ext uri="{0D108BD9-81ED-4DB2-BD59-A6C34878D82A}">
                    <a16:rowId xmlns:a16="http://schemas.microsoft.com/office/drawing/2014/main" val="10001"/>
                  </a:ext>
                </a:extLst>
              </a:tr>
              <a:tr h="461264">
                <a:tc>
                  <a:txBody>
                    <a:bodyPr/>
                    <a:lstStyle/>
                    <a:p>
                      <a:pPr>
                        <a:defRPr sz="900" b="1">
                          <a:solidFill>
                            <a:srgbClr val="0F172A"/>
                          </a:solidFill>
                          <a:latin typeface="Segoe UI"/>
                        </a:defRPr>
                      </a:pPr>
                      <a:r>
                        <a:t>Nạp hằng số</a:t>
                      </a:r>
                    </a:p>
                  </a:txBody>
                  <a:tcPr>
                    <a:solidFill>
                      <a:srgbClr val="F8FAFC"/>
                    </a:solidFill>
                  </a:tcPr>
                </a:tc>
                <a:tc>
                  <a:txBody>
                    <a:bodyPr/>
                    <a:lstStyle/>
                    <a:p>
                      <a:pPr>
                        <a:defRPr sz="900">
                          <a:solidFill>
                            <a:srgbClr val="334155"/>
                          </a:solidFill>
                          <a:latin typeface="Segoe UI"/>
                        </a:defRPr>
                      </a:pPr>
                      <a:r>
                        <a:t>LUI, AUIPC</a:t>
                      </a:r>
                    </a:p>
                  </a:txBody>
                  <a:tcPr>
                    <a:solidFill>
                      <a:srgbClr val="F8FAFC"/>
                    </a:solidFill>
                  </a:tcPr>
                </a:tc>
                <a:tc>
                  <a:txBody>
                    <a:bodyPr/>
                    <a:lstStyle/>
                    <a:p>
                      <a:pPr>
                        <a:defRPr sz="900">
                          <a:solidFill>
                            <a:srgbClr val="334155"/>
                          </a:solidFill>
                          <a:latin typeface="Segoe UI"/>
                        </a:defRPr>
                      </a:pPr>
                      <a:r>
                        <a:t>Tái sử dụng đường ALU</a:t>
                      </a:r>
                    </a:p>
                  </a:txBody>
                  <a:tcPr>
                    <a:solidFill>
                      <a:srgbClr val="F8FAFC"/>
                    </a:solidFill>
                  </a:tcPr>
                </a:tc>
                <a:extLst>
                  <a:ext uri="{0D108BD9-81ED-4DB2-BD59-A6C34878D82A}">
                    <a16:rowId xmlns:a16="http://schemas.microsoft.com/office/drawing/2014/main" val="10002"/>
                  </a:ext>
                </a:extLst>
              </a:tr>
              <a:tr h="461264">
                <a:tc>
                  <a:txBody>
                    <a:bodyPr/>
                    <a:lstStyle/>
                    <a:p>
                      <a:pPr>
                        <a:defRPr sz="900" b="1">
                          <a:solidFill>
                            <a:srgbClr val="0F172A"/>
                          </a:solidFill>
                          <a:latin typeface="Segoe UI"/>
                        </a:defRPr>
                      </a:pPr>
                      <a:r>
                        <a:t>Nhảy vô điều kiện</a:t>
                      </a:r>
                    </a:p>
                  </a:txBody>
                  <a:tcPr>
                    <a:solidFill>
                      <a:srgbClr val="FFFFFF"/>
                    </a:solidFill>
                  </a:tcPr>
                </a:tc>
                <a:tc>
                  <a:txBody>
                    <a:bodyPr/>
                    <a:lstStyle/>
                    <a:p>
                      <a:pPr>
                        <a:defRPr sz="900">
                          <a:solidFill>
                            <a:srgbClr val="334155"/>
                          </a:solidFill>
                          <a:latin typeface="Segoe UI"/>
                        </a:defRPr>
                      </a:pPr>
                      <a:r>
                        <a:t>JAL, JALR</a:t>
                      </a:r>
                    </a:p>
                  </a:txBody>
                  <a:tcPr>
                    <a:solidFill>
                      <a:srgbClr val="FFFFFF"/>
                    </a:solidFill>
                  </a:tcPr>
                </a:tc>
                <a:tc>
                  <a:txBody>
                    <a:bodyPr/>
                    <a:lstStyle/>
                    <a:p>
                      <a:pPr>
                        <a:defRPr sz="900">
                          <a:solidFill>
                            <a:srgbClr val="334155"/>
                          </a:solidFill>
                          <a:latin typeface="Segoe UI"/>
                        </a:defRPr>
                      </a:pPr>
                      <a:r>
                        <a:t>JALR tự động bỏ bit 0 của địa chỉ đích</a:t>
                      </a:r>
                    </a:p>
                  </a:txBody>
                  <a:tcPr>
                    <a:solidFill>
                      <a:srgbClr val="FFFFFF"/>
                    </a:solidFill>
                  </a:tcPr>
                </a:tc>
                <a:extLst>
                  <a:ext uri="{0D108BD9-81ED-4DB2-BD59-A6C34878D82A}">
                    <a16:rowId xmlns:a16="http://schemas.microsoft.com/office/drawing/2014/main" val="10003"/>
                  </a:ext>
                </a:extLst>
              </a:tr>
              <a:tr h="461264">
                <a:tc>
                  <a:txBody>
                    <a:bodyPr/>
                    <a:lstStyle/>
                    <a:p>
                      <a:pPr>
                        <a:defRPr sz="900" b="1">
                          <a:solidFill>
                            <a:srgbClr val="0F172A"/>
                          </a:solidFill>
                          <a:latin typeface="Segoe UI"/>
                        </a:defRPr>
                      </a:pPr>
                      <a:r>
                        <a:t>Rẽ nhánh (Branch)</a:t>
                      </a:r>
                    </a:p>
                  </a:txBody>
                  <a:tcPr>
                    <a:solidFill>
                      <a:srgbClr val="F8FAFC"/>
                    </a:solidFill>
                  </a:tcPr>
                </a:tc>
                <a:tc>
                  <a:txBody>
                    <a:bodyPr/>
                    <a:lstStyle/>
                    <a:p>
                      <a:pPr>
                        <a:defRPr sz="900">
                          <a:solidFill>
                            <a:srgbClr val="334155"/>
                          </a:solidFill>
                          <a:latin typeface="Segoe UI"/>
                        </a:defRPr>
                      </a:pPr>
                      <a:r>
                        <a:t>BEQ, BNE, BLT, BGE, BLTU, BGEU</a:t>
                      </a:r>
                    </a:p>
                  </a:txBody>
                  <a:tcPr>
                    <a:solidFill>
                      <a:srgbClr val="F8FAFC"/>
                    </a:solidFill>
                  </a:tcPr>
                </a:tc>
                <a:tc>
                  <a:txBody>
                    <a:bodyPr/>
                    <a:lstStyle/>
                    <a:p>
                      <a:pPr>
                        <a:defRPr sz="900">
                          <a:solidFill>
                            <a:srgbClr val="334155"/>
                          </a:solidFill>
                          <a:latin typeface="Segoe UI"/>
                        </a:defRPr>
                      </a:pPr>
                      <a:r>
                        <a:t>Giải quyết ở EX; flush lệnh sai nhánh</a:t>
                      </a:r>
                    </a:p>
                  </a:txBody>
                  <a:tcPr>
                    <a:solidFill>
                      <a:srgbClr val="F8FAFC"/>
                    </a:solidFill>
                  </a:tcPr>
                </a:tc>
                <a:extLst>
                  <a:ext uri="{0D108BD9-81ED-4DB2-BD59-A6C34878D82A}">
                    <a16:rowId xmlns:a16="http://schemas.microsoft.com/office/drawing/2014/main" val="10004"/>
                  </a:ext>
                </a:extLst>
              </a:tr>
              <a:tr h="461264">
                <a:tc>
                  <a:txBody>
                    <a:bodyPr/>
                    <a:lstStyle/>
                    <a:p>
                      <a:pPr>
                        <a:defRPr sz="900" b="1">
                          <a:solidFill>
                            <a:srgbClr val="0F172A"/>
                          </a:solidFill>
                          <a:latin typeface="Segoe UI"/>
                        </a:defRPr>
                      </a:pPr>
                      <a:r>
                        <a:t>Load và Store</a:t>
                      </a:r>
                    </a:p>
                  </a:txBody>
                  <a:tcPr>
                    <a:solidFill>
                      <a:srgbClr val="FFFFFF"/>
                    </a:solidFill>
                  </a:tcPr>
                </a:tc>
                <a:tc>
                  <a:txBody>
                    <a:bodyPr/>
                    <a:lstStyle/>
                    <a:p>
                      <a:pPr>
                        <a:defRPr sz="900">
                          <a:solidFill>
                            <a:srgbClr val="334155"/>
                          </a:solidFill>
                          <a:latin typeface="Segoe UI"/>
                        </a:defRPr>
                      </a:pPr>
                      <a:r>
                        <a:t>LB, LH, LW, LBU, LHU, SB, SH, SW</a:t>
                      </a:r>
                    </a:p>
                  </a:txBody>
                  <a:tcPr>
                    <a:solidFill>
                      <a:srgbClr val="FFFFFF"/>
                    </a:solidFill>
                  </a:tcPr>
                </a:tc>
                <a:tc>
                  <a:txBody>
                    <a:bodyPr/>
                    <a:lstStyle/>
                    <a:p>
                      <a:pPr>
                        <a:defRPr sz="900">
                          <a:solidFill>
                            <a:srgbClr val="334155"/>
                          </a:solidFill>
                          <a:latin typeface="Segoe UI"/>
                        </a:defRPr>
                      </a:pPr>
                      <a:r>
                        <a:t>Địa chỉ lệch tự động báo Trap</a:t>
                      </a:r>
                    </a:p>
                  </a:txBody>
                  <a:tcPr>
                    <a:solidFill>
                      <a:srgbClr val="FFFFFF"/>
                    </a:solidFill>
                  </a:tcPr>
                </a:tc>
                <a:extLst>
                  <a:ext uri="{0D108BD9-81ED-4DB2-BD59-A6C34878D82A}">
                    <a16:rowId xmlns:a16="http://schemas.microsoft.com/office/drawing/2014/main" val="10005"/>
                  </a:ext>
                </a:extLst>
              </a:tr>
              <a:tr h="461264">
                <a:tc>
                  <a:txBody>
                    <a:bodyPr/>
                    <a:lstStyle/>
                    <a:p>
                      <a:pPr>
                        <a:defRPr sz="900" b="1">
                          <a:solidFill>
                            <a:srgbClr val="0F172A"/>
                          </a:solidFill>
                          <a:latin typeface="Segoe UI"/>
                        </a:defRPr>
                      </a:pPr>
                      <a:r>
                        <a:t>CSR (Zicsr)</a:t>
                      </a:r>
                    </a:p>
                  </a:txBody>
                  <a:tcPr>
                    <a:solidFill>
                      <a:srgbClr val="F8FAFC"/>
                    </a:solidFill>
                  </a:tcPr>
                </a:tc>
                <a:tc>
                  <a:txBody>
                    <a:bodyPr/>
                    <a:lstStyle/>
                    <a:p>
                      <a:pPr>
                        <a:defRPr sz="900">
                          <a:solidFill>
                            <a:srgbClr val="334155"/>
                          </a:solidFill>
                          <a:latin typeface="Segoe UI"/>
                        </a:defRPr>
                      </a:pPr>
                      <a:r>
                        <a:t>CSRRW, CSRRS, CSRRC + 3 bản Immediate</a:t>
                      </a:r>
                    </a:p>
                  </a:txBody>
                  <a:tcPr>
                    <a:solidFill>
                      <a:srgbClr val="F8FAFC"/>
                    </a:solidFill>
                  </a:tcPr>
                </a:tc>
                <a:tc>
                  <a:txBody>
                    <a:bodyPr/>
                    <a:lstStyle/>
                    <a:p>
                      <a:pPr>
                        <a:defRPr sz="900">
                          <a:solidFill>
                            <a:srgbClr val="334155"/>
                          </a:solidFill>
                          <a:latin typeface="Segoe UI"/>
                        </a:defRPr>
                      </a:pPr>
                      <a:r>
                        <a:t>rs1=x0 thì không sinh chu kỳ ghi CSR</a:t>
                      </a:r>
                    </a:p>
                  </a:txBody>
                  <a:tcPr>
                    <a:solidFill>
                      <a:srgbClr val="F8FAFC"/>
                    </a:solidFill>
                  </a:tcPr>
                </a:tc>
                <a:extLst>
                  <a:ext uri="{0D108BD9-81ED-4DB2-BD59-A6C34878D82A}">
                    <a16:rowId xmlns:a16="http://schemas.microsoft.com/office/drawing/2014/main" val="10006"/>
                  </a:ext>
                </a:extLst>
              </a:tr>
              <a:tr h="461264">
                <a:tc>
                  <a:txBody>
                    <a:bodyPr/>
                    <a:lstStyle/>
                    <a:p>
                      <a:pPr>
                        <a:defRPr sz="900" b="1">
                          <a:solidFill>
                            <a:srgbClr val="0F172A"/>
                          </a:solidFill>
                          <a:latin typeface="Segoe UI"/>
                        </a:defRPr>
                      </a:pPr>
                      <a:r>
                        <a:t>Đặc quyền</a:t>
                      </a:r>
                    </a:p>
                  </a:txBody>
                  <a:tcPr>
                    <a:solidFill>
                      <a:srgbClr val="FFFFFF"/>
                    </a:solidFill>
                  </a:tcPr>
                </a:tc>
                <a:tc>
                  <a:txBody>
                    <a:bodyPr/>
                    <a:lstStyle/>
                    <a:p>
                      <a:pPr>
                        <a:defRPr sz="900">
                          <a:solidFill>
                            <a:srgbClr val="334155"/>
                          </a:solidFill>
                          <a:latin typeface="Segoe UI"/>
                        </a:defRPr>
                      </a:pPr>
                      <a:r>
                        <a:t>ECALL, EBREAK, MRET</a:t>
                      </a:r>
                    </a:p>
                  </a:txBody>
                  <a:tcPr>
                    <a:solidFill>
                      <a:srgbClr val="FFFFFF"/>
                    </a:solidFill>
                  </a:tcPr>
                </a:tc>
                <a:tc>
                  <a:txBody>
                    <a:bodyPr/>
                    <a:lstStyle/>
                    <a:p>
                      <a:pPr>
                        <a:defRPr sz="900">
                          <a:solidFill>
                            <a:srgbClr val="334155"/>
                          </a:solidFill>
                          <a:latin typeface="Segoe UI"/>
                        </a:defRPr>
                      </a:pPr>
                      <a:r>
                        <a:t>Kiểm tra chặt chẽ các bit bắt buộc = 0</a:t>
                      </a:r>
                    </a:p>
                  </a:txBody>
                  <a:tcPr>
                    <a:solidFill>
                      <a:srgbClr val="FFFFFF"/>
                    </a:solidFill>
                  </a:tcPr>
                </a:tc>
                <a:extLst>
                  <a:ext uri="{0D108BD9-81ED-4DB2-BD59-A6C34878D82A}">
                    <a16:rowId xmlns:a16="http://schemas.microsoft.com/office/drawing/2014/main" val="10007"/>
                  </a:ext>
                </a:extLst>
              </a:tr>
              <a:tr h="461264">
                <a:tc>
                  <a:txBody>
                    <a:bodyPr/>
                    <a:lstStyle/>
                    <a:p>
                      <a:pPr>
                        <a:defRPr sz="900" b="1">
                          <a:solidFill>
                            <a:srgbClr val="0F172A"/>
                          </a:solidFill>
                          <a:latin typeface="Segoe UI"/>
                        </a:defRPr>
                      </a:pPr>
                      <a:r>
                        <a:t>Đồng bộ</a:t>
                      </a:r>
                    </a:p>
                  </a:txBody>
                  <a:tcPr>
                    <a:solidFill>
                      <a:srgbClr val="F8FAFC"/>
                    </a:solidFill>
                  </a:tcPr>
                </a:tc>
                <a:tc>
                  <a:txBody>
                    <a:bodyPr/>
                    <a:lstStyle/>
                    <a:p>
                      <a:pPr>
                        <a:defRPr sz="900">
                          <a:solidFill>
                            <a:srgbClr val="334155"/>
                          </a:solidFill>
                          <a:latin typeface="Segoe UI"/>
                        </a:defRPr>
                      </a:pPr>
                      <a:r>
                        <a:t>FENCE (= NOP)</a:t>
                      </a:r>
                    </a:p>
                  </a:txBody>
                  <a:tcPr>
                    <a:solidFill>
                      <a:srgbClr val="F8FAFC"/>
                    </a:solidFill>
                  </a:tcPr>
                </a:tc>
                <a:tc>
                  <a:txBody>
                    <a:bodyPr/>
                    <a:lstStyle/>
                    <a:p>
                      <a:pPr>
                        <a:defRPr sz="900">
                          <a:solidFill>
                            <a:srgbClr val="334155"/>
                          </a:solidFill>
                          <a:latin typeface="Segoe UI"/>
                        </a:defRPr>
                      </a:pPr>
                      <a:r>
                        <a:t>FENCE.I không hỗ trợ vì kiến trúc Harvard tách biệt</a:t>
                      </a:r>
                    </a:p>
                  </a:txBody>
                  <a:tcPr>
                    <a:solidFill>
                      <a:srgbClr val="F8FAFC"/>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2. KIẾN TRÚC CORE RV32I</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2.8 Tập Thanh Ghi CSR Machine Mode</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15/28</a:t>
            </a:r>
          </a:p>
        </p:txBody>
      </p:sp>
      <p:sp>
        <p:nvSpPr>
          <p:cNvPr id="6" name="TextBox 5"/>
          <p:cNvSpPr txBox="1"/>
          <p:nvPr/>
        </p:nvSpPr>
        <p:spPr>
          <a:xfrm>
            <a:off x="731520" y="1737360"/>
            <a:ext cx="10698480" cy="219456"/>
          </a:xfrm>
          <a:prstGeom prst="rect">
            <a:avLst/>
          </a:prstGeom>
          <a:noFill/>
        </p:spPr>
        <p:txBody>
          <a:bodyPr wrap="square" lIns="0" tIns="0" rIns="0" bIns="0">
            <a:spAutoFit/>
          </a:bodyPr>
          <a:lstStyle/>
          <a:p>
            <a:pPr>
              <a:defRPr sz="900" b="1">
                <a:solidFill>
                  <a:srgbClr val="C2410C"/>
                </a:solidFill>
                <a:latin typeface="Segoe UI"/>
              </a:defRPr>
            </a:pPr>
            <a:r>
              <a:t>CÁC CSR MACHINE MODE ĐÃ HIỆN THỰC.</a:t>
            </a:r>
          </a:p>
        </p:txBody>
      </p:sp>
      <p:graphicFrame>
        <p:nvGraphicFramePr>
          <p:cNvPr id="7" name="Table 6"/>
          <p:cNvGraphicFramePr>
            <a:graphicFrameLocks noGrp="1"/>
          </p:cNvGraphicFramePr>
          <p:nvPr/>
        </p:nvGraphicFramePr>
        <p:xfrm>
          <a:off x="731520" y="1975104"/>
          <a:ext cx="10698480" cy="4151376"/>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7772400">
                  <a:extLst>
                    <a:ext uri="{9D8B030D-6E8A-4147-A177-3AD203B41FA5}">
                      <a16:colId xmlns:a16="http://schemas.microsoft.com/office/drawing/2014/main" val="20002"/>
                    </a:ext>
                  </a:extLst>
                </a:gridCol>
              </a:tblGrid>
              <a:tr h="461264">
                <a:tc>
                  <a:txBody>
                    <a:bodyPr/>
                    <a:lstStyle/>
                    <a:p>
                      <a:pPr>
                        <a:defRPr sz="950" b="1">
                          <a:solidFill>
                            <a:srgbClr val="0F172A"/>
                          </a:solidFill>
                          <a:latin typeface="Segoe UI"/>
                        </a:defRPr>
                      </a:pPr>
                      <a:r>
                        <a:t>Thanh Ghi CSR</a:t>
                      </a:r>
                    </a:p>
                  </a:txBody>
                  <a:tcPr>
                    <a:solidFill>
                      <a:srgbClr val="F1F5F9"/>
                    </a:solidFill>
                  </a:tcPr>
                </a:tc>
                <a:tc>
                  <a:txBody>
                    <a:bodyPr/>
                    <a:lstStyle/>
                    <a:p>
                      <a:pPr>
                        <a:defRPr sz="950" b="1">
                          <a:solidFill>
                            <a:srgbClr val="0F172A"/>
                          </a:solidFill>
                          <a:latin typeface="Segoe UI"/>
                        </a:defRPr>
                      </a:pPr>
                      <a:r>
                        <a:t>Địa Chỉ</a:t>
                      </a:r>
                    </a:p>
                  </a:txBody>
                  <a:tcPr>
                    <a:solidFill>
                      <a:srgbClr val="F1F5F9"/>
                    </a:solidFill>
                  </a:tcPr>
                </a:tc>
                <a:tc>
                  <a:txBody>
                    <a:bodyPr/>
                    <a:lstStyle/>
                    <a:p>
                      <a:pPr>
                        <a:defRPr sz="950" b="1">
                          <a:solidFill>
                            <a:srgbClr val="0F172A"/>
                          </a:solidFill>
                          <a:latin typeface="Segoe UI"/>
                        </a:defRPr>
                      </a:pPr>
                      <a:r>
                        <a:t>Vai Trò &amp; Chức Năng Trong RTL</a:t>
                      </a:r>
                    </a:p>
                  </a:txBody>
                  <a:tcPr>
                    <a:solidFill>
                      <a:srgbClr val="F1F5F9"/>
                    </a:solidFill>
                  </a:tcPr>
                </a:tc>
                <a:extLst>
                  <a:ext uri="{0D108BD9-81ED-4DB2-BD59-A6C34878D82A}">
                    <a16:rowId xmlns:a16="http://schemas.microsoft.com/office/drawing/2014/main" val="10000"/>
                  </a:ext>
                </a:extLst>
              </a:tr>
              <a:tr h="461264">
                <a:tc>
                  <a:txBody>
                    <a:bodyPr/>
                    <a:lstStyle/>
                    <a:p>
                      <a:pPr>
                        <a:defRPr sz="900" b="1">
                          <a:solidFill>
                            <a:srgbClr val="0F172A"/>
                          </a:solidFill>
                          <a:latin typeface="Segoe UI"/>
                        </a:defRPr>
                      </a:pPr>
                      <a:r>
                        <a:t>mstatus</a:t>
                      </a:r>
                    </a:p>
                  </a:txBody>
                  <a:tcPr>
                    <a:solidFill>
                      <a:srgbClr val="FFFFFF"/>
                    </a:solidFill>
                  </a:tcPr>
                </a:tc>
                <a:tc>
                  <a:txBody>
                    <a:bodyPr/>
                    <a:lstStyle/>
                    <a:p>
                      <a:pPr>
                        <a:defRPr sz="900">
                          <a:solidFill>
                            <a:srgbClr val="334155"/>
                          </a:solidFill>
                          <a:latin typeface="Segoe UI"/>
                        </a:defRPr>
                      </a:pPr>
                      <a:r>
                        <a:t>0x300</a:t>
                      </a:r>
                    </a:p>
                  </a:txBody>
                  <a:tcPr>
                    <a:solidFill>
                      <a:srgbClr val="FFFFFF"/>
                    </a:solidFill>
                  </a:tcPr>
                </a:tc>
                <a:tc>
                  <a:txBody>
                    <a:bodyPr/>
                    <a:lstStyle/>
                    <a:p>
                      <a:pPr>
                        <a:defRPr sz="900">
                          <a:solidFill>
                            <a:srgbClr val="334155"/>
                          </a:solidFill>
                          <a:latin typeface="Segoe UI"/>
                        </a:defRPr>
                      </a:pPr>
                      <a:r>
                        <a:t>Bật/tắt interrupt toàn cục (MIE), lưu trạng thái MPIE khi vào trap</a:t>
                      </a:r>
                    </a:p>
                  </a:txBody>
                  <a:tcPr>
                    <a:solidFill>
                      <a:srgbClr val="FFFFFF"/>
                    </a:solidFill>
                  </a:tcPr>
                </a:tc>
                <a:extLst>
                  <a:ext uri="{0D108BD9-81ED-4DB2-BD59-A6C34878D82A}">
                    <a16:rowId xmlns:a16="http://schemas.microsoft.com/office/drawing/2014/main" val="10001"/>
                  </a:ext>
                </a:extLst>
              </a:tr>
              <a:tr h="461264">
                <a:tc>
                  <a:txBody>
                    <a:bodyPr/>
                    <a:lstStyle/>
                    <a:p>
                      <a:pPr>
                        <a:defRPr sz="900" b="1">
                          <a:solidFill>
                            <a:srgbClr val="0F172A"/>
                          </a:solidFill>
                          <a:latin typeface="Segoe UI"/>
                        </a:defRPr>
                      </a:pPr>
                      <a:r>
                        <a:t>mie / mip</a:t>
                      </a:r>
                    </a:p>
                  </a:txBody>
                  <a:tcPr>
                    <a:solidFill>
                      <a:srgbClr val="F8FAFC"/>
                    </a:solidFill>
                  </a:tcPr>
                </a:tc>
                <a:tc>
                  <a:txBody>
                    <a:bodyPr/>
                    <a:lstStyle/>
                    <a:p>
                      <a:pPr>
                        <a:defRPr sz="900">
                          <a:solidFill>
                            <a:srgbClr val="334155"/>
                          </a:solidFill>
                          <a:latin typeface="Segoe UI"/>
                        </a:defRPr>
                      </a:pPr>
                      <a:r>
                        <a:t>0x304 / 0x344</a:t>
                      </a:r>
                    </a:p>
                  </a:txBody>
                  <a:tcPr>
                    <a:solidFill>
                      <a:srgbClr val="F8FAFC"/>
                    </a:solidFill>
                  </a:tcPr>
                </a:tc>
                <a:tc>
                  <a:txBody>
                    <a:bodyPr/>
                    <a:lstStyle/>
                    <a:p>
                      <a:pPr>
                        <a:defRPr sz="900">
                          <a:solidFill>
                            <a:srgbClr val="334155"/>
                          </a:solidFill>
                          <a:latin typeface="Segoe UI"/>
                        </a:defRPr>
                      </a:pPr>
                      <a:r>
                        <a:t>Cho phép và báo interrupt đang chờ (hỗ trợ MEIE, MEIP ngắt ngoài)</a:t>
                      </a:r>
                    </a:p>
                  </a:txBody>
                  <a:tcPr>
                    <a:solidFill>
                      <a:srgbClr val="F8FAFC"/>
                    </a:solidFill>
                  </a:tcPr>
                </a:tc>
                <a:extLst>
                  <a:ext uri="{0D108BD9-81ED-4DB2-BD59-A6C34878D82A}">
                    <a16:rowId xmlns:a16="http://schemas.microsoft.com/office/drawing/2014/main" val="10002"/>
                  </a:ext>
                </a:extLst>
              </a:tr>
              <a:tr h="461264">
                <a:tc>
                  <a:txBody>
                    <a:bodyPr/>
                    <a:lstStyle/>
                    <a:p>
                      <a:pPr>
                        <a:defRPr sz="900" b="1">
                          <a:solidFill>
                            <a:srgbClr val="0F172A"/>
                          </a:solidFill>
                          <a:latin typeface="Segoe UI"/>
                        </a:defRPr>
                      </a:pPr>
                      <a:r>
                        <a:t>misa</a:t>
                      </a:r>
                    </a:p>
                  </a:txBody>
                  <a:tcPr>
                    <a:solidFill>
                      <a:srgbClr val="FFFFFF"/>
                    </a:solidFill>
                  </a:tcPr>
                </a:tc>
                <a:tc>
                  <a:txBody>
                    <a:bodyPr/>
                    <a:lstStyle/>
                    <a:p>
                      <a:pPr>
                        <a:defRPr sz="900">
                          <a:solidFill>
                            <a:srgbClr val="334155"/>
                          </a:solidFill>
                          <a:latin typeface="Segoe UI"/>
                        </a:defRPr>
                      </a:pPr>
                      <a:r>
                        <a:t>0x301</a:t>
                      </a:r>
                    </a:p>
                  </a:txBody>
                  <a:tcPr>
                    <a:solidFill>
                      <a:srgbClr val="FFFFFF"/>
                    </a:solidFill>
                  </a:tcPr>
                </a:tc>
                <a:tc>
                  <a:txBody>
                    <a:bodyPr/>
                    <a:lstStyle/>
                    <a:p>
                      <a:pPr>
                        <a:defRPr sz="900">
                          <a:solidFill>
                            <a:srgbClr val="334155"/>
                          </a:solidFill>
                          <a:latin typeface="Segoe UI"/>
                        </a:defRPr>
                      </a:pPr>
                      <a:r>
                        <a:t>Báo tập lệnh RV32I cho phần mềm nhận diện</a:t>
                      </a:r>
                    </a:p>
                  </a:txBody>
                  <a:tcPr>
                    <a:solidFill>
                      <a:srgbClr val="FFFFFF"/>
                    </a:solidFill>
                  </a:tcPr>
                </a:tc>
                <a:extLst>
                  <a:ext uri="{0D108BD9-81ED-4DB2-BD59-A6C34878D82A}">
                    <a16:rowId xmlns:a16="http://schemas.microsoft.com/office/drawing/2014/main" val="10003"/>
                  </a:ext>
                </a:extLst>
              </a:tr>
              <a:tr h="461264">
                <a:tc>
                  <a:txBody>
                    <a:bodyPr/>
                    <a:lstStyle/>
                    <a:p>
                      <a:pPr>
                        <a:defRPr sz="900" b="1">
                          <a:solidFill>
                            <a:srgbClr val="0F172A"/>
                          </a:solidFill>
                          <a:latin typeface="Segoe UI"/>
                        </a:defRPr>
                      </a:pPr>
                      <a:r>
                        <a:t>mtvec</a:t>
                      </a:r>
                    </a:p>
                  </a:txBody>
                  <a:tcPr>
                    <a:solidFill>
                      <a:srgbClr val="F8FAFC"/>
                    </a:solidFill>
                  </a:tcPr>
                </a:tc>
                <a:tc>
                  <a:txBody>
                    <a:bodyPr/>
                    <a:lstStyle/>
                    <a:p>
                      <a:pPr>
                        <a:defRPr sz="900">
                          <a:solidFill>
                            <a:srgbClr val="334155"/>
                          </a:solidFill>
                          <a:latin typeface="Segoe UI"/>
                        </a:defRPr>
                      </a:pPr>
                      <a:r>
                        <a:t>0x305</a:t>
                      </a:r>
                    </a:p>
                  </a:txBody>
                  <a:tcPr>
                    <a:solidFill>
                      <a:srgbClr val="F8FAFC"/>
                    </a:solidFill>
                  </a:tcPr>
                </a:tc>
                <a:tc>
                  <a:txBody>
                    <a:bodyPr/>
                    <a:lstStyle/>
                    <a:p>
                      <a:pPr>
                        <a:defRPr sz="900">
                          <a:solidFill>
                            <a:srgbClr val="334155"/>
                          </a:solidFill>
                          <a:latin typeface="Segoe UI"/>
                        </a:defRPr>
                      </a:pPr>
                      <a:r>
                        <a:t>Địa chỉ trap handler; hỗ trợ Direct Mode và Vectored Mode</a:t>
                      </a:r>
                    </a:p>
                  </a:txBody>
                  <a:tcPr>
                    <a:solidFill>
                      <a:srgbClr val="F8FAFC"/>
                    </a:solidFill>
                  </a:tcPr>
                </a:tc>
                <a:extLst>
                  <a:ext uri="{0D108BD9-81ED-4DB2-BD59-A6C34878D82A}">
                    <a16:rowId xmlns:a16="http://schemas.microsoft.com/office/drawing/2014/main" val="10004"/>
                  </a:ext>
                </a:extLst>
              </a:tr>
              <a:tr h="461264">
                <a:tc>
                  <a:txBody>
                    <a:bodyPr/>
                    <a:lstStyle/>
                    <a:p>
                      <a:pPr>
                        <a:defRPr sz="900" b="1">
                          <a:solidFill>
                            <a:srgbClr val="0F172A"/>
                          </a:solidFill>
                          <a:latin typeface="Segoe UI"/>
                        </a:defRPr>
                      </a:pPr>
                      <a:r>
                        <a:t>mepc</a:t>
                      </a:r>
                    </a:p>
                  </a:txBody>
                  <a:tcPr>
                    <a:solidFill>
                      <a:srgbClr val="FFFFFF"/>
                    </a:solidFill>
                  </a:tcPr>
                </a:tc>
                <a:tc>
                  <a:txBody>
                    <a:bodyPr/>
                    <a:lstStyle/>
                    <a:p>
                      <a:pPr>
                        <a:defRPr sz="900">
                          <a:solidFill>
                            <a:srgbClr val="334155"/>
                          </a:solidFill>
                          <a:latin typeface="Segoe UI"/>
                        </a:defRPr>
                      </a:pPr>
                      <a:r>
                        <a:t>0x341</a:t>
                      </a:r>
                    </a:p>
                  </a:txBody>
                  <a:tcPr>
                    <a:solidFill>
                      <a:srgbClr val="FFFFFF"/>
                    </a:solidFill>
                  </a:tcPr>
                </a:tc>
                <a:tc>
                  <a:txBody>
                    <a:bodyPr/>
                    <a:lstStyle/>
                    <a:p>
                      <a:pPr>
                        <a:defRPr sz="900">
                          <a:solidFill>
                            <a:srgbClr val="334155"/>
                          </a:solidFill>
                          <a:latin typeface="Segoe UI"/>
                        </a:defRPr>
                      </a:pPr>
                      <a:r>
                        <a:t>Lưu PC của lệnh bị ngắt/lỗi để MRET quay về đúng chỗ</a:t>
                      </a:r>
                    </a:p>
                  </a:txBody>
                  <a:tcPr>
                    <a:solidFill>
                      <a:srgbClr val="FFFFFF"/>
                    </a:solidFill>
                  </a:tcPr>
                </a:tc>
                <a:extLst>
                  <a:ext uri="{0D108BD9-81ED-4DB2-BD59-A6C34878D82A}">
                    <a16:rowId xmlns:a16="http://schemas.microsoft.com/office/drawing/2014/main" val="10005"/>
                  </a:ext>
                </a:extLst>
              </a:tr>
              <a:tr h="461264">
                <a:tc>
                  <a:txBody>
                    <a:bodyPr/>
                    <a:lstStyle/>
                    <a:p>
                      <a:pPr>
                        <a:defRPr sz="900" b="1">
                          <a:solidFill>
                            <a:srgbClr val="0F172A"/>
                          </a:solidFill>
                          <a:latin typeface="Segoe UI"/>
                        </a:defRPr>
                      </a:pPr>
                      <a:r>
                        <a:t>mcause / mtval</a:t>
                      </a:r>
                    </a:p>
                  </a:txBody>
                  <a:tcPr>
                    <a:solidFill>
                      <a:srgbClr val="F8FAFC"/>
                    </a:solidFill>
                  </a:tcPr>
                </a:tc>
                <a:tc>
                  <a:txBody>
                    <a:bodyPr/>
                    <a:lstStyle/>
                    <a:p>
                      <a:pPr>
                        <a:defRPr sz="900">
                          <a:solidFill>
                            <a:srgbClr val="334155"/>
                          </a:solidFill>
                          <a:latin typeface="Segoe UI"/>
                        </a:defRPr>
                      </a:pPr>
                      <a:r>
                        <a:t>0x342 / 0x343</a:t>
                      </a:r>
                    </a:p>
                  </a:txBody>
                  <a:tcPr>
                    <a:solidFill>
                      <a:srgbClr val="F8FAFC"/>
                    </a:solidFill>
                  </a:tcPr>
                </a:tc>
                <a:tc>
                  <a:txBody>
                    <a:bodyPr/>
                    <a:lstStyle/>
                    <a:p>
                      <a:pPr>
                        <a:defRPr sz="900">
                          <a:solidFill>
                            <a:srgbClr val="334155"/>
                          </a:solidFill>
                          <a:latin typeface="Segoe UI"/>
                        </a:defRPr>
                      </a:pPr>
                      <a:r>
                        <a:t>Lưu mã nguyên nhân sinh trap và thông tin kèm (địa chỉ/opcode lỗi)</a:t>
                      </a:r>
                    </a:p>
                  </a:txBody>
                  <a:tcPr>
                    <a:solidFill>
                      <a:srgbClr val="F8FAFC"/>
                    </a:solidFill>
                  </a:tcPr>
                </a:tc>
                <a:extLst>
                  <a:ext uri="{0D108BD9-81ED-4DB2-BD59-A6C34878D82A}">
                    <a16:rowId xmlns:a16="http://schemas.microsoft.com/office/drawing/2014/main" val="10006"/>
                  </a:ext>
                </a:extLst>
              </a:tr>
              <a:tr h="461264">
                <a:tc>
                  <a:txBody>
                    <a:bodyPr/>
                    <a:lstStyle/>
                    <a:p>
                      <a:pPr>
                        <a:defRPr sz="900" b="1">
                          <a:solidFill>
                            <a:srgbClr val="0F172A"/>
                          </a:solidFill>
                          <a:latin typeface="Segoe UI"/>
                        </a:defRPr>
                      </a:pPr>
                      <a:r>
                        <a:t>mscratch</a:t>
                      </a:r>
                    </a:p>
                  </a:txBody>
                  <a:tcPr>
                    <a:solidFill>
                      <a:srgbClr val="FFFFFF"/>
                    </a:solidFill>
                  </a:tcPr>
                </a:tc>
                <a:tc>
                  <a:txBody>
                    <a:bodyPr/>
                    <a:lstStyle/>
                    <a:p>
                      <a:pPr>
                        <a:defRPr sz="900">
                          <a:solidFill>
                            <a:srgbClr val="334155"/>
                          </a:solidFill>
                          <a:latin typeface="Segoe UI"/>
                        </a:defRPr>
                      </a:pPr>
                      <a:r>
                        <a:t>0x340</a:t>
                      </a:r>
                    </a:p>
                  </a:txBody>
                  <a:tcPr>
                    <a:solidFill>
                      <a:srgbClr val="FFFFFF"/>
                    </a:solidFill>
                  </a:tcPr>
                </a:tc>
                <a:tc>
                  <a:txBody>
                    <a:bodyPr/>
                    <a:lstStyle/>
                    <a:p>
                      <a:pPr>
                        <a:defRPr sz="900">
                          <a:solidFill>
                            <a:srgbClr val="334155"/>
                          </a:solidFill>
                          <a:latin typeface="Segoe UI"/>
                        </a:defRPr>
                      </a:pPr>
                      <a:r>
                        <a:t>Thanh ghi tạm dành riêng cho trap handler</a:t>
                      </a:r>
                    </a:p>
                  </a:txBody>
                  <a:tcPr>
                    <a:solidFill>
                      <a:srgbClr val="FFFFFF"/>
                    </a:solidFill>
                  </a:tcPr>
                </a:tc>
                <a:extLst>
                  <a:ext uri="{0D108BD9-81ED-4DB2-BD59-A6C34878D82A}">
                    <a16:rowId xmlns:a16="http://schemas.microsoft.com/office/drawing/2014/main" val="10007"/>
                  </a:ext>
                </a:extLst>
              </a:tr>
              <a:tr h="461264">
                <a:tc>
                  <a:txBody>
                    <a:bodyPr/>
                    <a:lstStyle/>
                    <a:p>
                      <a:pPr>
                        <a:defRPr sz="900" b="1">
                          <a:solidFill>
                            <a:srgbClr val="0F172A"/>
                          </a:solidFill>
                          <a:latin typeface="Segoe UI"/>
                        </a:defRPr>
                      </a:pPr>
                      <a:r>
                        <a:t>mcycle / minstret</a:t>
                      </a:r>
                    </a:p>
                  </a:txBody>
                  <a:tcPr>
                    <a:solidFill>
                      <a:srgbClr val="F8FAFC"/>
                    </a:solidFill>
                  </a:tcPr>
                </a:tc>
                <a:tc>
                  <a:txBody>
                    <a:bodyPr/>
                    <a:lstStyle/>
                    <a:p>
                      <a:pPr>
                        <a:defRPr sz="900">
                          <a:solidFill>
                            <a:srgbClr val="334155"/>
                          </a:solidFill>
                          <a:latin typeface="Segoe UI"/>
                        </a:defRPr>
                      </a:pPr>
                      <a:r>
                        <a:t>0xB00 / 0xB02</a:t>
                      </a:r>
                    </a:p>
                  </a:txBody>
                  <a:tcPr>
                    <a:solidFill>
                      <a:srgbClr val="F8FAFC"/>
                    </a:solidFill>
                  </a:tcPr>
                </a:tc>
                <a:tc>
                  <a:txBody>
                    <a:bodyPr/>
                    <a:lstStyle/>
                    <a:p>
                      <a:pPr>
                        <a:defRPr sz="900">
                          <a:solidFill>
                            <a:srgbClr val="334155"/>
                          </a:solidFill>
                          <a:latin typeface="Segoe UI"/>
                        </a:defRPr>
                      </a:pPr>
                      <a:r>
                        <a:t>Bộ đếm 64-bit đo chu kỳ clock và số lệnh đã commit</a:t>
                      </a:r>
                    </a:p>
                  </a:txBody>
                  <a:tcPr>
                    <a:solidFill>
                      <a:srgbClr val="F8FAFC"/>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3. LUỒNG XỬ LÝ</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3.1 Xử Lý Data Hazard &amp; Load-Use Interlock</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16/28</a:t>
            </a:r>
          </a:p>
        </p:txBody>
      </p:sp>
      <p:sp>
        <p:nvSpPr>
          <p:cNvPr id="6" name="Rounded Rectangle 5"/>
          <p:cNvSpPr/>
          <p:nvPr/>
        </p:nvSpPr>
        <p:spPr>
          <a:xfrm>
            <a:off x="731520" y="1481328"/>
            <a:ext cx="10698480" cy="1207008"/>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591056"/>
            <a:ext cx="10369296" cy="987552"/>
          </a:xfrm>
          <a:prstGeom prst="rect">
            <a:avLst/>
          </a:prstGeom>
          <a:noFill/>
        </p:spPr>
        <p:txBody>
          <a:bodyPr wrap="square" lIns="0" tIns="0" rIns="0" bIns="0">
            <a:spAutoFit/>
          </a:bodyPr>
          <a:lstStyle/>
          <a:p>
            <a:pPr>
              <a:spcAft>
                <a:spcPts val="400"/>
              </a:spcAft>
              <a:defRPr sz="1100">
                <a:latin typeface="Segoe UI"/>
              </a:defRPr>
            </a:pPr>
            <a:r>
              <a:rPr b="1">
                <a:solidFill>
                  <a:srgbClr val="C2410C"/>
                </a:solidFill>
              </a:rPr>
              <a:t>Bản chất hiện tượng: </a:t>
            </a:r>
            <a:r>
              <a:rPr>
                <a:solidFill>
                  <a:srgbClr val="0F172A"/>
                </a:solidFill>
              </a:rPr>
              <a:t>Lệnh sau cần đọc kết quả mà lệnh trước chưa kịp ghi vào thanh ghi (RAW). Riêng với lệnh LOAD, dữ liệu chỉ có sau khi đọc RAM xong (cuối tầng MEM).</a:t>
            </a:r>
          </a:p>
          <a:p>
            <a:pPr>
              <a:spcAft>
                <a:spcPts val="400"/>
              </a:spcAft>
              <a:defRPr sz="1050">
                <a:latin typeface="Segoe UI"/>
              </a:defRPr>
            </a:pPr>
            <a:r>
              <a:rPr b="1">
                <a:solidFill>
                  <a:srgbClr val="0F172A"/>
                </a:solidFill>
              </a:rPr>
              <a:t>Khi nào xảy ra: </a:t>
            </a:r>
            <a:r>
              <a:rPr>
                <a:solidFill>
                  <a:srgbClr val="334155"/>
                </a:solidFill>
              </a:rPr>
              <a:t>Ví dụ: Lệnh nạp LW x1, 0(x2) ở tầng EX đứng ngay trước lệnh tính toán ADD x3, x1, x4 tại tầng ID.</a:t>
            </a:r>
          </a:p>
          <a:p>
            <a:pPr>
              <a:defRPr sz="1050">
                <a:latin typeface="Segoe UI"/>
              </a:defRPr>
            </a:pPr>
            <a:r>
              <a:rPr b="1">
                <a:solidFill>
                  <a:srgbClr val="EF4444"/>
                </a:solidFill>
              </a:rPr>
              <a:t>Nguy cơ nếu không xử lý: </a:t>
            </a:r>
            <a:r>
              <a:rPr>
                <a:solidFill>
                  <a:srgbClr val="334155"/>
                </a:solidFill>
              </a:rPr>
              <a:t>Nếu không dừng lại, ALU sẽ tính toán trên giá trị rác cũ đang có trong thanh ghi x1 làm sai toàn bộ kết quả chương trình.</a:t>
            </a:r>
          </a:p>
        </p:txBody>
      </p:sp>
      <p:sp>
        <p:nvSpPr>
          <p:cNvPr id="8" name="Rounded Rectangle 7"/>
          <p:cNvSpPr/>
          <p:nvPr/>
        </p:nvSpPr>
        <p:spPr>
          <a:xfrm>
            <a:off x="731520"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41248" y="2962656"/>
            <a:ext cx="2322576" cy="347472"/>
          </a:xfrm>
          <a:prstGeom prst="roundRect">
            <a:avLst/>
          </a:prstGeom>
          <a:solidFill>
            <a:srgbClr val="FFF7ED"/>
          </a:solidFill>
          <a:ln w="12700">
            <a:solidFill>
              <a:srgbClr val="F26F2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F26F21"/>
                </a:solidFill>
              </a:defRPr>
            </a:pPr>
            <a:r>
              <a:t>BƯỚC 1 • So Sánh Toán Hạng</a:t>
            </a:r>
          </a:p>
        </p:txBody>
      </p:sp>
      <p:sp>
        <p:nvSpPr>
          <p:cNvPr id="10" name="TextBox 9"/>
          <p:cNvSpPr txBox="1"/>
          <p:nvPr/>
        </p:nvSpPr>
        <p:spPr>
          <a:xfrm>
            <a:off x="877824"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Tầng ID giải mã thanh ghi đọc (rs1, rs2).</a:t>
            </a:r>
          </a:p>
          <a:p>
            <a:pPr>
              <a:spcAft>
                <a:spcPts val="400"/>
              </a:spcAft>
              <a:defRPr sz="1080">
                <a:solidFill>
                  <a:srgbClr val="334155"/>
                </a:solidFill>
                <a:latin typeface="Segoe UI"/>
              </a:defRPr>
            </a:pPr>
            <a:r>
              <a:t>• Kiểm tra lệnh ở EX có phải là LOAD (ex_mem_read=1) không.</a:t>
            </a:r>
          </a:p>
          <a:p>
            <a:pPr>
              <a:spcAft>
                <a:spcPts val="400"/>
              </a:spcAft>
              <a:defRPr sz="1080">
                <a:solidFill>
                  <a:srgbClr val="334155"/>
                </a:solidFill>
                <a:latin typeface="Segoe UI"/>
              </a:defRPr>
            </a:pPr>
            <a:r>
              <a:t>• So sánh ex_rd với id_rs1 và id_rs2.</a:t>
            </a:r>
          </a:p>
        </p:txBody>
      </p:sp>
      <p:sp>
        <p:nvSpPr>
          <p:cNvPr id="11" name="Rounded Rectangle 10"/>
          <p:cNvSpPr/>
          <p:nvPr/>
        </p:nvSpPr>
        <p:spPr>
          <a:xfrm>
            <a:off x="3456432"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66160" y="2962656"/>
            <a:ext cx="2322576" cy="347472"/>
          </a:xfrm>
          <a:prstGeom prst="roundRect">
            <a:avLst/>
          </a:prstGeom>
          <a:solidFill>
            <a:srgbClr val="F1F5F9"/>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0284C7"/>
                </a:solidFill>
              </a:defRPr>
            </a:pPr>
            <a:r>
              <a:t>BƯỚC 2 • Mạch Lọc Thông Minh</a:t>
            </a:r>
          </a:p>
        </p:txBody>
      </p:sp>
      <p:sp>
        <p:nvSpPr>
          <p:cNvPr id="13" name="TextBox 12"/>
          <p:cNvSpPr txBox="1"/>
          <p:nvPr/>
        </p:nvSpPr>
        <p:spPr>
          <a:xfrm>
            <a:off x="3602736"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rs1 bỏ qua các lệnh LUI, AUIPC, JAL.</a:t>
            </a:r>
          </a:p>
          <a:p>
            <a:pPr>
              <a:spcAft>
                <a:spcPts val="400"/>
              </a:spcAft>
              <a:defRPr sz="1080">
                <a:solidFill>
                  <a:srgbClr val="334155"/>
                </a:solidFill>
                <a:latin typeface="Segoe UI"/>
              </a:defRPr>
            </a:pPr>
            <a:r>
              <a:t>• rs2 CHỈ xét cho Store, Branch và R-type ALU.</a:t>
            </a:r>
          </a:p>
          <a:p>
            <a:pPr>
              <a:spcAft>
                <a:spcPts val="400"/>
              </a:spcAft>
              <a:defRPr sz="1080">
                <a:solidFill>
                  <a:srgbClr val="334155"/>
                </a:solidFill>
                <a:latin typeface="Segoe UI"/>
              </a:defRPr>
            </a:pPr>
            <a:r>
              <a:t>• Tránh dừng nhầm cho các lệnh I-type.</a:t>
            </a:r>
          </a:p>
        </p:txBody>
      </p:sp>
      <p:sp>
        <p:nvSpPr>
          <p:cNvPr id="14" name="Rounded Rectangle 13"/>
          <p:cNvSpPr/>
          <p:nvPr/>
        </p:nvSpPr>
        <p:spPr>
          <a:xfrm>
            <a:off x="6181344"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91072" y="2962656"/>
            <a:ext cx="2322576" cy="347472"/>
          </a:xfrm>
          <a:prstGeom prst="roundRect">
            <a:avLst/>
          </a:prstGeom>
          <a:solidFill>
            <a:srgbClr val="F1F5F9"/>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EF4444"/>
                </a:solidFill>
              </a:defRPr>
            </a:pPr>
            <a:r>
              <a:t>BƯỚC 3 • Chèn 1 Nhịp Dừng (Stall)</a:t>
            </a:r>
          </a:p>
        </p:txBody>
      </p:sp>
      <p:sp>
        <p:nvSpPr>
          <p:cNvPr id="16" name="TextBox 15"/>
          <p:cNvSpPr txBox="1"/>
          <p:nvPr/>
        </p:nvSpPr>
        <p:spPr>
          <a:xfrm>
            <a:off x="6327648"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Nếu phát hiện bị trùng khớp:</a:t>
            </a:r>
          </a:p>
          <a:p>
            <a:pPr>
              <a:spcAft>
                <a:spcPts val="400"/>
              </a:spcAft>
              <a:defRPr sz="1080">
                <a:solidFill>
                  <a:srgbClr val="334155"/>
                </a:solidFill>
                <a:latin typeface="Segoe UI"/>
              </a:defRPr>
            </a:pPr>
            <a:r>
              <a:t>• stall_pc = 1'b1 (giữ nguyên PC).</a:t>
            </a:r>
          </a:p>
          <a:p>
            <a:pPr>
              <a:spcAft>
                <a:spcPts val="400"/>
              </a:spcAft>
              <a:defRPr sz="1080">
                <a:solidFill>
                  <a:srgbClr val="334155"/>
                </a:solidFill>
                <a:latin typeface="Segoe UI"/>
              </a:defRPr>
            </a:pPr>
            <a:r>
              <a:t>• stall_if_id = 1'b1 (giữ nguyên lệnh ID).</a:t>
            </a:r>
          </a:p>
          <a:p>
            <a:pPr>
              <a:spcAft>
                <a:spcPts val="400"/>
              </a:spcAft>
              <a:defRPr sz="1080">
                <a:solidFill>
                  <a:srgbClr val="334155"/>
                </a:solidFill>
                <a:latin typeface="Segoe UI"/>
              </a:defRPr>
            </a:pPr>
            <a:r>
              <a:t>• flush_id_ex = 1'b1 (chèn 1 NOP vào EX).</a:t>
            </a:r>
          </a:p>
        </p:txBody>
      </p:sp>
      <p:sp>
        <p:nvSpPr>
          <p:cNvPr id="17" name="Rounded Rectangle 16"/>
          <p:cNvSpPr/>
          <p:nvPr/>
        </p:nvSpPr>
        <p:spPr>
          <a:xfrm>
            <a:off x="8906256"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015984" y="2962656"/>
            <a:ext cx="2322576" cy="347472"/>
          </a:xfrm>
          <a:prstGeom prst="roundRect">
            <a:avLst/>
          </a:prstGeom>
          <a:solidFill>
            <a:srgbClr val="F1F5F9"/>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10B981"/>
                </a:solidFill>
              </a:defRPr>
            </a:pPr>
            <a:r>
              <a:t>BƯỚC 4 • Bypass Tức Thì (Forward)</a:t>
            </a:r>
          </a:p>
        </p:txBody>
      </p:sp>
      <p:sp>
        <p:nvSpPr>
          <p:cNvPr id="19" name="TextBox 18"/>
          <p:cNvSpPr txBox="1"/>
          <p:nvPr/>
        </p:nvSpPr>
        <p:spPr>
          <a:xfrm>
            <a:off x="9052560"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Với các lệnh ALU không Load-Use:</a:t>
            </a:r>
          </a:p>
          <a:p>
            <a:pPr>
              <a:spcAft>
                <a:spcPts val="400"/>
              </a:spcAft>
              <a:defRPr sz="1080">
                <a:solidFill>
                  <a:srgbClr val="334155"/>
                </a:solidFill>
                <a:latin typeface="Segoe UI"/>
              </a:defRPr>
            </a:pPr>
            <a:r>
              <a:t>• Chuyển thẳng kết quả từ MEM hoặc WB về EX.</a:t>
            </a:r>
          </a:p>
          <a:p>
            <a:pPr>
              <a:spcAft>
                <a:spcPts val="400"/>
              </a:spcAft>
              <a:defRPr sz="1080">
                <a:solidFill>
                  <a:srgbClr val="334155"/>
                </a:solidFill>
                <a:latin typeface="Segoe UI"/>
              </a:defRPr>
            </a:pPr>
            <a:r>
              <a:t>• Ưu tiên kết quả từ MEM (kết quả mới hơn).</a:t>
            </a:r>
          </a:p>
          <a:p>
            <a:pPr>
              <a:spcAft>
                <a:spcPts val="400"/>
              </a:spcAft>
              <a:defRPr sz="1080">
                <a:solidFill>
                  <a:srgbClr val="334155"/>
                </a:solidFill>
                <a:latin typeface="Segoe UI"/>
              </a:defRPr>
            </a:pPr>
            <a:r>
              <a:t>• Thực thi liên tục 1 chu kỳ/lệnh.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3. LUỒNG XỬ LÝ</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3.2 Xử Lý Control Hazard &amp; Hủy Fetch Cũ (imem_cancel)</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17/28</a:t>
            </a:r>
          </a:p>
        </p:txBody>
      </p:sp>
      <p:sp>
        <p:nvSpPr>
          <p:cNvPr id="6" name="Rounded Rectangle 5"/>
          <p:cNvSpPr/>
          <p:nvPr/>
        </p:nvSpPr>
        <p:spPr>
          <a:xfrm>
            <a:off x="731520" y="1481328"/>
            <a:ext cx="10698480" cy="1207008"/>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591056"/>
            <a:ext cx="10369296" cy="987552"/>
          </a:xfrm>
          <a:prstGeom prst="rect">
            <a:avLst/>
          </a:prstGeom>
          <a:noFill/>
        </p:spPr>
        <p:txBody>
          <a:bodyPr wrap="square" lIns="0" tIns="0" rIns="0" bIns="0">
            <a:spAutoFit/>
          </a:bodyPr>
          <a:lstStyle/>
          <a:p>
            <a:pPr>
              <a:spcAft>
                <a:spcPts val="400"/>
              </a:spcAft>
              <a:defRPr sz="1100">
                <a:latin typeface="Segoe UI"/>
              </a:defRPr>
            </a:pPr>
            <a:r>
              <a:rPr b="1">
                <a:solidFill>
                  <a:srgbClr val="C2410C"/>
                </a:solidFill>
              </a:rPr>
              <a:t>Bản chất hiện tượng: </a:t>
            </a:r>
            <a:r>
              <a:rPr>
                <a:solidFill>
                  <a:srgbClr val="0F172A"/>
                </a:solidFill>
              </a:rPr>
              <a:t>Lệnh rẽ nhánh (Branch Taken) hoặc lệnh nhảy (JAL/JALR) đổi hướng chương trình tại tầng EX. Lúc này, 2 lệnh kế tiếp ở IF và ID đã bị nạp nhầm.</a:t>
            </a:r>
          </a:p>
          <a:p>
            <a:pPr>
              <a:spcAft>
                <a:spcPts val="400"/>
              </a:spcAft>
              <a:defRPr sz="1050">
                <a:latin typeface="Segoe UI"/>
              </a:defRPr>
            </a:pPr>
            <a:r>
              <a:rPr b="1">
                <a:solidFill>
                  <a:srgbClr val="0F172A"/>
                </a:solidFill>
              </a:rPr>
              <a:t>Khi nào xảy ra: </a:t>
            </a:r>
            <a:r>
              <a:rPr>
                <a:solidFill>
                  <a:srgbClr val="334155"/>
                </a:solidFill>
              </a:rPr>
              <a:t>Khi điều kiện rẽ nhánh thỏa mãn (BEQ..BGEU) hoặc khi thực hiện các lệnh nhảy không điều kiện JAL, JALR.</a:t>
            </a:r>
          </a:p>
          <a:p>
            <a:pPr>
              <a:defRPr sz="1050">
                <a:latin typeface="Segoe UI"/>
              </a:defRPr>
            </a:pPr>
            <a:r>
              <a:rPr b="1">
                <a:solidFill>
                  <a:srgbClr val="EF4444"/>
                </a:solidFill>
              </a:rPr>
              <a:t>Nguy cơ nếu không xử lý: </a:t>
            </a:r>
            <a:r>
              <a:rPr>
                <a:solidFill>
                  <a:srgbClr val="334155"/>
                </a:solidFill>
              </a:rPr>
              <a:t>Nếu không xóa kịp thời, 2 lệnh sai đường sẽ tiếp tục thực thi và làm hỏng toàn bộ trạng thái thanh ghi và bộ nhớ.</a:t>
            </a:r>
          </a:p>
        </p:txBody>
      </p:sp>
      <p:sp>
        <p:nvSpPr>
          <p:cNvPr id="8" name="Rounded Rectangle 7"/>
          <p:cNvSpPr/>
          <p:nvPr/>
        </p:nvSpPr>
        <p:spPr>
          <a:xfrm>
            <a:off x="731520"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41248" y="2962656"/>
            <a:ext cx="2322576" cy="347472"/>
          </a:xfrm>
          <a:prstGeom prst="roundRect">
            <a:avLst/>
          </a:prstGeom>
          <a:solidFill>
            <a:srgbClr val="FFF7ED"/>
          </a:solidFill>
          <a:ln w="12700">
            <a:solidFill>
              <a:srgbClr val="F26F2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F26F21"/>
                </a:solidFill>
              </a:defRPr>
            </a:pPr>
            <a:r>
              <a:t>BƯỚC 1 • Quyết Định Nhánh Ở EX</a:t>
            </a:r>
          </a:p>
        </p:txBody>
      </p:sp>
      <p:sp>
        <p:nvSpPr>
          <p:cNvPr id="10" name="TextBox 9"/>
          <p:cNvSpPr txBox="1"/>
          <p:nvPr/>
        </p:nvSpPr>
        <p:spPr>
          <a:xfrm>
            <a:off x="877824"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Tầng EX tính xong điều kiện rẽ nhánh.</a:t>
            </a:r>
          </a:p>
          <a:p>
            <a:pPr>
              <a:spcAft>
                <a:spcPts val="400"/>
              </a:spcAft>
              <a:defRPr sz="1080">
                <a:solidFill>
                  <a:srgbClr val="334155"/>
                </a:solidFill>
                <a:latin typeface="Segoe UI"/>
              </a:defRPr>
            </a:pPr>
            <a:r>
              <a:t>• Nếu nhánh nhảy (Branch Taken hoặc JAL/JALR):</a:t>
            </a:r>
          </a:p>
          <a:p>
            <a:pPr>
              <a:spcAft>
                <a:spcPts val="400"/>
              </a:spcAft>
              <a:defRPr sz="1080">
                <a:solidFill>
                  <a:srgbClr val="334155"/>
                </a:solidFill>
                <a:latin typeface="Segoe UI"/>
              </a:defRPr>
            </a:pPr>
            <a:r>
              <a:t>• Phát tín hiệu chuyển hướng kèm địa chỉ đích.</a:t>
            </a:r>
          </a:p>
        </p:txBody>
      </p:sp>
      <p:sp>
        <p:nvSpPr>
          <p:cNvPr id="11" name="Rounded Rectangle 10"/>
          <p:cNvSpPr/>
          <p:nvPr/>
        </p:nvSpPr>
        <p:spPr>
          <a:xfrm>
            <a:off x="3456432"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66160" y="2962656"/>
            <a:ext cx="2322576" cy="347472"/>
          </a:xfrm>
          <a:prstGeom prst="roundRect">
            <a:avLst/>
          </a:prstGeom>
          <a:solidFill>
            <a:srgbClr val="F1F5F9"/>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EF4444"/>
                </a:solidFill>
              </a:defRPr>
            </a:pPr>
            <a:r>
              <a:t>BƯỚC 2 • Xóa Lệnh Nạp Nhầm</a:t>
            </a:r>
          </a:p>
        </p:txBody>
      </p:sp>
      <p:sp>
        <p:nvSpPr>
          <p:cNvPr id="13" name="TextBox 12"/>
          <p:cNvSpPr txBox="1"/>
          <p:nvPr/>
        </p:nvSpPr>
        <p:spPr>
          <a:xfrm>
            <a:off x="3602736"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Bộ điều khiển Hazard xóa ngay 2 lệnh nhầm:</a:t>
            </a:r>
          </a:p>
          <a:p>
            <a:pPr>
              <a:spcAft>
                <a:spcPts val="400"/>
              </a:spcAft>
              <a:defRPr sz="1080">
                <a:solidFill>
                  <a:srgbClr val="334155"/>
                </a:solidFill>
                <a:latin typeface="Segoe UI"/>
              </a:defRPr>
            </a:pPr>
            <a:r>
              <a:t>• flush_if_id = 1'b1 (xóa lệnh ở IF).</a:t>
            </a:r>
          </a:p>
          <a:p>
            <a:pPr>
              <a:spcAft>
                <a:spcPts val="400"/>
              </a:spcAft>
              <a:defRPr sz="1080">
                <a:solidFill>
                  <a:srgbClr val="334155"/>
                </a:solidFill>
                <a:latin typeface="Segoe UI"/>
              </a:defRPr>
            </a:pPr>
            <a:r>
              <a:t>• flush_id_ex = 1'b1 (xóa lệnh ở ID).</a:t>
            </a:r>
          </a:p>
          <a:p>
            <a:pPr>
              <a:spcAft>
                <a:spcPts val="400"/>
              </a:spcAft>
              <a:defRPr sz="1080">
                <a:solidFill>
                  <a:srgbClr val="334155"/>
                </a:solidFill>
                <a:latin typeface="Segoe UI"/>
              </a:defRPr>
            </a:pPr>
            <a:r>
              <a:t>• stall_pc = 1'b0 (nạp ngay địa chỉ đích mới).</a:t>
            </a:r>
          </a:p>
        </p:txBody>
      </p:sp>
      <p:sp>
        <p:nvSpPr>
          <p:cNvPr id="14" name="Rounded Rectangle 13"/>
          <p:cNvSpPr/>
          <p:nvPr/>
        </p:nvSpPr>
        <p:spPr>
          <a:xfrm>
            <a:off x="6181344"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91072" y="2962656"/>
            <a:ext cx="2322576" cy="347472"/>
          </a:xfrm>
          <a:prstGeom prst="roundRect">
            <a:avLst/>
          </a:prstGeom>
          <a:solidFill>
            <a:srgbClr val="F1F5F9"/>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0284C7"/>
                </a:solidFill>
              </a:defRPr>
            </a:pPr>
            <a:r>
              <a:t>BƯỚC 3 • Phát Lệnh Hủy AXI</a:t>
            </a:r>
          </a:p>
        </p:txBody>
      </p:sp>
      <p:sp>
        <p:nvSpPr>
          <p:cNvPr id="16" name="TextBox 15"/>
          <p:cNvSpPr txBox="1"/>
          <p:nvPr/>
        </p:nvSpPr>
        <p:spPr>
          <a:xfrm>
            <a:off x="6327648"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Core phát tín hiệu imem_cancel ra ngoài bus.</a:t>
            </a:r>
          </a:p>
          <a:p>
            <a:pPr>
              <a:spcAft>
                <a:spcPts val="400"/>
              </a:spcAft>
              <a:defRPr sz="1080">
                <a:solidFill>
                  <a:srgbClr val="334155"/>
                </a:solidFill>
                <a:latin typeface="Segoe UI"/>
              </a:defRPr>
            </a:pPr>
            <a:r>
              <a:t>• Tín hiệu ĐÃ CHỐT QUA FLIP-FLOP để triệt tiêu hoàn toàn Combinatorial Loop trong Vivado.</a:t>
            </a:r>
          </a:p>
        </p:txBody>
      </p:sp>
      <p:sp>
        <p:nvSpPr>
          <p:cNvPr id="17" name="Rounded Rectangle 16"/>
          <p:cNvSpPr/>
          <p:nvPr/>
        </p:nvSpPr>
        <p:spPr>
          <a:xfrm>
            <a:off x="8906256"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015984" y="2962656"/>
            <a:ext cx="2322576" cy="347472"/>
          </a:xfrm>
          <a:prstGeom prst="roundRect">
            <a:avLst/>
          </a:prstGeom>
          <a:solidFill>
            <a:srgbClr val="F1F5F9"/>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10B981"/>
                </a:solidFill>
              </a:defRPr>
            </a:pPr>
            <a:r>
              <a:t>BƯỚC 4 • Adapter Tự Hủy Gói Cũ</a:t>
            </a:r>
          </a:p>
        </p:txBody>
      </p:sp>
      <p:sp>
        <p:nvSpPr>
          <p:cNvPr id="19" name="TextBox 18"/>
          <p:cNvSpPr txBox="1"/>
          <p:nvPr/>
        </p:nvSpPr>
        <p:spPr>
          <a:xfrm>
            <a:off x="9052560"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Khi bộ nhớ trả về dữ liệu của lệnh cũ bị hủy:</a:t>
            </a:r>
          </a:p>
          <a:p>
            <a:pPr>
              <a:spcAft>
                <a:spcPts val="400"/>
              </a:spcAft>
              <a:defRPr sz="1080">
                <a:solidFill>
                  <a:srgbClr val="334155"/>
                </a:solidFill>
                <a:latin typeface="Segoe UI"/>
              </a:defRPr>
            </a:pPr>
            <a:r>
              <a:t>• Adapter AXI tự động vứt bỏ (DROP).</a:t>
            </a:r>
          </a:p>
          <a:p>
            <a:pPr>
              <a:spcAft>
                <a:spcPts val="400"/>
              </a:spcAft>
              <a:defRPr sz="1080">
                <a:solidFill>
                  <a:srgbClr val="334155"/>
                </a:solidFill>
                <a:latin typeface="Segoe UI"/>
              </a:defRPr>
            </a:pPr>
            <a:r>
              <a:t>• Không đẩy lệnh rác vào Core, bus thông suốt.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3. LUỒNG XỬ LÝ</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3.3 Xử Lý Memory Backpressure (Pipeline Freeze)</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18/28</a:t>
            </a:r>
          </a:p>
        </p:txBody>
      </p:sp>
      <p:sp>
        <p:nvSpPr>
          <p:cNvPr id="6" name="Rounded Rectangle 5"/>
          <p:cNvSpPr/>
          <p:nvPr/>
        </p:nvSpPr>
        <p:spPr>
          <a:xfrm>
            <a:off x="731520" y="1481328"/>
            <a:ext cx="10698480" cy="1207008"/>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591056"/>
            <a:ext cx="10369296" cy="987552"/>
          </a:xfrm>
          <a:prstGeom prst="rect">
            <a:avLst/>
          </a:prstGeom>
          <a:noFill/>
        </p:spPr>
        <p:txBody>
          <a:bodyPr wrap="square" lIns="0" tIns="0" rIns="0" bIns="0">
            <a:spAutoFit/>
          </a:bodyPr>
          <a:lstStyle/>
          <a:p>
            <a:pPr>
              <a:spcAft>
                <a:spcPts val="400"/>
              </a:spcAft>
              <a:defRPr sz="1100">
                <a:latin typeface="Segoe UI"/>
              </a:defRPr>
            </a:pPr>
            <a:r>
              <a:rPr b="1">
                <a:solidFill>
                  <a:srgbClr val="C2410C"/>
                </a:solidFill>
              </a:rPr>
              <a:t>Bản chất hiện tượng: </a:t>
            </a:r>
            <a:r>
              <a:rPr>
                <a:solidFill>
                  <a:srgbClr val="0F172A"/>
                </a:solidFill>
              </a:rPr>
              <a:t>Độ trễ truy xuất RAM ngoài qua bus AXI là bất định (mất nhiều chu kỳ clock). Tầng MEM buộc phải dừng lại chờ dữ liệu phản hồi.</a:t>
            </a:r>
          </a:p>
          <a:p>
            <a:pPr>
              <a:spcAft>
                <a:spcPts val="400"/>
              </a:spcAft>
              <a:defRPr sz="1050">
                <a:latin typeface="Segoe UI"/>
              </a:defRPr>
            </a:pPr>
            <a:r>
              <a:rPr b="1">
                <a:solidFill>
                  <a:srgbClr val="0F172A"/>
                </a:solidFill>
              </a:rPr>
              <a:t>Khi nào xảy ra: </a:t>
            </a:r>
            <a:r>
              <a:rPr>
                <a:solidFill>
                  <a:srgbClr val="334155"/>
                </a:solidFill>
              </a:rPr>
              <a:t>Khi lệnh Load hoặc Store truy xuất bộ nhớ DMEM mà tín hiệu sẵn sàng dmem_ready == 0.</a:t>
            </a:r>
          </a:p>
          <a:p>
            <a:pPr>
              <a:defRPr sz="1050">
                <a:latin typeface="Segoe UI"/>
              </a:defRPr>
            </a:pPr>
            <a:r>
              <a:rPr b="1">
                <a:solidFill>
                  <a:srgbClr val="EF4444"/>
                </a:solidFill>
              </a:rPr>
              <a:t>Nguy cơ nếu không xử lý: </a:t>
            </a:r>
            <a:r>
              <a:rPr>
                <a:solidFill>
                  <a:srgbClr val="334155"/>
                </a:solidFill>
              </a:rPr>
              <a:t>Nếu chỉ dừng tầng MEM mà các tầng khác vẫn chạy, lệnh mới phía sau sẽ hoàn thành trước lệnh cũ gây mất trật tự kiến trúc (Out-of-Order).</a:t>
            </a:r>
          </a:p>
        </p:txBody>
      </p:sp>
      <p:sp>
        <p:nvSpPr>
          <p:cNvPr id="8" name="Rounded Rectangle 7"/>
          <p:cNvSpPr/>
          <p:nvPr/>
        </p:nvSpPr>
        <p:spPr>
          <a:xfrm>
            <a:off x="731520"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41248" y="2962656"/>
            <a:ext cx="2322576" cy="347472"/>
          </a:xfrm>
          <a:prstGeom prst="roundRect">
            <a:avLst/>
          </a:prstGeom>
          <a:solidFill>
            <a:srgbClr val="FFF7ED"/>
          </a:solidFill>
          <a:ln w="12700">
            <a:solidFill>
              <a:srgbClr val="F26F2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F26F21"/>
                </a:solidFill>
              </a:defRPr>
            </a:pPr>
            <a:r>
              <a:t>BƯỚC 1 • Phát Yêu Cầu RAM</a:t>
            </a:r>
          </a:p>
        </p:txBody>
      </p:sp>
      <p:sp>
        <p:nvSpPr>
          <p:cNvPr id="10" name="TextBox 9"/>
          <p:cNvSpPr txBox="1"/>
          <p:nvPr/>
        </p:nvSpPr>
        <p:spPr>
          <a:xfrm>
            <a:off x="877824"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Lệnh Load/Store tới tầng MEM.</a:t>
            </a:r>
          </a:p>
          <a:p>
            <a:pPr>
              <a:spcAft>
                <a:spcPts val="400"/>
              </a:spcAft>
              <a:defRPr sz="1080">
                <a:solidFill>
                  <a:srgbClr val="334155"/>
                </a:solidFill>
                <a:latin typeface="Segoe UI"/>
              </a:defRPr>
            </a:pPr>
            <a:r>
              <a:t>• mem_stage phát yêu cầu dmem_valid=1.</a:t>
            </a:r>
          </a:p>
          <a:p>
            <a:pPr>
              <a:spcAft>
                <a:spcPts val="400"/>
              </a:spcAft>
              <a:defRPr sz="1080">
                <a:solidFill>
                  <a:srgbClr val="334155"/>
                </a:solidFill>
                <a:latin typeface="Segoe UI"/>
              </a:defRPr>
            </a:pPr>
            <a:r>
              <a:t>• Giao dịch đọc/ghi được gửi sang bus AXI.</a:t>
            </a:r>
          </a:p>
        </p:txBody>
      </p:sp>
      <p:sp>
        <p:nvSpPr>
          <p:cNvPr id="11" name="Rounded Rectangle 10"/>
          <p:cNvSpPr/>
          <p:nvPr/>
        </p:nvSpPr>
        <p:spPr>
          <a:xfrm>
            <a:off x="3456432"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66160" y="2962656"/>
            <a:ext cx="2322576" cy="347472"/>
          </a:xfrm>
          <a:prstGeom prst="roundRect">
            <a:avLst/>
          </a:prstGeom>
          <a:solidFill>
            <a:srgbClr val="F1F5F9"/>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EF4444"/>
                </a:solidFill>
              </a:defRPr>
            </a:pPr>
            <a:r>
              <a:t>BƯỚC 2 • Phát Hiện Chờ Đợi</a:t>
            </a:r>
          </a:p>
        </p:txBody>
      </p:sp>
      <p:sp>
        <p:nvSpPr>
          <p:cNvPr id="13" name="TextBox 12"/>
          <p:cNvSpPr txBox="1"/>
          <p:nvPr/>
        </p:nvSpPr>
        <p:spPr>
          <a:xfrm>
            <a:off x="3602736"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RAM ngoài đang bận xử lý (dmem_ready = 0).</a:t>
            </a:r>
          </a:p>
          <a:p>
            <a:pPr>
              <a:spcAft>
                <a:spcPts val="400"/>
              </a:spcAft>
              <a:defRPr sz="1080">
                <a:solidFill>
                  <a:srgbClr val="334155"/>
                </a:solidFill>
                <a:latin typeface="Segoe UI"/>
              </a:defRPr>
            </a:pPr>
            <a:r>
              <a:t>• Tầng MEM kích hoạt tín hiệu mem_wait = 1'b1 báo động cho bộ điều khiển Hazard.</a:t>
            </a:r>
          </a:p>
        </p:txBody>
      </p:sp>
      <p:sp>
        <p:nvSpPr>
          <p:cNvPr id="14" name="Rounded Rectangle 13"/>
          <p:cNvSpPr/>
          <p:nvPr/>
        </p:nvSpPr>
        <p:spPr>
          <a:xfrm>
            <a:off x="6181344"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91072" y="2962656"/>
            <a:ext cx="2322576" cy="347472"/>
          </a:xfrm>
          <a:prstGeom prst="roundRect">
            <a:avLst/>
          </a:prstGeom>
          <a:solidFill>
            <a:srgbClr val="F1F5F9"/>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0284C7"/>
                </a:solidFill>
              </a:defRPr>
            </a:pPr>
            <a:r>
              <a:t>BƯỚC 3 • Đóng Băng Cả 5 Tầng</a:t>
            </a:r>
          </a:p>
        </p:txBody>
      </p:sp>
      <p:sp>
        <p:nvSpPr>
          <p:cNvPr id="16" name="TextBox 15"/>
          <p:cNvSpPr txBox="1"/>
          <p:nvPr/>
        </p:nvSpPr>
        <p:spPr>
          <a:xfrm>
            <a:off x="6327648"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hazard_unit dừng ĐỒNG LOẠT 5 TẦNG:</a:t>
            </a:r>
          </a:p>
          <a:p>
            <a:pPr>
              <a:spcAft>
                <a:spcPts val="400"/>
              </a:spcAft>
              <a:defRPr sz="1080">
                <a:solidFill>
                  <a:srgbClr val="334155"/>
                </a:solidFill>
                <a:latin typeface="Segoe UI"/>
              </a:defRPr>
            </a:pPr>
            <a:r>
              <a:t>• stall_pc = 1, stall_if_id = 1,</a:t>
            </a:r>
          </a:p>
          <a:p>
            <a:pPr>
              <a:spcAft>
                <a:spcPts val="400"/>
              </a:spcAft>
              <a:defRPr sz="1080">
                <a:solidFill>
                  <a:srgbClr val="334155"/>
                </a:solidFill>
                <a:latin typeface="Segoe UI"/>
              </a:defRPr>
            </a:pPr>
            <a:r>
              <a:t>• stall_id_ex = 1, stall_ex_mem = 1,</a:t>
            </a:r>
          </a:p>
          <a:p>
            <a:pPr>
              <a:spcAft>
                <a:spcPts val="400"/>
              </a:spcAft>
              <a:defRPr sz="1080">
                <a:solidFill>
                  <a:srgbClr val="334155"/>
                </a:solidFill>
                <a:latin typeface="Segoe UI"/>
              </a:defRPr>
            </a:pPr>
            <a:r>
              <a:t>• stall_mem_wb = 1 (giữ nguyên trạng thái).</a:t>
            </a:r>
          </a:p>
        </p:txBody>
      </p:sp>
      <p:sp>
        <p:nvSpPr>
          <p:cNvPr id="17" name="Rounded Rectangle 16"/>
          <p:cNvSpPr/>
          <p:nvPr/>
        </p:nvSpPr>
        <p:spPr>
          <a:xfrm>
            <a:off x="8906256"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015984" y="2962656"/>
            <a:ext cx="2322576" cy="347472"/>
          </a:xfrm>
          <a:prstGeom prst="roundRect">
            <a:avLst/>
          </a:prstGeom>
          <a:solidFill>
            <a:srgbClr val="F1F5F9"/>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10B981"/>
                </a:solidFill>
              </a:defRPr>
            </a:pPr>
            <a:r>
              <a:t>BƯỚC 4 • Đồng Loạt Chạy Tiếp</a:t>
            </a:r>
          </a:p>
        </p:txBody>
      </p:sp>
      <p:sp>
        <p:nvSpPr>
          <p:cNvPr id="19" name="TextBox 18"/>
          <p:cNvSpPr txBox="1"/>
          <p:nvPr/>
        </p:nvSpPr>
        <p:spPr>
          <a:xfrm>
            <a:off x="9052560"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Khi RAM phản hồi xong (dmem_ready = 1'b1):</a:t>
            </a:r>
          </a:p>
          <a:p>
            <a:pPr>
              <a:spcAft>
                <a:spcPts val="400"/>
              </a:spcAft>
              <a:defRPr sz="1080">
                <a:solidFill>
                  <a:srgbClr val="334155"/>
                </a:solidFill>
                <a:latin typeface="Segoe UI"/>
              </a:defRPr>
            </a:pPr>
            <a:r>
              <a:t>• Tín hiệu mem_wait trở về 0.</a:t>
            </a:r>
          </a:p>
          <a:p>
            <a:pPr>
              <a:spcAft>
                <a:spcPts val="400"/>
              </a:spcAft>
              <a:defRPr sz="1080">
                <a:solidFill>
                  <a:srgbClr val="334155"/>
                </a:solidFill>
                <a:latin typeface="Segoe UI"/>
              </a:defRPr>
            </a:pPr>
            <a:r>
              <a:t>• Cả 5 tầng cùng được giải phóng để chạy tiếp nhịp clock sau mà không mất mát dữ liệu.</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3. LUỒNG XỬ LÝ</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3.4 Xử Lý Ngoại Lệ (Fault Detection ➔ Single Commit)</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19/28</a:t>
            </a:r>
          </a:p>
        </p:txBody>
      </p:sp>
      <p:sp>
        <p:nvSpPr>
          <p:cNvPr id="6" name="Rounded Rectangle 5"/>
          <p:cNvSpPr/>
          <p:nvPr/>
        </p:nvSpPr>
        <p:spPr>
          <a:xfrm>
            <a:off x="731520" y="1481328"/>
            <a:ext cx="10698480" cy="1207008"/>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591056"/>
            <a:ext cx="10369296" cy="987552"/>
          </a:xfrm>
          <a:prstGeom prst="rect">
            <a:avLst/>
          </a:prstGeom>
          <a:noFill/>
        </p:spPr>
        <p:txBody>
          <a:bodyPr wrap="square" lIns="0" tIns="0" rIns="0" bIns="0">
            <a:spAutoFit/>
          </a:bodyPr>
          <a:lstStyle/>
          <a:p>
            <a:pPr>
              <a:spcAft>
                <a:spcPts val="400"/>
              </a:spcAft>
              <a:defRPr sz="1100">
                <a:latin typeface="Segoe UI"/>
              </a:defRPr>
            </a:pPr>
            <a:r>
              <a:rPr b="1">
                <a:solidFill>
                  <a:srgbClr val="C2410C"/>
                </a:solidFill>
              </a:rPr>
              <a:t>Bản chất hiện tượng: </a:t>
            </a:r>
            <a:r>
              <a:rPr>
                <a:solidFill>
                  <a:srgbClr val="0F172A"/>
                </a:solidFill>
              </a:rPr>
              <a:t>Lỗi thực thi do phần mềm: Nhảy tới địa chỉ lệch, gặp mã lệnh không hợp lệ (Illegal Opcode), hoặc gọi hàm hệ thống ECALL/EBREAK.</a:t>
            </a:r>
          </a:p>
          <a:p>
            <a:pPr>
              <a:spcAft>
                <a:spcPts val="400"/>
              </a:spcAft>
              <a:defRPr sz="1050">
                <a:latin typeface="Segoe UI"/>
              </a:defRPr>
            </a:pPr>
            <a:r>
              <a:rPr b="1">
                <a:solidFill>
                  <a:srgbClr val="0F172A"/>
                </a:solidFill>
              </a:rPr>
              <a:t>Khi nào xảy ra: </a:t>
            </a:r>
            <a:r>
              <a:rPr>
                <a:solidFill>
                  <a:srgbClr val="334155"/>
                </a:solidFill>
              </a:rPr>
              <a:t>Phát hiện tại nhiều tầng: IF (lệch PC, lỗi nạp), ID (mã lệnh sai), MEM (lệch địa chỉ Load/Store).</a:t>
            </a:r>
          </a:p>
          <a:p>
            <a:pPr>
              <a:defRPr sz="1050">
                <a:latin typeface="Segoe UI"/>
              </a:defRPr>
            </a:pPr>
            <a:r>
              <a:rPr b="1">
                <a:solidFill>
                  <a:srgbClr val="EF4444"/>
                </a:solidFill>
              </a:rPr>
              <a:t>Nguy cơ nếu không xử lý: </a:t>
            </a:r>
            <a:r>
              <a:rPr>
                <a:solidFill>
                  <a:srgbClr val="334155"/>
                </a:solidFill>
              </a:rPr>
              <a:t>Nếu kích hoạt Trap ngay tại tầng phát hiện, các lệnh già hơn phía trước chưa commit sẽ bị mất oan (vi phạm Precise Exception).</a:t>
            </a:r>
          </a:p>
        </p:txBody>
      </p:sp>
      <p:sp>
        <p:nvSpPr>
          <p:cNvPr id="8" name="Rounded Rectangle 7"/>
          <p:cNvSpPr/>
          <p:nvPr/>
        </p:nvSpPr>
        <p:spPr>
          <a:xfrm>
            <a:off x="731520"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41248" y="2962656"/>
            <a:ext cx="2322576" cy="347472"/>
          </a:xfrm>
          <a:prstGeom prst="roundRect">
            <a:avLst/>
          </a:prstGeom>
          <a:solidFill>
            <a:srgbClr val="FFF7ED"/>
          </a:solidFill>
          <a:ln w="12700">
            <a:solidFill>
              <a:srgbClr val="F26F2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F26F21"/>
                </a:solidFill>
              </a:defRPr>
            </a:pPr>
            <a:r>
              <a:t>BƯỚC 1 • Ghi Nhận Lỗi Tại Tầng</a:t>
            </a:r>
          </a:p>
        </p:txBody>
      </p:sp>
      <p:sp>
        <p:nvSpPr>
          <p:cNvPr id="10" name="TextBox 9"/>
          <p:cNvSpPr txBox="1"/>
          <p:nvPr/>
        </p:nvSpPr>
        <p:spPr>
          <a:xfrm>
            <a:off x="877824"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Tầng phát hiện lỗi KHÔNG kích hoạt Trap ngay.</a:t>
            </a:r>
          </a:p>
          <a:p>
            <a:pPr>
              <a:spcAft>
                <a:spcPts val="400"/>
              </a:spcAft>
              <a:defRPr sz="1080">
                <a:solidFill>
                  <a:srgbClr val="334155"/>
                </a:solidFill>
                <a:latin typeface="Segoe UI"/>
              </a:defRPr>
            </a:pPr>
            <a:r>
              <a:t>• Chỉ đánh dấu cờ lỗi và ghi nhận nguyên nhân (IF: lệch PC, ID: mã lạ, MEM: lệch RAM).</a:t>
            </a:r>
          </a:p>
        </p:txBody>
      </p:sp>
      <p:sp>
        <p:nvSpPr>
          <p:cNvPr id="11" name="Rounded Rectangle 10"/>
          <p:cNvSpPr/>
          <p:nvPr/>
        </p:nvSpPr>
        <p:spPr>
          <a:xfrm>
            <a:off x="3456432"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66160" y="2962656"/>
            <a:ext cx="2322576" cy="347472"/>
          </a:xfrm>
          <a:prstGeom prst="roundRect">
            <a:avLst/>
          </a:prstGeom>
          <a:solidFill>
            <a:srgbClr val="F1F5F9"/>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0284C7"/>
                </a:solidFill>
              </a:defRPr>
            </a:pPr>
            <a:r>
              <a:t>BƯỚC 2 • Gói Lỗi Đi Cùng Lệnh</a:t>
            </a:r>
          </a:p>
        </p:txBody>
      </p:sp>
      <p:sp>
        <p:nvSpPr>
          <p:cNvPr id="13" name="TextBox 12"/>
          <p:cNvSpPr txBox="1"/>
          <p:nvPr/>
        </p:nvSpPr>
        <p:spPr>
          <a:xfrm>
            <a:off x="3602736"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Gói Fault Bundle {fault, cause, tval} được đóng gói đi tuần tự qua 4 thanh ghi trung gian.</a:t>
            </a:r>
          </a:p>
          <a:p>
            <a:pPr>
              <a:spcAft>
                <a:spcPts val="400"/>
              </a:spcAft>
              <a:defRPr sz="1080">
                <a:solidFill>
                  <a:srgbClr val="334155"/>
                </a:solidFill>
                <a:latin typeface="Segoe UI"/>
              </a:defRPr>
            </a:pPr>
            <a:r>
              <a:t>• Đi kèm đúng lệnh gây lỗi suốt pipeline.</a:t>
            </a:r>
          </a:p>
        </p:txBody>
      </p:sp>
      <p:sp>
        <p:nvSpPr>
          <p:cNvPr id="14" name="Rounded Rectangle 13"/>
          <p:cNvSpPr/>
          <p:nvPr/>
        </p:nvSpPr>
        <p:spPr>
          <a:xfrm>
            <a:off x="6181344"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91072" y="2962656"/>
            <a:ext cx="2322576" cy="347472"/>
          </a:xfrm>
          <a:prstGeom prst="roundRect">
            <a:avLst/>
          </a:prstGeom>
          <a:solidFill>
            <a:srgbClr val="F1F5F9"/>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EF4444"/>
                </a:solidFill>
              </a:defRPr>
            </a:pPr>
            <a:r>
              <a:t>BƯỚC 3 • Bẫy Lỗi Tại Tầng WB</a:t>
            </a:r>
          </a:p>
        </p:txBody>
      </p:sp>
      <p:sp>
        <p:nvSpPr>
          <p:cNvPr id="16" name="TextBox 15"/>
          <p:cNvSpPr txBox="1"/>
          <p:nvPr/>
        </p:nvSpPr>
        <p:spPr>
          <a:xfrm>
            <a:off x="6327648"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Chỉ khi lệnh lỗi tới tầng WB và trở thành lệnh già nhất: Trap mới chính thức nổ.</a:t>
            </a:r>
          </a:p>
          <a:p>
            <a:pPr>
              <a:spcAft>
                <a:spcPts val="400"/>
              </a:spcAft>
              <a:defRPr sz="1080">
                <a:solidFill>
                  <a:srgbClr val="334155"/>
                </a:solidFill>
                <a:latin typeface="Segoe UI"/>
              </a:defRPr>
            </a:pPr>
            <a:r>
              <a:t>• Xóa sạch toàn bộ các lệnh non hơn phía sau (flush_if_id..flush_mem_wb).</a:t>
            </a:r>
          </a:p>
        </p:txBody>
      </p:sp>
      <p:sp>
        <p:nvSpPr>
          <p:cNvPr id="17" name="Rounded Rectangle 16"/>
          <p:cNvSpPr/>
          <p:nvPr/>
        </p:nvSpPr>
        <p:spPr>
          <a:xfrm>
            <a:off x="8906256"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015984" y="2962656"/>
            <a:ext cx="2322576" cy="347472"/>
          </a:xfrm>
          <a:prstGeom prst="roundRect">
            <a:avLst/>
          </a:prstGeom>
          <a:solidFill>
            <a:srgbClr val="F1F5F9"/>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10B981"/>
                </a:solidFill>
              </a:defRPr>
            </a:pPr>
            <a:r>
              <a:t>BƯỚC 4 • Lưu CSR &amp; Nhảy Handler</a:t>
            </a:r>
          </a:p>
        </p:txBody>
      </p:sp>
      <p:sp>
        <p:nvSpPr>
          <p:cNvPr id="19" name="TextBox 18"/>
          <p:cNvSpPr txBox="1"/>
          <p:nvPr/>
        </p:nvSpPr>
        <p:spPr>
          <a:xfrm>
            <a:off x="9052560"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Lưu PC lỗi vào mepc, mã lỗi vào mcause.</a:t>
            </a:r>
          </a:p>
          <a:p>
            <a:pPr>
              <a:spcAft>
                <a:spcPts val="400"/>
              </a:spcAft>
              <a:defRPr sz="1080">
                <a:solidFill>
                  <a:srgbClr val="334155"/>
                </a:solidFill>
                <a:latin typeface="Segoe UI"/>
              </a:defRPr>
            </a:pPr>
            <a:r>
              <a:t>• Lưu địa chỉ truy cập sai vào mtval.</a:t>
            </a:r>
          </a:p>
          <a:p>
            <a:pPr>
              <a:spcAft>
                <a:spcPts val="400"/>
              </a:spcAft>
              <a:defRPr sz="1080">
                <a:solidFill>
                  <a:srgbClr val="334155"/>
                </a:solidFill>
                <a:latin typeface="Segoe UI"/>
              </a:defRPr>
            </a:pPr>
            <a:r>
              <a:t>• Khóa ngắt toàn cục và nhảy tới MTVEC.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3. LUỒNG XỬ LÝ</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3.5 Xử Lý Ngắt Ngoài (Interrupt) &amp; Phục Hồi MRET</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20/28</a:t>
            </a:r>
          </a:p>
        </p:txBody>
      </p:sp>
      <p:sp>
        <p:nvSpPr>
          <p:cNvPr id="6" name="Rounded Rectangle 5"/>
          <p:cNvSpPr/>
          <p:nvPr/>
        </p:nvSpPr>
        <p:spPr>
          <a:xfrm>
            <a:off x="731520" y="1481328"/>
            <a:ext cx="10698480" cy="1207008"/>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591056"/>
            <a:ext cx="10369296" cy="987552"/>
          </a:xfrm>
          <a:prstGeom prst="rect">
            <a:avLst/>
          </a:prstGeom>
          <a:noFill/>
        </p:spPr>
        <p:txBody>
          <a:bodyPr wrap="square" lIns="0" tIns="0" rIns="0" bIns="0">
            <a:spAutoFit/>
          </a:bodyPr>
          <a:lstStyle/>
          <a:p>
            <a:pPr>
              <a:spcAft>
                <a:spcPts val="400"/>
              </a:spcAft>
              <a:defRPr sz="1100">
                <a:latin typeface="Segoe UI"/>
              </a:defRPr>
            </a:pPr>
            <a:r>
              <a:rPr b="1">
                <a:solidFill>
                  <a:srgbClr val="C2410C"/>
                </a:solidFill>
              </a:rPr>
              <a:t>Bản chất hiện tượng: </a:t>
            </a:r>
            <a:r>
              <a:rPr>
                <a:solidFill>
                  <a:srgbClr val="0F172A"/>
                </a:solidFill>
              </a:rPr>
              <a:t>Sự kiện bất đồng bộ từ ngoại vi UART gửi tới CPU qua bộ điều khiển ngắt AXI INTC (tín hiệu irq_external = 1).</a:t>
            </a:r>
          </a:p>
          <a:p>
            <a:pPr>
              <a:spcAft>
                <a:spcPts val="400"/>
              </a:spcAft>
              <a:defRPr sz="1050">
                <a:latin typeface="Segoe UI"/>
              </a:defRPr>
            </a:pPr>
            <a:r>
              <a:rPr b="1">
                <a:solidFill>
                  <a:srgbClr val="0F172A"/>
                </a:solidFill>
              </a:rPr>
              <a:t>Khi nào xảy ra: </a:t>
            </a:r>
            <a:r>
              <a:rPr>
                <a:solidFill>
                  <a:srgbClr val="334155"/>
                </a:solidFill>
              </a:rPr>
              <a:t>Khi ngoại vi gửi yêu cầu phục vụ, đồng thời ngắt toàn cục mstatus.MIE = 1 và mie.MEIE = 1.</a:t>
            </a:r>
          </a:p>
          <a:p>
            <a:pPr>
              <a:defRPr sz="1050">
                <a:latin typeface="Segoe UI"/>
              </a:defRPr>
            </a:pPr>
            <a:r>
              <a:rPr b="1">
                <a:solidFill>
                  <a:srgbClr val="EF4444"/>
                </a:solidFill>
              </a:rPr>
              <a:t>Nguy cơ nếu không xử lý: </a:t>
            </a:r>
            <a:r>
              <a:rPr>
                <a:solidFill>
                  <a:srgbClr val="334155"/>
                </a:solidFill>
              </a:rPr>
              <a:t>Nếu dừng CPU đột ngột, lệnh đang chạy dở sẽ bị hỏng; nếu lệnh MRET đọc địa chỉ cũ sẽ làm CPU bị kẹt trong vòng lặp vô tận.</a:t>
            </a:r>
          </a:p>
        </p:txBody>
      </p:sp>
      <p:sp>
        <p:nvSpPr>
          <p:cNvPr id="8" name="Rounded Rectangle 7"/>
          <p:cNvSpPr/>
          <p:nvPr/>
        </p:nvSpPr>
        <p:spPr>
          <a:xfrm>
            <a:off x="731520"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41248" y="2962656"/>
            <a:ext cx="2322576" cy="347472"/>
          </a:xfrm>
          <a:prstGeom prst="roundRect">
            <a:avLst/>
          </a:prstGeom>
          <a:solidFill>
            <a:srgbClr val="FFF7ED"/>
          </a:solidFill>
          <a:ln w="12700">
            <a:solidFill>
              <a:srgbClr val="F26F2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F26F21"/>
                </a:solidFill>
              </a:defRPr>
            </a:pPr>
            <a:r>
              <a:t>BƯỚC 1 • Nhận Tín Hiệu Ngắt</a:t>
            </a:r>
          </a:p>
        </p:txBody>
      </p:sp>
      <p:sp>
        <p:nvSpPr>
          <p:cNvPr id="10" name="TextBox 9"/>
          <p:cNvSpPr txBox="1"/>
          <p:nvPr/>
        </p:nvSpPr>
        <p:spPr>
          <a:xfrm>
            <a:off x="877824"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Ngoại vi báo ngắt qua chân irq_external.</a:t>
            </a:r>
          </a:p>
          <a:p>
            <a:pPr>
              <a:spcAft>
                <a:spcPts val="400"/>
              </a:spcAft>
              <a:defRPr sz="1080">
                <a:solidFill>
                  <a:srgbClr val="334155"/>
                </a:solidFill>
                <a:latin typeface="Segoe UI"/>
              </a:defRPr>
            </a:pPr>
            <a:r>
              <a:t>• Kiểm tra ngắt toàn cục MIE=1 và MEIE=1.</a:t>
            </a:r>
          </a:p>
          <a:p>
            <a:pPr>
              <a:spcAft>
                <a:spcPts val="400"/>
              </a:spcAft>
              <a:defRPr sz="1080">
                <a:solidFill>
                  <a:srgbClr val="334155"/>
                </a:solidFill>
                <a:latin typeface="Segoe UI"/>
              </a:defRPr>
            </a:pPr>
            <a:r>
              <a:t>• Đảm bảo không có lỗi ưu tiên cao hơn.</a:t>
            </a:r>
          </a:p>
        </p:txBody>
      </p:sp>
      <p:sp>
        <p:nvSpPr>
          <p:cNvPr id="11" name="Rounded Rectangle 10"/>
          <p:cNvSpPr/>
          <p:nvPr/>
        </p:nvSpPr>
        <p:spPr>
          <a:xfrm>
            <a:off x="3456432"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66160" y="2962656"/>
            <a:ext cx="2322576" cy="347472"/>
          </a:xfrm>
          <a:prstGeom prst="roundRect">
            <a:avLst/>
          </a:prstGeom>
          <a:solidFill>
            <a:srgbClr val="F1F5F9"/>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0284C7"/>
                </a:solidFill>
              </a:defRPr>
            </a:pPr>
            <a:r>
              <a:t>BƯỚC 2 • Tiêm Ngắt Dạng Token</a:t>
            </a:r>
          </a:p>
        </p:txBody>
      </p:sp>
      <p:sp>
        <p:nvSpPr>
          <p:cNvPr id="13" name="TextBox 12"/>
          <p:cNvSpPr txBox="1"/>
          <p:nvPr/>
        </p:nvSpPr>
        <p:spPr>
          <a:xfrm>
            <a:off x="3602736"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Tiêm ngắt vào tầng IF dạng một lệnh đặc biệt.</a:t>
            </a:r>
          </a:p>
          <a:p>
            <a:pPr>
              <a:spcAft>
                <a:spcPts val="400"/>
              </a:spcAft>
              <a:defRPr sz="1080">
                <a:solidFill>
                  <a:srgbClr val="334155"/>
                </a:solidFill>
                <a:latin typeface="Segoe UI"/>
              </a:defRPr>
            </a:pPr>
            <a:r>
              <a:t>• Toàn bộ các lệnh già hơn ở ID, EX, MEM, WB tiếp tục được thực thi và ghi kết quả bình thường.</a:t>
            </a:r>
          </a:p>
        </p:txBody>
      </p:sp>
      <p:sp>
        <p:nvSpPr>
          <p:cNvPr id="14" name="Rounded Rectangle 13"/>
          <p:cNvSpPr/>
          <p:nvPr/>
        </p:nvSpPr>
        <p:spPr>
          <a:xfrm>
            <a:off x="6181344"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91072" y="2962656"/>
            <a:ext cx="2322576" cy="347472"/>
          </a:xfrm>
          <a:prstGeom prst="roundRect">
            <a:avLst/>
          </a:prstGeom>
          <a:solidFill>
            <a:srgbClr val="F1F5F9"/>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EF4444"/>
                </a:solidFill>
              </a:defRPr>
            </a:pPr>
            <a:r>
              <a:t>BƯỚC 3 • Vào Chương Trình Ngắt</a:t>
            </a:r>
          </a:p>
        </p:txBody>
      </p:sp>
      <p:sp>
        <p:nvSpPr>
          <p:cNvPr id="16" name="TextBox 15"/>
          <p:cNvSpPr txBox="1"/>
          <p:nvPr/>
        </p:nvSpPr>
        <p:spPr>
          <a:xfrm>
            <a:off x="6327648"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Khi mã ngắt tới tầng WB -&gt; Trap nổ.</a:t>
            </a:r>
          </a:p>
          <a:p>
            <a:pPr>
              <a:spcAft>
                <a:spcPts val="400"/>
              </a:spcAft>
              <a:defRPr sz="1080">
                <a:solidFill>
                  <a:srgbClr val="334155"/>
                </a:solidFill>
                <a:latin typeface="Segoe UI"/>
              </a:defRPr>
            </a:pPr>
            <a:r>
              <a:t>• Lưu chính xác địa chỉ lệnh bị ngắt vào mepc.</a:t>
            </a:r>
          </a:p>
          <a:p>
            <a:pPr>
              <a:spcAft>
                <a:spcPts val="400"/>
              </a:spcAft>
              <a:defRPr sz="1080">
                <a:solidFill>
                  <a:srgbClr val="334155"/>
                </a:solidFill>
                <a:latin typeface="Segoe UI"/>
              </a:defRPr>
            </a:pPr>
            <a:r>
              <a:t>• Khóa ngắt toàn cục và nhảy vào Handler.</a:t>
            </a:r>
          </a:p>
        </p:txBody>
      </p:sp>
      <p:sp>
        <p:nvSpPr>
          <p:cNvPr id="17" name="Rounded Rectangle 16"/>
          <p:cNvSpPr/>
          <p:nvPr/>
        </p:nvSpPr>
        <p:spPr>
          <a:xfrm>
            <a:off x="8906256" y="2852928"/>
            <a:ext cx="2542032"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015984" y="2962656"/>
            <a:ext cx="2322576" cy="347472"/>
          </a:xfrm>
          <a:prstGeom prst="roundRect">
            <a:avLst/>
          </a:prstGeom>
          <a:solidFill>
            <a:srgbClr val="F1F5F9"/>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10B981"/>
                </a:solidFill>
              </a:defRPr>
            </a:pPr>
            <a:r>
              <a:t>BƯỚC 4 • Quay Về Bằng MRET</a:t>
            </a:r>
          </a:p>
        </p:txBody>
      </p:sp>
      <p:sp>
        <p:nvSpPr>
          <p:cNvPr id="19" name="TextBox 18"/>
          <p:cNvSpPr txBox="1"/>
          <p:nvPr/>
        </p:nvSpPr>
        <p:spPr>
          <a:xfrm>
            <a:off x="9052560" y="3383280"/>
            <a:ext cx="2249424" cy="2212848"/>
          </a:xfrm>
          <a:prstGeom prst="rect">
            <a:avLst/>
          </a:prstGeom>
          <a:noFill/>
        </p:spPr>
        <p:txBody>
          <a:bodyPr wrap="square" lIns="0" tIns="0" rIns="0" bIns="0">
            <a:spAutoFit/>
          </a:bodyPr>
          <a:lstStyle/>
          <a:p>
            <a:pPr>
              <a:spcAft>
                <a:spcPts val="400"/>
              </a:spcAft>
              <a:defRPr sz="1080">
                <a:solidFill>
                  <a:srgbClr val="334155"/>
                </a:solidFill>
                <a:latin typeface="Segoe UI"/>
              </a:defRPr>
            </a:pPr>
            <a:r>
              <a:t>• Handler xử lý xong gọi lệnh MRET.</a:t>
            </a:r>
          </a:p>
          <a:p>
            <a:pPr>
              <a:spcAft>
                <a:spcPts val="400"/>
              </a:spcAft>
              <a:defRPr sz="1080">
                <a:solidFill>
                  <a:srgbClr val="334155"/>
                </a:solidFill>
                <a:latin typeface="Segoe UI"/>
              </a:defRPr>
            </a:pPr>
            <a:r>
              <a:t>• Mở lại ngắt toàn cục (MIE &lt;= MPIE).</a:t>
            </a:r>
          </a:p>
          <a:p>
            <a:pPr>
              <a:spcAft>
                <a:spcPts val="400"/>
              </a:spcAft>
              <a:defRPr sz="1080">
                <a:solidFill>
                  <a:srgbClr val="334155"/>
                </a:solidFill>
                <a:latin typeface="Segoe UI"/>
              </a:defRPr>
            </a:pPr>
            <a:r>
              <a:t>• MEPC Forwarding đưa CPU quay về đúng lệnh cũ để chạy tiếp, không bao giờ bị kẹt.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3. LUỒNG XỬ LÝ</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3.6 Phân Loại 8 Tình Huống Sinh Trap</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21/28</a:t>
            </a:r>
          </a:p>
        </p:txBody>
      </p:sp>
      <p:sp>
        <p:nvSpPr>
          <p:cNvPr id="6" name="TextBox 5"/>
          <p:cNvSpPr txBox="1"/>
          <p:nvPr/>
        </p:nvSpPr>
        <p:spPr>
          <a:xfrm>
            <a:off x="731520" y="1737360"/>
            <a:ext cx="10698480" cy="219456"/>
          </a:xfrm>
          <a:prstGeom prst="rect">
            <a:avLst/>
          </a:prstGeom>
          <a:noFill/>
        </p:spPr>
        <p:txBody>
          <a:bodyPr wrap="square" lIns="0" tIns="0" rIns="0" bIns="0">
            <a:spAutoFit/>
          </a:bodyPr>
          <a:lstStyle/>
          <a:p>
            <a:pPr>
              <a:defRPr sz="900" b="1">
                <a:solidFill>
                  <a:srgbClr val="C2410C"/>
                </a:solidFill>
                <a:latin typeface="Segoe UI"/>
              </a:defRPr>
            </a:pPr>
            <a:r>
              <a:t>CÁC TÌNH HUỐNG SINH TRAP MÀ CORE PHÁT HIỆN ĐƯỢC.</a:t>
            </a:r>
          </a:p>
        </p:txBody>
      </p:sp>
      <p:graphicFrame>
        <p:nvGraphicFramePr>
          <p:cNvPr id="7" name="Table 6"/>
          <p:cNvGraphicFramePr>
            <a:graphicFrameLocks noGrp="1"/>
          </p:cNvGraphicFramePr>
          <p:nvPr/>
        </p:nvGraphicFramePr>
        <p:xfrm>
          <a:off x="731520" y="1975104"/>
          <a:ext cx="10698480" cy="4151376"/>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4297680">
                  <a:extLst>
                    <a:ext uri="{9D8B030D-6E8A-4147-A177-3AD203B41FA5}">
                      <a16:colId xmlns:a16="http://schemas.microsoft.com/office/drawing/2014/main" val="20003"/>
                    </a:ext>
                  </a:extLst>
                </a:gridCol>
              </a:tblGrid>
              <a:tr h="461264">
                <a:tc>
                  <a:txBody>
                    <a:bodyPr/>
                    <a:lstStyle/>
                    <a:p>
                      <a:pPr>
                        <a:defRPr sz="950" b="1">
                          <a:solidFill>
                            <a:srgbClr val="0F172A"/>
                          </a:solidFill>
                          <a:latin typeface="Segoe UI"/>
                        </a:defRPr>
                      </a:pPr>
                      <a:r>
                        <a:t>Tình Huống Sinh Trap</a:t>
                      </a:r>
                    </a:p>
                  </a:txBody>
                  <a:tcPr>
                    <a:solidFill>
                      <a:srgbClr val="F1F5F9"/>
                    </a:solidFill>
                  </a:tcPr>
                </a:tc>
                <a:tc>
                  <a:txBody>
                    <a:bodyPr/>
                    <a:lstStyle/>
                    <a:p>
                      <a:pPr>
                        <a:defRPr sz="950" b="1">
                          <a:solidFill>
                            <a:srgbClr val="0F172A"/>
                          </a:solidFill>
                          <a:latin typeface="Segoe UI"/>
                        </a:defRPr>
                      </a:pPr>
                      <a:r>
                        <a:t>Khi Nào Xảy Ra</a:t>
                      </a:r>
                    </a:p>
                  </a:txBody>
                  <a:tcPr>
                    <a:solidFill>
                      <a:srgbClr val="F1F5F9"/>
                    </a:solidFill>
                  </a:tcPr>
                </a:tc>
                <a:tc>
                  <a:txBody>
                    <a:bodyPr/>
                    <a:lstStyle/>
                    <a:p>
                      <a:pPr>
                        <a:defRPr sz="950" b="1">
                          <a:solidFill>
                            <a:srgbClr val="0F172A"/>
                          </a:solidFill>
                          <a:latin typeface="Segoe UI"/>
                        </a:defRPr>
                      </a:pPr>
                      <a:r>
                        <a:t>Tầng Phát Hiện</a:t>
                      </a:r>
                    </a:p>
                  </a:txBody>
                  <a:tcPr>
                    <a:solidFill>
                      <a:srgbClr val="F1F5F9"/>
                    </a:solidFill>
                  </a:tcPr>
                </a:tc>
                <a:tc>
                  <a:txBody>
                    <a:bodyPr/>
                    <a:lstStyle/>
                    <a:p>
                      <a:pPr>
                        <a:defRPr sz="950" b="1">
                          <a:solidFill>
                            <a:srgbClr val="0F172A"/>
                          </a:solidFill>
                          <a:latin typeface="Segoe UI"/>
                        </a:defRPr>
                      </a:pPr>
                      <a:r>
                        <a:t>Thông Tin Chẩn Đoán Cho Handler</a:t>
                      </a:r>
                    </a:p>
                  </a:txBody>
                  <a:tcPr>
                    <a:solidFill>
                      <a:srgbClr val="F1F5F9"/>
                    </a:solidFill>
                  </a:tcPr>
                </a:tc>
                <a:extLst>
                  <a:ext uri="{0D108BD9-81ED-4DB2-BD59-A6C34878D82A}">
                    <a16:rowId xmlns:a16="http://schemas.microsoft.com/office/drawing/2014/main" val="10000"/>
                  </a:ext>
                </a:extLst>
              </a:tr>
              <a:tr h="461264">
                <a:tc>
                  <a:txBody>
                    <a:bodyPr/>
                    <a:lstStyle/>
                    <a:p>
                      <a:pPr>
                        <a:defRPr sz="900" b="1">
                          <a:solidFill>
                            <a:srgbClr val="0F172A"/>
                          </a:solidFill>
                          <a:latin typeface="Segoe UI"/>
                        </a:defRPr>
                      </a:pPr>
                      <a:r>
                        <a:t>Địa chỉ lệnh lệch</a:t>
                      </a:r>
                    </a:p>
                  </a:txBody>
                  <a:tcPr>
                    <a:solidFill>
                      <a:srgbClr val="FFFFFF"/>
                    </a:solidFill>
                  </a:tcPr>
                </a:tc>
                <a:tc>
                  <a:txBody>
                    <a:bodyPr/>
                    <a:lstStyle/>
                    <a:p>
                      <a:pPr>
                        <a:defRPr sz="900">
                          <a:solidFill>
                            <a:srgbClr val="334155"/>
                          </a:solidFill>
                          <a:latin typeface="Segoe UI"/>
                        </a:defRPr>
                      </a:pPr>
                      <a:r>
                        <a:t>Nhảy tới địa chỉ không chia hết cho 4</a:t>
                      </a:r>
                    </a:p>
                  </a:txBody>
                  <a:tcPr>
                    <a:solidFill>
                      <a:srgbClr val="FFFFFF"/>
                    </a:solidFill>
                  </a:tcPr>
                </a:tc>
                <a:tc>
                  <a:txBody>
                    <a:bodyPr/>
                    <a:lstStyle/>
                    <a:p>
                      <a:pPr>
                        <a:defRPr sz="900">
                          <a:solidFill>
                            <a:srgbClr val="334155"/>
                          </a:solidFill>
                          <a:latin typeface="Segoe UI"/>
                        </a:defRPr>
                      </a:pPr>
                      <a:r>
                        <a:t>IF</a:t>
                      </a:r>
                    </a:p>
                  </a:txBody>
                  <a:tcPr>
                    <a:solidFill>
                      <a:srgbClr val="FFFFFF"/>
                    </a:solidFill>
                  </a:tcPr>
                </a:tc>
                <a:tc>
                  <a:txBody>
                    <a:bodyPr/>
                    <a:lstStyle/>
                    <a:p>
                      <a:pPr>
                        <a:defRPr sz="900">
                          <a:solidFill>
                            <a:srgbClr val="334155"/>
                          </a:solidFill>
                          <a:latin typeface="Segoe UI"/>
                        </a:defRPr>
                      </a:pPr>
                      <a:r>
                        <a:t>mtval = địa chỉ lệnh sai</a:t>
                      </a:r>
                    </a:p>
                  </a:txBody>
                  <a:tcPr>
                    <a:solidFill>
                      <a:srgbClr val="FFFFFF"/>
                    </a:solidFill>
                  </a:tcPr>
                </a:tc>
                <a:extLst>
                  <a:ext uri="{0D108BD9-81ED-4DB2-BD59-A6C34878D82A}">
                    <a16:rowId xmlns:a16="http://schemas.microsoft.com/office/drawing/2014/main" val="10001"/>
                  </a:ext>
                </a:extLst>
              </a:tr>
              <a:tr h="461264">
                <a:tc>
                  <a:txBody>
                    <a:bodyPr/>
                    <a:lstStyle/>
                    <a:p>
                      <a:pPr>
                        <a:defRPr sz="900" b="1">
                          <a:solidFill>
                            <a:srgbClr val="0F172A"/>
                          </a:solidFill>
                          <a:latin typeface="Segoe UI"/>
                        </a:defRPr>
                      </a:pPr>
                      <a:r>
                        <a:t>Không đọc được lệnh</a:t>
                      </a:r>
                    </a:p>
                  </a:txBody>
                  <a:tcPr>
                    <a:solidFill>
                      <a:srgbClr val="F8FAFC"/>
                    </a:solidFill>
                  </a:tcPr>
                </a:tc>
                <a:tc>
                  <a:txBody>
                    <a:bodyPr/>
                    <a:lstStyle/>
                    <a:p>
                      <a:pPr>
                        <a:defRPr sz="900">
                          <a:solidFill>
                            <a:srgbClr val="334155"/>
                          </a:solidFill>
                          <a:latin typeface="Segoe UI"/>
                        </a:defRPr>
                      </a:pPr>
                      <a:r>
                        <a:t>AXI Error khi fetch bộ nhớ lệnh</a:t>
                      </a:r>
                    </a:p>
                  </a:txBody>
                  <a:tcPr>
                    <a:solidFill>
                      <a:srgbClr val="F8FAFC"/>
                    </a:solidFill>
                  </a:tcPr>
                </a:tc>
                <a:tc>
                  <a:txBody>
                    <a:bodyPr/>
                    <a:lstStyle/>
                    <a:p>
                      <a:pPr>
                        <a:defRPr sz="900">
                          <a:solidFill>
                            <a:srgbClr val="334155"/>
                          </a:solidFill>
                          <a:latin typeface="Segoe UI"/>
                        </a:defRPr>
                      </a:pPr>
                      <a:r>
                        <a:t>IF</a:t>
                      </a:r>
                    </a:p>
                  </a:txBody>
                  <a:tcPr>
                    <a:solidFill>
                      <a:srgbClr val="F8FAFC"/>
                    </a:solidFill>
                  </a:tcPr>
                </a:tc>
                <a:tc>
                  <a:txBody>
                    <a:bodyPr/>
                    <a:lstStyle/>
                    <a:p>
                      <a:pPr>
                        <a:defRPr sz="900">
                          <a:solidFill>
                            <a:srgbClr val="334155"/>
                          </a:solidFill>
                          <a:latin typeface="Segoe UI"/>
                        </a:defRPr>
                      </a:pPr>
                      <a:r>
                        <a:t>mtval = địa chỉ fetch sai</a:t>
                      </a:r>
                    </a:p>
                  </a:txBody>
                  <a:tcPr>
                    <a:solidFill>
                      <a:srgbClr val="F8FAFC"/>
                    </a:solidFill>
                  </a:tcPr>
                </a:tc>
                <a:extLst>
                  <a:ext uri="{0D108BD9-81ED-4DB2-BD59-A6C34878D82A}">
                    <a16:rowId xmlns:a16="http://schemas.microsoft.com/office/drawing/2014/main" val="10002"/>
                  </a:ext>
                </a:extLst>
              </a:tr>
              <a:tr h="461264">
                <a:tc>
                  <a:txBody>
                    <a:bodyPr/>
                    <a:lstStyle/>
                    <a:p>
                      <a:pPr>
                        <a:defRPr sz="900" b="1">
                          <a:solidFill>
                            <a:srgbClr val="0F172A"/>
                          </a:solidFill>
                          <a:latin typeface="Segoe UI"/>
                        </a:defRPr>
                      </a:pPr>
                      <a:r>
                        <a:t>Lệnh không hợp lệ</a:t>
                      </a:r>
                    </a:p>
                  </a:txBody>
                  <a:tcPr>
                    <a:solidFill>
                      <a:srgbClr val="FFFFFF"/>
                    </a:solidFill>
                  </a:tcPr>
                </a:tc>
                <a:tc>
                  <a:txBody>
                    <a:bodyPr/>
                    <a:lstStyle/>
                    <a:p>
                      <a:pPr>
                        <a:defRPr sz="900">
                          <a:solidFill>
                            <a:srgbClr val="334155"/>
                          </a:solidFill>
                          <a:latin typeface="Segoe UI"/>
                        </a:defRPr>
                      </a:pPr>
                      <a:r>
                        <a:t>Mã opcode lạ hoặc vi phạm bit bắt buộc</a:t>
                      </a:r>
                    </a:p>
                  </a:txBody>
                  <a:tcPr>
                    <a:solidFill>
                      <a:srgbClr val="FFFFFF"/>
                    </a:solidFill>
                  </a:tcPr>
                </a:tc>
                <a:tc>
                  <a:txBody>
                    <a:bodyPr/>
                    <a:lstStyle/>
                    <a:p>
                      <a:pPr>
                        <a:defRPr sz="900">
                          <a:solidFill>
                            <a:srgbClr val="334155"/>
                          </a:solidFill>
                          <a:latin typeface="Segoe UI"/>
                        </a:defRPr>
                      </a:pPr>
                      <a:r>
                        <a:t>ID</a:t>
                      </a:r>
                    </a:p>
                  </a:txBody>
                  <a:tcPr>
                    <a:solidFill>
                      <a:srgbClr val="FFFFFF"/>
                    </a:solidFill>
                  </a:tcPr>
                </a:tc>
                <a:tc>
                  <a:txBody>
                    <a:bodyPr/>
                    <a:lstStyle/>
                    <a:p>
                      <a:pPr>
                        <a:defRPr sz="900">
                          <a:solidFill>
                            <a:srgbClr val="334155"/>
                          </a:solidFill>
                          <a:latin typeface="Segoe UI"/>
                        </a:defRPr>
                      </a:pPr>
                      <a:r>
                        <a:t>mtval = mã opcode gây lỗi</a:t>
                      </a:r>
                    </a:p>
                  </a:txBody>
                  <a:tcPr>
                    <a:solidFill>
                      <a:srgbClr val="FFFFFF"/>
                    </a:solidFill>
                  </a:tcPr>
                </a:tc>
                <a:extLst>
                  <a:ext uri="{0D108BD9-81ED-4DB2-BD59-A6C34878D82A}">
                    <a16:rowId xmlns:a16="http://schemas.microsoft.com/office/drawing/2014/main" val="10003"/>
                  </a:ext>
                </a:extLst>
              </a:tr>
              <a:tr h="461264">
                <a:tc>
                  <a:txBody>
                    <a:bodyPr/>
                    <a:lstStyle/>
                    <a:p>
                      <a:pPr>
                        <a:defRPr sz="900" b="1">
                          <a:solidFill>
                            <a:srgbClr val="0F172A"/>
                          </a:solidFill>
                          <a:latin typeface="Segoe UI"/>
                        </a:defRPr>
                      </a:pPr>
                      <a:r>
                        <a:t>Điểm dừng gỡ lỗi</a:t>
                      </a:r>
                    </a:p>
                  </a:txBody>
                  <a:tcPr>
                    <a:solidFill>
                      <a:srgbClr val="F8FAFC"/>
                    </a:solidFill>
                  </a:tcPr>
                </a:tc>
                <a:tc>
                  <a:txBody>
                    <a:bodyPr/>
                    <a:lstStyle/>
                    <a:p>
                      <a:pPr>
                        <a:defRPr sz="900">
                          <a:solidFill>
                            <a:srgbClr val="334155"/>
                          </a:solidFill>
                          <a:latin typeface="Segoe UI"/>
                        </a:defRPr>
                      </a:pPr>
                      <a:r>
                        <a:t>Chương trình gọi lệnh EBREAK</a:t>
                      </a:r>
                    </a:p>
                  </a:txBody>
                  <a:tcPr>
                    <a:solidFill>
                      <a:srgbClr val="F8FAFC"/>
                    </a:solidFill>
                  </a:tcPr>
                </a:tc>
                <a:tc>
                  <a:txBody>
                    <a:bodyPr/>
                    <a:lstStyle/>
                    <a:p>
                      <a:pPr>
                        <a:defRPr sz="900">
                          <a:solidFill>
                            <a:srgbClr val="334155"/>
                          </a:solidFill>
                          <a:latin typeface="Segoe UI"/>
                        </a:defRPr>
                      </a:pPr>
                      <a:r>
                        <a:t>ID</a:t>
                      </a:r>
                    </a:p>
                  </a:txBody>
                  <a:tcPr>
                    <a:solidFill>
                      <a:srgbClr val="F8FAFC"/>
                    </a:solidFill>
                  </a:tcPr>
                </a:tc>
                <a:tc>
                  <a:txBody>
                    <a:bodyPr/>
                    <a:lstStyle/>
                    <a:p>
                      <a:pPr>
                        <a:defRPr sz="900">
                          <a:solidFill>
                            <a:srgbClr val="334155"/>
                          </a:solidFill>
                          <a:latin typeface="Segoe UI"/>
                        </a:defRPr>
                      </a:pPr>
                      <a:r>
                        <a:t>mepc = PC của lệnh EBREAK</a:t>
                      </a:r>
                    </a:p>
                  </a:txBody>
                  <a:tcPr>
                    <a:solidFill>
                      <a:srgbClr val="F8FAFC"/>
                    </a:solidFill>
                  </a:tcPr>
                </a:tc>
                <a:extLst>
                  <a:ext uri="{0D108BD9-81ED-4DB2-BD59-A6C34878D82A}">
                    <a16:rowId xmlns:a16="http://schemas.microsoft.com/office/drawing/2014/main" val="10004"/>
                  </a:ext>
                </a:extLst>
              </a:tr>
              <a:tr h="461264">
                <a:tc>
                  <a:txBody>
                    <a:bodyPr/>
                    <a:lstStyle/>
                    <a:p>
                      <a:pPr>
                        <a:defRPr sz="900" b="1">
                          <a:solidFill>
                            <a:srgbClr val="0F172A"/>
                          </a:solidFill>
                          <a:latin typeface="Segoe UI"/>
                        </a:defRPr>
                      </a:pPr>
                      <a:r>
                        <a:t>Gọi hàm hệ thống</a:t>
                      </a:r>
                    </a:p>
                  </a:txBody>
                  <a:tcPr>
                    <a:solidFill>
                      <a:srgbClr val="FFFFFF"/>
                    </a:solidFill>
                  </a:tcPr>
                </a:tc>
                <a:tc>
                  <a:txBody>
                    <a:bodyPr/>
                    <a:lstStyle/>
                    <a:p>
                      <a:pPr>
                        <a:defRPr sz="900">
                          <a:solidFill>
                            <a:srgbClr val="334155"/>
                          </a:solidFill>
                          <a:latin typeface="Segoe UI"/>
                        </a:defRPr>
                      </a:pPr>
                      <a:r>
                        <a:t>Chương trình gọi lệnh ECALL</a:t>
                      </a:r>
                    </a:p>
                  </a:txBody>
                  <a:tcPr>
                    <a:solidFill>
                      <a:srgbClr val="FFFFFF"/>
                    </a:solidFill>
                  </a:tcPr>
                </a:tc>
                <a:tc>
                  <a:txBody>
                    <a:bodyPr/>
                    <a:lstStyle/>
                    <a:p>
                      <a:pPr>
                        <a:defRPr sz="900">
                          <a:solidFill>
                            <a:srgbClr val="334155"/>
                          </a:solidFill>
                          <a:latin typeface="Segoe UI"/>
                        </a:defRPr>
                      </a:pPr>
                      <a:r>
                        <a:t>ID</a:t>
                      </a:r>
                    </a:p>
                  </a:txBody>
                  <a:tcPr>
                    <a:solidFill>
                      <a:srgbClr val="FFFFFF"/>
                    </a:solidFill>
                  </a:tcPr>
                </a:tc>
                <a:tc>
                  <a:txBody>
                    <a:bodyPr/>
                    <a:lstStyle/>
                    <a:p>
                      <a:pPr>
                        <a:defRPr sz="900">
                          <a:solidFill>
                            <a:srgbClr val="334155"/>
                          </a:solidFill>
                          <a:latin typeface="Segoe UI"/>
                        </a:defRPr>
                      </a:pPr>
                      <a:r>
                        <a:t>mepc = PC của lệnh ECALL</a:t>
                      </a:r>
                    </a:p>
                  </a:txBody>
                  <a:tcPr>
                    <a:solidFill>
                      <a:srgbClr val="FFFFFF"/>
                    </a:solidFill>
                  </a:tcPr>
                </a:tc>
                <a:extLst>
                  <a:ext uri="{0D108BD9-81ED-4DB2-BD59-A6C34878D82A}">
                    <a16:rowId xmlns:a16="http://schemas.microsoft.com/office/drawing/2014/main" val="10005"/>
                  </a:ext>
                </a:extLst>
              </a:tr>
              <a:tr h="461264">
                <a:tc>
                  <a:txBody>
                    <a:bodyPr/>
                    <a:lstStyle/>
                    <a:p>
                      <a:pPr>
                        <a:defRPr sz="900" b="1">
                          <a:solidFill>
                            <a:srgbClr val="0F172A"/>
                          </a:solidFill>
                          <a:latin typeface="Segoe UI"/>
                        </a:defRPr>
                      </a:pPr>
                      <a:r>
                        <a:t>Địa chỉ dữ liệu lệch</a:t>
                      </a:r>
                    </a:p>
                  </a:txBody>
                  <a:tcPr>
                    <a:solidFill>
                      <a:srgbClr val="F8FAFC"/>
                    </a:solidFill>
                  </a:tcPr>
                </a:tc>
                <a:tc>
                  <a:txBody>
                    <a:bodyPr/>
                    <a:lstStyle/>
                    <a:p>
                      <a:pPr>
                        <a:defRPr sz="900">
                          <a:solidFill>
                            <a:srgbClr val="334155"/>
                          </a:solidFill>
                          <a:latin typeface="Segoe UI"/>
                        </a:defRPr>
                      </a:pPr>
                      <a:r>
                        <a:t>Load/Store Word không chia hết 4, Half không chia hết 2</a:t>
                      </a:r>
                    </a:p>
                  </a:txBody>
                  <a:tcPr>
                    <a:solidFill>
                      <a:srgbClr val="F8FAFC"/>
                    </a:solidFill>
                  </a:tcPr>
                </a:tc>
                <a:tc>
                  <a:txBody>
                    <a:bodyPr/>
                    <a:lstStyle/>
                    <a:p>
                      <a:pPr>
                        <a:defRPr sz="900">
                          <a:solidFill>
                            <a:srgbClr val="334155"/>
                          </a:solidFill>
                          <a:latin typeface="Segoe UI"/>
                        </a:defRPr>
                      </a:pPr>
                      <a:r>
                        <a:t>MEM</a:t>
                      </a:r>
                    </a:p>
                  </a:txBody>
                  <a:tcPr>
                    <a:solidFill>
                      <a:srgbClr val="F8FAFC"/>
                    </a:solidFill>
                  </a:tcPr>
                </a:tc>
                <a:tc>
                  <a:txBody>
                    <a:bodyPr/>
                    <a:lstStyle/>
                    <a:p>
                      <a:pPr>
                        <a:defRPr sz="900">
                          <a:solidFill>
                            <a:srgbClr val="334155"/>
                          </a:solidFill>
                          <a:latin typeface="Segoe UI"/>
                        </a:defRPr>
                      </a:pPr>
                      <a:r>
                        <a:t>mtval = địa chỉ dữ liệu sai</a:t>
                      </a:r>
                    </a:p>
                  </a:txBody>
                  <a:tcPr>
                    <a:solidFill>
                      <a:srgbClr val="F8FAFC"/>
                    </a:solidFill>
                  </a:tcPr>
                </a:tc>
                <a:extLst>
                  <a:ext uri="{0D108BD9-81ED-4DB2-BD59-A6C34878D82A}">
                    <a16:rowId xmlns:a16="http://schemas.microsoft.com/office/drawing/2014/main" val="10006"/>
                  </a:ext>
                </a:extLst>
              </a:tr>
              <a:tr h="461264">
                <a:tc>
                  <a:txBody>
                    <a:bodyPr/>
                    <a:lstStyle/>
                    <a:p>
                      <a:pPr>
                        <a:defRPr sz="900" b="1">
                          <a:solidFill>
                            <a:srgbClr val="0F172A"/>
                          </a:solidFill>
                          <a:latin typeface="Segoe UI"/>
                        </a:defRPr>
                      </a:pPr>
                      <a:r>
                        <a:t>Không truy cập được data</a:t>
                      </a:r>
                    </a:p>
                  </a:txBody>
                  <a:tcPr>
                    <a:solidFill>
                      <a:srgbClr val="FFFFFF"/>
                    </a:solidFill>
                  </a:tcPr>
                </a:tc>
                <a:tc>
                  <a:txBody>
                    <a:bodyPr/>
                    <a:lstStyle/>
                    <a:p>
                      <a:pPr>
                        <a:defRPr sz="900">
                          <a:solidFill>
                            <a:srgbClr val="334155"/>
                          </a:solidFill>
                          <a:latin typeface="Segoe UI"/>
                        </a:defRPr>
                      </a:pPr>
                      <a:r>
                        <a:t>AXI Error khi đọc/ghi ngoài vùng nhớ</a:t>
                      </a:r>
                    </a:p>
                  </a:txBody>
                  <a:tcPr>
                    <a:solidFill>
                      <a:srgbClr val="FFFFFF"/>
                    </a:solidFill>
                  </a:tcPr>
                </a:tc>
                <a:tc>
                  <a:txBody>
                    <a:bodyPr/>
                    <a:lstStyle/>
                    <a:p>
                      <a:pPr>
                        <a:defRPr sz="900">
                          <a:solidFill>
                            <a:srgbClr val="334155"/>
                          </a:solidFill>
                          <a:latin typeface="Segoe UI"/>
                        </a:defRPr>
                      </a:pPr>
                      <a:r>
                        <a:t>MEM</a:t>
                      </a:r>
                    </a:p>
                  </a:txBody>
                  <a:tcPr>
                    <a:solidFill>
                      <a:srgbClr val="FFFFFF"/>
                    </a:solidFill>
                  </a:tcPr>
                </a:tc>
                <a:tc>
                  <a:txBody>
                    <a:bodyPr/>
                    <a:lstStyle/>
                    <a:p>
                      <a:pPr>
                        <a:defRPr sz="900">
                          <a:solidFill>
                            <a:srgbClr val="334155"/>
                          </a:solidFill>
                          <a:latin typeface="Segoe UI"/>
                        </a:defRPr>
                      </a:pPr>
                      <a:r>
                        <a:t>mtval = địa chỉ truy cập sai</a:t>
                      </a:r>
                    </a:p>
                  </a:txBody>
                  <a:tcPr>
                    <a:solidFill>
                      <a:srgbClr val="FFFFFF"/>
                    </a:solidFill>
                  </a:tcPr>
                </a:tc>
                <a:extLst>
                  <a:ext uri="{0D108BD9-81ED-4DB2-BD59-A6C34878D82A}">
                    <a16:rowId xmlns:a16="http://schemas.microsoft.com/office/drawing/2014/main" val="10007"/>
                  </a:ext>
                </a:extLst>
              </a:tr>
              <a:tr h="461264">
                <a:tc>
                  <a:txBody>
                    <a:bodyPr/>
                    <a:lstStyle/>
                    <a:p>
                      <a:pPr>
                        <a:defRPr sz="900" b="1">
                          <a:solidFill>
                            <a:srgbClr val="0F172A"/>
                          </a:solidFill>
                          <a:latin typeface="Segoe UI"/>
                        </a:defRPr>
                      </a:pPr>
                      <a:r>
                        <a:t>Ngắt ngoài ngoại vi</a:t>
                      </a:r>
                    </a:p>
                  </a:txBody>
                  <a:tcPr>
                    <a:solidFill>
                      <a:srgbClr val="F8FAFC"/>
                    </a:solidFill>
                  </a:tcPr>
                </a:tc>
                <a:tc>
                  <a:txBody>
                    <a:bodyPr/>
                    <a:lstStyle/>
                    <a:p>
                      <a:pPr>
                        <a:defRPr sz="900">
                          <a:solidFill>
                            <a:srgbClr val="334155"/>
                          </a:solidFill>
                          <a:latin typeface="Segoe UI"/>
                        </a:defRPr>
                      </a:pPr>
                      <a:r>
                        <a:t>UART Lite báo việc qua AXI INTC</a:t>
                      </a:r>
                    </a:p>
                  </a:txBody>
                  <a:tcPr>
                    <a:solidFill>
                      <a:srgbClr val="F8FAFC"/>
                    </a:solidFill>
                  </a:tcPr>
                </a:tc>
                <a:tc>
                  <a:txBody>
                    <a:bodyPr/>
                    <a:lstStyle/>
                    <a:p>
                      <a:pPr>
                        <a:defRPr sz="900">
                          <a:solidFill>
                            <a:srgbClr val="334155"/>
                          </a:solidFill>
                          <a:latin typeface="Segoe UI"/>
                        </a:defRPr>
                      </a:pPr>
                      <a:r>
                        <a:t>IF</a:t>
                      </a:r>
                    </a:p>
                  </a:txBody>
                  <a:tcPr>
                    <a:solidFill>
                      <a:srgbClr val="F8FAFC"/>
                    </a:solidFill>
                  </a:tcPr>
                </a:tc>
                <a:tc>
                  <a:txBody>
                    <a:bodyPr/>
                    <a:lstStyle/>
                    <a:p>
                      <a:pPr>
                        <a:defRPr sz="900">
                          <a:solidFill>
                            <a:srgbClr val="334155"/>
                          </a:solidFill>
                          <a:latin typeface="Segoe UI"/>
                        </a:defRPr>
                      </a:pPr>
                      <a:r>
                        <a:t>mcause = 0x8000_000B (Machine External IRQ)</a:t>
                      </a:r>
                    </a:p>
                  </a:txBody>
                  <a:tcPr>
                    <a:solidFill>
                      <a:srgbClr val="F8FAFC"/>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4. ĐIỂM SÁNG KIỂM CHỨNG</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4.1 Chiến Lược Kiểm Chứng 3 Lớp &amp; Kết Quả 101/101 PASS</a:t>
            </a:r>
          </a:p>
        </p:txBody>
      </p:sp>
      <p:sp>
        <p:nvSpPr>
          <p:cNvPr id="4" name="TextBox 3"/>
          <p:cNvSpPr txBox="1"/>
          <p:nvPr/>
        </p:nvSpPr>
        <p:spPr>
          <a:xfrm>
            <a:off x="731520" y="1115568"/>
            <a:ext cx="10698480" cy="256032"/>
          </a:xfrm>
          <a:prstGeom prst="rect">
            <a:avLst/>
          </a:prstGeom>
          <a:noFill/>
        </p:spPr>
        <p:txBody>
          <a:bodyPr wrap="square" lIns="0" tIns="0" rIns="0" bIns="0">
            <a:spAutoFit/>
          </a:bodyPr>
          <a:lstStyle/>
          <a:p>
            <a:pPr>
              <a:defRPr sz="1050">
                <a:solidFill>
                  <a:srgbClr val="64748B"/>
                </a:solidFill>
                <a:latin typeface="Segoe UI"/>
              </a:defRPr>
            </a:pPr>
            <a:r>
              <a:t>Kiểm thử tự động self-checking phân cấp từ Unit RTL, vi kiến trúc đến chuẩn quốc tế</a:t>
            </a:r>
          </a:p>
        </p:txBody>
      </p:sp>
      <p:sp>
        <p:nvSpPr>
          <p:cNvPr id="5" name="Rectangle 4"/>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22/28</a:t>
            </a:r>
          </a:p>
        </p:txBody>
      </p:sp>
      <p:sp>
        <p:nvSpPr>
          <p:cNvPr id="7" name="TextBox 6"/>
          <p:cNvSpPr txBox="1"/>
          <p:nvPr/>
        </p:nvSpPr>
        <p:spPr>
          <a:xfrm>
            <a:off x="731520" y="1691640"/>
            <a:ext cx="3291840" cy="1097280"/>
          </a:xfrm>
          <a:prstGeom prst="rect">
            <a:avLst/>
          </a:prstGeom>
          <a:noFill/>
        </p:spPr>
        <p:txBody>
          <a:bodyPr wrap="square" lIns="0" tIns="0" rIns="0" bIns="0">
            <a:spAutoFit/>
          </a:bodyPr>
          <a:lstStyle/>
          <a:p>
            <a:pPr>
              <a:defRPr sz="3200" b="1">
                <a:solidFill>
                  <a:srgbClr val="F26F21"/>
                </a:solidFill>
                <a:latin typeface="Segoe UI"/>
              </a:defRPr>
            </a:pPr>
            <a:r>
              <a:t>21 / 21</a:t>
            </a:r>
          </a:p>
          <a:p>
            <a:pPr>
              <a:spcBef>
                <a:spcPts val="200"/>
              </a:spcBef>
              <a:defRPr sz="1100" b="1">
                <a:solidFill>
                  <a:srgbClr val="0F172A"/>
                </a:solidFill>
                <a:latin typeface="Segoe UI"/>
              </a:defRPr>
            </a:pPr>
            <a:r>
              <a:t>Unit &amp; Integration</a:t>
            </a:r>
          </a:p>
          <a:p>
            <a:pPr>
              <a:defRPr sz="900">
                <a:solidFill>
                  <a:srgbClr val="64748B"/>
                </a:solidFill>
                <a:latin typeface="Segoe UI"/>
              </a:defRPr>
            </a:pPr>
            <a:r>
              <a:t>DUT: Từng khối + Core + AXI IP</a:t>
            </a:r>
          </a:p>
        </p:txBody>
      </p:sp>
      <p:sp>
        <p:nvSpPr>
          <p:cNvPr id="8" name="TextBox 7"/>
          <p:cNvSpPr txBox="1"/>
          <p:nvPr/>
        </p:nvSpPr>
        <p:spPr>
          <a:xfrm>
            <a:off x="4389120" y="1691640"/>
            <a:ext cx="3291840" cy="1097280"/>
          </a:xfrm>
          <a:prstGeom prst="rect">
            <a:avLst/>
          </a:prstGeom>
          <a:noFill/>
        </p:spPr>
        <p:txBody>
          <a:bodyPr wrap="square" lIns="0" tIns="0" rIns="0" bIns="0">
            <a:spAutoFit/>
          </a:bodyPr>
          <a:lstStyle/>
          <a:p>
            <a:pPr>
              <a:defRPr sz="3200" b="1">
                <a:solidFill>
                  <a:srgbClr val="F26F21"/>
                </a:solidFill>
                <a:latin typeface="Segoe UI"/>
              </a:defRPr>
            </a:pPr>
            <a:r>
              <a:t>30 / 30</a:t>
            </a:r>
          </a:p>
          <a:p>
            <a:pPr>
              <a:spcBef>
                <a:spcPts val="200"/>
              </a:spcBef>
              <a:defRPr sz="1100" b="1">
                <a:solidFill>
                  <a:srgbClr val="0F172A"/>
                </a:solidFill>
                <a:latin typeface="Segoe UI"/>
              </a:defRPr>
            </a:pPr>
            <a:r>
              <a:t>Mini Architectural</a:t>
            </a:r>
          </a:p>
          <a:p>
            <a:pPr>
              <a:defRPr sz="900">
                <a:solidFill>
                  <a:srgbClr val="64748B"/>
                </a:solidFill>
                <a:latin typeface="Segoe UI"/>
              </a:defRPr>
            </a:pPr>
            <a:r>
              <a:t>DUT: Lõi rv32i_core (có trễ RAM)</a:t>
            </a:r>
          </a:p>
        </p:txBody>
      </p:sp>
      <p:sp>
        <p:nvSpPr>
          <p:cNvPr id="9" name="TextBox 8"/>
          <p:cNvSpPr txBox="1"/>
          <p:nvPr/>
        </p:nvSpPr>
        <p:spPr>
          <a:xfrm>
            <a:off x="8046720" y="1691640"/>
            <a:ext cx="3291840" cy="1097280"/>
          </a:xfrm>
          <a:prstGeom prst="rect">
            <a:avLst/>
          </a:prstGeom>
          <a:noFill/>
        </p:spPr>
        <p:txBody>
          <a:bodyPr wrap="square" lIns="0" tIns="0" rIns="0" bIns="0">
            <a:spAutoFit/>
          </a:bodyPr>
          <a:lstStyle/>
          <a:p>
            <a:pPr>
              <a:defRPr sz="3200" b="1">
                <a:solidFill>
                  <a:srgbClr val="F26F21"/>
                </a:solidFill>
                <a:latin typeface="Segoe UI"/>
              </a:defRPr>
            </a:pPr>
            <a:r>
              <a:t>50 / 50</a:t>
            </a:r>
          </a:p>
          <a:p>
            <a:pPr>
              <a:spcBef>
                <a:spcPts val="200"/>
              </a:spcBef>
              <a:defRPr sz="1100" b="1">
                <a:solidFill>
                  <a:srgbClr val="0F172A"/>
                </a:solidFill>
                <a:latin typeface="Segoe UI"/>
              </a:defRPr>
            </a:pPr>
            <a:r>
              <a:t>Official riscv-tests</a:t>
            </a:r>
          </a:p>
          <a:p>
            <a:pPr>
              <a:defRPr sz="900">
                <a:solidFill>
                  <a:srgbClr val="64748B"/>
                </a:solidFill>
                <a:latin typeface="Segoe UI"/>
              </a:defRPr>
            </a:pPr>
            <a:r>
              <a:t>DUT: Lõi rv32i_core (chuẩn quốc tế)</a:t>
            </a:r>
          </a:p>
        </p:txBody>
      </p:sp>
      <p:sp>
        <p:nvSpPr>
          <p:cNvPr id="10" name="TextBox 9"/>
          <p:cNvSpPr txBox="1"/>
          <p:nvPr/>
        </p:nvSpPr>
        <p:spPr>
          <a:xfrm>
            <a:off x="731520" y="2926080"/>
            <a:ext cx="5943600" cy="219456"/>
          </a:xfrm>
          <a:prstGeom prst="rect">
            <a:avLst/>
          </a:prstGeom>
          <a:noFill/>
        </p:spPr>
        <p:txBody>
          <a:bodyPr wrap="square" lIns="0" tIns="0" rIns="0" bIns="0">
            <a:spAutoFit/>
          </a:bodyPr>
          <a:lstStyle/>
          <a:p>
            <a:pPr>
              <a:defRPr sz="900" b="1">
                <a:solidFill>
                  <a:srgbClr val="C2410C"/>
                </a:solidFill>
                <a:latin typeface="Segoe UI"/>
              </a:defRPr>
            </a:pPr>
            <a:r>
              <a:t>KẾT QUẢ BA BỘ REGRESSION.</a:t>
            </a:r>
          </a:p>
        </p:txBody>
      </p:sp>
      <p:graphicFrame>
        <p:nvGraphicFramePr>
          <p:cNvPr id="11" name="Table 10"/>
          <p:cNvGraphicFramePr>
            <a:graphicFrameLocks noGrp="1"/>
          </p:cNvGraphicFramePr>
          <p:nvPr/>
        </p:nvGraphicFramePr>
        <p:xfrm>
          <a:off x="731520" y="3163824"/>
          <a:ext cx="5943600" cy="1784908"/>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54787">
                <a:tc>
                  <a:txBody>
                    <a:bodyPr/>
                    <a:lstStyle/>
                    <a:p>
                      <a:pPr>
                        <a:defRPr sz="950" b="1">
                          <a:solidFill>
                            <a:srgbClr val="0F172A"/>
                          </a:solidFill>
                          <a:latin typeface="Segoe UI"/>
                        </a:defRPr>
                      </a:pPr>
                      <a:r>
                        <a:t>Bộ Test</a:t>
                      </a:r>
                    </a:p>
                  </a:txBody>
                  <a:tcPr>
                    <a:solidFill>
                      <a:srgbClr val="F1F5F9"/>
                    </a:solidFill>
                  </a:tcPr>
                </a:tc>
                <a:tc>
                  <a:txBody>
                    <a:bodyPr/>
                    <a:lstStyle/>
                    <a:p>
                      <a:pPr>
                        <a:defRPr sz="950" b="1">
                          <a:solidFill>
                            <a:srgbClr val="0F172A"/>
                          </a:solidFill>
                          <a:latin typeface="Segoe UI"/>
                        </a:defRPr>
                      </a:pPr>
                      <a:r>
                        <a:t>Đối Tượng (DUT)</a:t>
                      </a:r>
                    </a:p>
                  </a:txBody>
                  <a:tcPr>
                    <a:solidFill>
                      <a:srgbClr val="F1F5F9"/>
                    </a:solidFill>
                  </a:tcPr>
                </a:tc>
                <a:tc>
                  <a:txBody>
                    <a:bodyPr/>
                    <a:lstStyle/>
                    <a:p>
                      <a:pPr>
                        <a:defRPr sz="950" b="1">
                          <a:solidFill>
                            <a:srgbClr val="0F172A"/>
                          </a:solidFill>
                          <a:latin typeface="Segoe UI"/>
                        </a:defRPr>
                      </a:pPr>
                      <a:r>
                        <a:t>Số Lượt</a:t>
                      </a:r>
                    </a:p>
                  </a:txBody>
                  <a:tcPr>
                    <a:solidFill>
                      <a:srgbClr val="F1F5F9"/>
                    </a:solidFill>
                  </a:tcPr>
                </a:tc>
                <a:tc>
                  <a:txBody>
                    <a:bodyPr/>
                    <a:lstStyle/>
                    <a:p>
                      <a:pPr>
                        <a:defRPr sz="950" b="1">
                          <a:solidFill>
                            <a:srgbClr val="0F172A"/>
                          </a:solidFill>
                          <a:latin typeface="Segoe UI"/>
                        </a:defRPr>
                      </a:pPr>
                      <a:r>
                        <a:t>Kết Quả</a:t>
                      </a:r>
                    </a:p>
                  </a:txBody>
                  <a:tcPr>
                    <a:solidFill>
                      <a:srgbClr val="F1F5F9"/>
                    </a:solidFill>
                  </a:tcPr>
                </a:tc>
                <a:extLst>
                  <a:ext uri="{0D108BD9-81ED-4DB2-BD59-A6C34878D82A}">
                    <a16:rowId xmlns:a16="http://schemas.microsoft.com/office/drawing/2014/main" val="10000"/>
                  </a:ext>
                </a:extLst>
              </a:tr>
              <a:tr h="354787">
                <a:tc>
                  <a:txBody>
                    <a:bodyPr/>
                    <a:lstStyle/>
                    <a:p>
                      <a:pPr>
                        <a:defRPr sz="900" b="1">
                          <a:solidFill>
                            <a:srgbClr val="0F172A"/>
                          </a:solidFill>
                          <a:latin typeface="Segoe UI"/>
                        </a:defRPr>
                      </a:pPr>
                      <a:r>
                        <a:t>1. Unit &amp; Tích Hợp</a:t>
                      </a:r>
                    </a:p>
                  </a:txBody>
                  <a:tcPr>
                    <a:solidFill>
                      <a:srgbClr val="FFFFFF"/>
                    </a:solidFill>
                  </a:tcPr>
                </a:tc>
                <a:tc>
                  <a:txBody>
                    <a:bodyPr/>
                    <a:lstStyle/>
                    <a:p>
                      <a:pPr>
                        <a:defRPr sz="900">
                          <a:solidFill>
                            <a:srgbClr val="334155"/>
                          </a:solidFill>
                          <a:latin typeface="Segoe UI"/>
                        </a:defRPr>
                      </a:pPr>
                      <a:r>
                        <a:t>Từng khối con + IP AXI</a:t>
                      </a:r>
                    </a:p>
                  </a:txBody>
                  <a:tcPr>
                    <a:solidFill>
                      <a:srgbClr val="FFFFFF"/>
                    </a:solidFill>
                  </a:tcPr>
                </a:tc>
                <a:tc>
                  <a:txBody>
                    <a:bodyPr/>
                    <a:lstStyle/>
                    <a:p>
                      <a:pPr>
                        <a:defRPr sz="900">
                          <a:solidFill>
                            <a:srgbClr val="334155"/>
                          </a:solidFill>
                          <a:latin typeface="Segoe UI"/>
                        </a:defRPr>
                      </a:pPr>
                      <a:r>
                        <a:t>21</a:t>
                      </a:r>
                    </a:p>
                  </a:txBody>
                  <a:tcPr>
                    <a:solidFill>
                      <a:srgbClr val="FFFFFF"/>
                    </a:solidFill>
                  </a:tcPr>
                </a:tc>
                <a:tc>
                  <a:txBody>
                    <a:bodyPr/>
                    <a:lstStyle/>
                    <a:p>
                      <a:pPr>
                        <a:defRPr sz="900">
                          <a:solidFill>
                            <a:srgbClr val="334155"/>
                          </a:solidFill>
                          <a:latin typeface="Segoe UI"/>
                        </a:defRPr>
                      </a:pPr>
                      <a:r>
                        <a:t>21 PASS, 0 FAIL</a:t>
                      </a:r>
                    </a:p>
                  </a:txBody>
                  <a:tcPr>
                    <a:solidFill>
                      <a:srgbClr val="FFFFFF"/>
                    </a:solidFill>
                  </a:tcPr>
                </a:tc>
                <a:extLst>
                  <a:ext uri="{0D108BD9-81ED-4DB2-BD59-A6C34878D82A}">
                    <a16:rowId xmlns:a16="http://schemas.microsoft.com/office/drawing/2014/main" val="10001"/>
                  </a:ext>
                </a:extLst>
              </a:tr>
              <a:tr h="354787">
                <a:tc>
                  <a:txBody>
                    <a:bodyPr/>
                    <a:lstStyle/>
                    <a:p>
                      <a:pPr>
                        <a:defRPr sz="900" b="1">
                          <a:solidFill>
                            <a:srgbClr val="0F172A"/>
                          </a:solidFill>
                          <a:latin typeface="Segoe UI"/>
                        </a:defRPr>
                      </a:pPr>
                      <a:r>
                        <a:t>2. Mini Architectural</a:t>
                      </a:r>
                    </a:p>
                  </a:txBody>
                  <a:tcPr>
                    <a:solidFill>
                      <a:srgbClr val="F8FAFC"/>
                    </a:solidFill>
                  </a:tcPr>
                </a:tc>
                <a:tc>
                  <a:txBody>
                    <a:bodyPr/>
                    <a:lstStyle/>
                    <a:p>
                      <a:pPr>
                        <a:defRPr sz="900">
                          <a:solidFill>
                            <a:srgbClr val="334155"/>
                          </a:solidFill>
                          <a:latin typeface="Segoe UI"/>
                        </a:defRPr>
                      </a:pPr>
                      <a:r>
                        <a:t>Lõi rv32i_core</a:t>
                      </a:r>
                    </a:p>
                  </a:txBody>
                  <a:tcPr>
                    <a:solidFill>
                      <a:srgbClr val="F8FAFC"/>
                    </a:solidFill>
                  </a:tcPr>
                </a:tc>
                <a:tc>
                  <a:txBody>
                    <a:bodyPr/>
                    <a:lstStyle/>
                    <a:p>
                      <a:pPr>
                        <a:defRPr sz="900">
                          <a:solidFill>
                            <a:srgbClr val="334155"/>
                          </a:solidFill>
                          <a:latin typeface="Segoe UI"/>
                        </a:defRPr>
                      </a:pPr>
                      <a:r>
                        <a:t>30</a:t>
                      </a:r>
                    </a:p>
                  </a:txBody>
                  <a:tcPr>
                    <a:solidFill>
                      <a:srgbClr val="F8FAFC"/>
                    </a:solidFill>
                  </a:tcPr>
                </a:tc>
                <a:tc>
                  <a:txBody>
                    <a:bodyPr/>
                    <a:lstStyle/>
                    <a:p>
                      <a:pPr>
                        <a:defRPr sz="900">
                          <a:solidFill>
                            <a:srgbClr val="334155"/>
                          </a:solidFill>
                          <a:latin typeface="Segoe UI"/>
                        </a:defRPr>
                      </a:pPr>
                      <a:r>
                        <a:t>30 PASS, 0 FAIL</a:t>
                      </a:r>
                    </a:p>
                  </a:txBody>
                  <a:tcPr>
                    <a:solidFill>
                      <a:srgbClr val="F8FAFC"/>
                    </a:solidFill>
                  </a:tcPr>
                </a:tc>
                <a:extLst>
                  <a:ext uri="{0D108BD9-81ED-4DB2-BD59-A6C34878D82A}">
                    <a16:rowId xmlns:a16="http://schemas.microsoft.com/office/drawing/2014/main" val="10002"/>
                  </a:ext>
                </a:extLst>
              </a:tr>
              <a:tr h="354787">
                <a:tc>
                  <a:txBody>
                    <a:bodyPr/>
                    <a:lstStyle/>
                    <a:p>
                      <a:pPr>
                        <a:defRPr sz="900" b="1">
                          <a:solidFill>
                            <a:srgbClr val="0F172A"/>
                          </a:solidFill>
                          <a:latin typeface="Segoe UI"/>
                        </a:defRPr>
                      </a:pPr>
                      <a:r>
                        <a:t>3. riscv-tests</a:t>
                      </a:r>
                    </a:p>
                  </a:txBody>
                  <a:tcPr>
                    <a:solidFill>
                      <a:srgbClr val="FFFFFF"/>
                    </a:solidFill>
                  </a:tcPr>
                </a:tc>
                <a:tc>
                  <a:txBody>
                    <a:bodyPr/>
                    <a:lstStyle/>
                    <a:p>
                      <a:pPr>
                        <a:defRPr sz="900">
                          <a:solidFill>
                            <a:srgbClr val="334155"/>
                          </a:solidFill>
                          <a:latin typeface="Segoe UI"/>
                        </a:defRPr>
                      </a:pPr>
                      <a:r>
                        <a:t>Lõi rv32i_core</a:t>
                      </a:r>
                    </a:p>
                  </a:txBody>
                  <a:tcPr>
                    <a:solidFill>
                      <a:srgbClr val="FFFFFF"/>
                    </a:solidFill>
                  </a:tcPr>
                </a:tc>
                <a:tc>
                  <a:txBody>
                    <a:bodyPr/>
                    <a:lstStyle/>
                    <a:p>
                      <a:pPr>
                        <a:defRPr sz="900">
                          <a:solidFill>
                            <a:srgbClr val="334155"/>
                          </a:solidFill>
                          <a:latin typeface="Segoe UI"/>
                        </a:defRPr>
                      </a:pPr>
                      <a:r>
                        <a:t>50</a:t>
                      </a:r>
                    </a:p>
                  </a:txBody>
                  <a:tcPr>
                    <a:solidFill>
                      <a:srgbClr val="FFFFFF"/>
                    </a:solidFill>
                  </a:tcPr>
                </a:tc>
                <a:tc>
                  <a:txBody>
                    <a:bodyPr/>
                    <a:lstStyle/>
                    <a:p>
                      <a:pPr>
                        <a:defRPr sz="900">
                          <a:solidFill>
                            <a:srgbClr val="334155"/>
                          </a:solidFill>
                          <a:latin typeface="Segoe UI"/>
                        </a:defRPr>
                      </a:pPr>
                      <a:r>
                        <a:t>50 PASS, 0 FAIL</a:t>
                      </a:r>
                    </a:p>
                  </a:txBody>
                  <a:tcPr>
                    <a:solidFill>
                      <a:srgbClr val="FFFFFF"/>
                    </a:solidFill>
                  </a:tcPr>
                </a:tc>
                <a:extLst>
                  <a:ext uri="{0D108BD9-81ED-4DB2-BD59-A6C34878D82A}">
                    <a16:rowId xmlns:a16="http://schemas.microsoft.com/office/drawing/2014/main" val="10003"/>
                  </a:ext>
                </a:extLst>
              </a:tr>
              <a:tr h="354788">
                <a:tc>
                  <a:txBody>
                    <a:bodyPr/>
                    <a:lstStyle/>
                    <a:p>
                      <a:pPr>
                        <a:defRPr sz="900" b="1">
                          <a:solidFill>
                            <a:srgbClr val="0F172A"/>
                          </a:solidFill>
                          <a:latin typeface="Segoe UI"/>
                        </a:defRPr>
                      </a:pPr>
                      <a:r>
                        <a:t>TỔNG CỘNG HỆ THỐNG</a:t>
                      </a:r>
                    </a:p>
                  </a:txBody>
                  <a:tcPr>
                    <a:solidFill>
                      <a:srgbClr val="F8FAFC"/>
                    </a:solidFill>
                  </a:tcPr>
                </a:tc>
                <a:tc>
                  <a:txBody>
                    <a:bodyPr/>
                    <a:lstStyle/>
                    <a:p>
                      <a:pPr>
                        <a:defRPr sz="900">
                          <a:solidFill>
                            <a:srgbClr val="334155"/>
                          </a:solidFill>
                          <a:latin typeface="Segoe UI"/>
                        </a:defRPr>
                      </a:pPr>
                      <a:r>
                        <a:t>Toàn bộ RTL Core &amp; IP</a:t>
                      </a:r>
                    </a:p>
                  </a:txBody>
                  <a:tcPr>
                    <a:solidFill>
                      <a:srgbClr val="F8FAFC"/>
                    </a:solidFill>
                  </a:tcPr>
                </a:tc>
                <a:tc>
                  <a:txBody>
                    <a:bodyPr/>
                    <a:lstStyle/>
                    <a:p>
                      <a:pPr>
                        <a:defRPr sz="900">
                          <a:solidFill>
                            <a:srgbClr val="334155"/>
                          </a:solidFill>
                          <a:latin typeface="Segoe UI"/>
                        </a:defRPr>
                      </a:pPr>
                      <a:r>
                        <a:t>101</a:t>
                      </a:r>
                    </a:p>
                  </a:txBody>
                  <a:tcPr>
                    <a:solidFill>
                      <a:srgbClr val="F8FAFC"/>
                    </a:solidFill>
                  </a:tcPr>
                </a:tc>
                <a:tc>
                  <a:txBody>
                    <a:bodyPr/>
                    <a:lstStyle/>
                    <a:p>
                      <a:pPr>
                        <a:defRPr sz="900">
                          <a:solidFill>
                            <a:srgbClr val="334155"/>
                          </a:solidFill>
                          <a:latin typeface="Segoe UI"/>
                        </a:defRPr>
                      </a:pPr>
                      <a:r>
                        <a:t>101 PASS (100% Tuyệt đối)</a:t>
                      </a:r>
                    </a:p>
                  </a:txBody>
                  <a:tcPr>
                    <a:solidFill>
                      <a:srgbClr val="F8FAFC"/>
                    </a:solidFill>
                  </a:tcPr>
                </a:tc>
                <a:extLst>
                  <a:ext uri="{0D108BD9-81ED-4DB2-BD59-A6C34878D82A}">
                    <a16:rowId xmlns:a16="http://schemas.microsoft.com/office/drawing/2014/main" val="10004"/>
                  </a:ext>
                </a:extLst>
              </a:tr>
            </a:tbl>
          </a:graphicData>
        </a:graphic>
      </p:graphicFrame>
      <p:sp>
        <p:nvSpPr>
          <p:cNvPr id="13" name="TextBox 12"/>
          <p:cNvSpPr txBox="1"/>
          <p:nvPr/>
        </p:nvSpPr>
        <p:spPr>
          <a:xfrm>
            <a:off x="6949440" y="4251960"/>
            <a:ext cx="4480560" cy="548640"/>
          </a:xfrm>
          <a:prstGeom prst="rect">
            <a:avLst/>
          </a:prstGeom>
          <a:noFill/>
        </p:spPr>
        <p:txBody>
          <a:bodyPr wrap="square" lIns="0" tIns="0" rIns="0" bIns="0">
            <a:spAutoFit/>
          </a:bodyPr>
          <a:lstStyle/>
          <a:p>
            <a:pPr algn="ctr">
              <a:defRPr sz="1100" b="1">
                <a:solidFill>
                  <a:srgbClr val="64748B"/>
                </a:solidFill>
                <a:latin typeface="Segoe UI"/>
              </a:defRPr>
            </a:pPr>
            <a:r>
              <a:t>[ Hình 3. Ảnh kết quả ba bộ regression ]</a:t>
            </a:r>
          </a:p>
          <a:p>
            <a:pPr algn="ctr">
              <a:defRPr sz="900">
                <a:solidFill>
                  <a:srgbClr val="64748B"/>
                </a:solidFill>
                <a:latin typeface="Segoe UI"/>
              </a:defRPr>
            </a:pPr>
            <a:r>
              <a:t>Dán hình từ Word vào đây</a:t>
            </a:r>
          </a:p>
        </p:txBody>
      </p:sp>
      <p:pic>
        <p:nvPicPr>
          <p:cNvPr id="15" name="Picture 14">
            <a:extLst>
              <a:ext uri="{FF2B5EF4-FFF2-40B4-BE49-F238E27FC236}">
                <a16:creationId xmlns:a16="http://schemas.microsoft.com/office/drawing/2014/main" id="{6F09F8F9-4B7C-4082-B575-5955FA240EC0}"/>
              </a:ext>
            </a:extLst>
          </p:cNvPr>
          <p:cNvPicPr>
            <a:picLocks noChangeAspect="1"/>
          </p:cNvPicPr>
          <p:nvPr/>
        </p:nvPicPr>
        <p:blipFill>
          <a:blip r:embed="rId2"/>
          <a:stretch>
            <a:fillRect/>
          </a:stretch>
        </p:blipFill>
        <p:spPr>
          <a:xfrm>
            <a:off x="7051040" y="2980944"/>
            <a:ext cx="4928065" cy="264651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4. ĐIỂM SÁNG KIỂM CHỨNG</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4.2 Chi Tiết Nội Dung Test &amp; Điểm Đặc Biệt Đạt Được</a:t>
            </a:r>
          </a:p>
        </p:txBody>
      </p:sp>
      <p:sp>
        <p:nvSpPr>
          <p:cNvPr id="4" name="TextBox 3"/>
          <p:cNvSpPr txBox="1"/>
          <p:nvPr/>
        </p:nvSpPr>
        <p:spPr>
          <a:xfrm>
            <a:off x="731520" y="1115568"/>
            <a:ext cx="10698480" cy="256032"/>
          </a:xfrm>
          <a:prstGeom prst="rect">
            <a:avLst/>
          </a:prstGeom>
          <a:noFill/>
        </p:spPr>
        <p:txBody>
          <a:bodyPr wrap="square" lIns="0" tIns="0" rIns="0" bIns="0">
            <a:spAutoFit/>
          </a:bodyPr>
          <a:lstStyle/>
          <a:p>
            <a:pPr>
              <a:defRPr sz="1050">
                <a:solidFill>
                  <a:srgbClr val="64748B"/>
                </a:solidFill>
                <a:latin typeface="Segoe UI"/>
              </a:defRPr>
            </a:pPr>
            <a:r>
              <a:t>Phân loại minh bạch 3 bộ test: Mục tiêu kiểm thử, Đối tượng (DUT), Nội dung cụ thể và Thành tựu kỹ thuật</a:t>
            </a:r>
          </a:p>
        </p:txBody>
      </p:sp>
      <p:sp>
        <p:nvSpPr>
          <p:cNvPr id="5" name="Rectangle 4"/>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23/28</a:t>
            </a:r>
          </a:p>
        </p:txBody>
      </p:sp>
      <p:sp>
        <p:nvSpPr>
          <p:cNvPr id="7" name="Rounded Rectangle 6"/>
          <p:cNvSpPr/>
          <p:nvPr/>
        </p:nvSpPr>
        <p:spPr>
          <a:xfrm>
            <a:off x="731520" y="1600200"/>
            <a:ext cx="3328416" cy="4709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41248" y="1709928"/>
            <a:ext cx="3108960" cy="347472"/>
          </a:xfrm>
          <a:prstGeom prst="roundRect">
            <a:avLst/>
          </a:prstGeom>
          <a:solidFill>
            <a:srgbClr val="FFF7ED"/>
          </a:solidFill>
          <a:ln w="12700">
            <a:solidFill>
              <a:srgbClr val="F26F2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F26F21"/>
                </a:solidFill>
              </a:defRPr>
            </a:pPr>
            <a:r>
              <a:t>1. UNIT &amp; TÍCH HỢP (21 BÀI)</a:t>
            </a:r>
          </a:p>
        </p:txBody>
      </p:sp>
      <p:sp>
        <p:nvSpPr>
          <p:cNvPr id="9" name="TextBox 8"/>
          <p:cNvSpPr txBox="1"/>
          <p:nvPr/>
        </p:nvSpPr>
        <p:spPr>
          <a:xfrm>
            <a:off x="868680" y="2103120"/>
            <a:ext cx="3054096" cy="594360"/>
          </a:xfrm>
          <a:prstGeom prst="rect">
            <a:avLst/>
          </a:prstGeom>
          <a:noFill/>
        </p:spPr>
        <p:txBody>
          <a:bodyPr wrap="square" lIns="0" tIns="0" rIns="0" bIns="0">
            <a:spAutoFit/>
          </a:bodyPr>
          <a:lstStyle/>
          <a:p>
            <a:pPr>
              <a:spcAft>
                <a:spcPts val="200"/>
              </a:spcAft>
              <a:defRPr sz="980">
                <a:latin typeface="Segoe UI"/>
              </a:defRPr>
            </a:pPr>
            <a:r>
              <a:rPr b="1">
                <a:solidFill>
                  <a:srgbClr val="0F172A"/>
                </a:solidFill>
              </a:rPr>
              <a:t>Đối tượng (DUT): </a:t>
            </a:r>
            <a:r>
              <a:rPr b="1">
                <a:solidFill>
                  <a:srgbClr val="C2410C"/>
                </a:solidFill>
              </a:rPr>
              <a:t>Từng Khối RTL + IP AXI</a:t>
            </a:r>
          </a:p>
          <a:p>
            <a:pPr>
              <a:defRPr sz="919">
                <a:latin typeface="Segoe UI"/>
              </a:defRPr>
            </a:pPr>
            <a:r>
              <a:rPr b="1">
                <a:solidFill>
                  <a:srgbClr val="0F172A"/>
                </a:solidFill>
              </a:rPr>
              <a:t>Mục tiêu: </a:t>
            </a:r>
            <a:r>
              <a:rPr>
                <a:solidFill>
                  <a:srgbClr val="334155"/>
                </a:solidFill>
              </a:rPr>
              <a:t>Kiểm thử độc lập từng khối logic và tích hợp 2 adapter AXI.</a:t>
            </a:r>
          </a:p>
        </p:txBody>
      </p:sp>
      <p:sp>
        <p:nvSpPr>
          <p:cNvPr id="10" name="TextBox 9"/>
          <p:cNvSpPr txBox="1"/>
          <p:nvPr/>
        </p:nvSpPr>
        <p:spPr>
          <a:xfrm>
            <a:off x="868680" y="2743200"/>
            <a:ext cx="3054096" cy="2057400"/>
          </a:xfrm>
          <a:prstGeom prst="rect">
            <a:avLst/>
          </a:prstGeom>
          <a:noFill/>
        </p:spPr>
        <p:txBody>
          <a:bodyPr wrap="square" lIns="0" tIns="0" rIns="0" bIns="0">
            <a:spAutoFit/>
          </a:bodyPr>
          <a:lstStyle/>
          <a:p>
            <a:pPr>
              <a:spcAft>
                <a:spcPts val="300"/>
              </a:spcAft>
              <a:defRPr sz="950" b="1">
                <a:solidFill>
                  <a:srgbClr val="0F172A"/>
                </a:solidFill>
              </a:defRPr>
            </a:pPr>
            <a:r>
              <a:t>Nội dung &amp; Nhóm bài test:</a:t>
            </a:r>
          </a:p>
          <a:p>
            <a:pPr>
              <a:spcAft>
                <a:spcPts val="300"/>
              </a:spcAft>
              <a:defRPr sz="900">
                <a:latin typeface="Segoe UI"/>
              </a:defRPr>
            </a:pPr>
            <a:r>
              <a:rPr b="1">
                <a:solidFill>
                  <a:srgbClr val="0F172A"/>
                </a:solidFill>
              </a:rPr>
              <a:t>• 10 Khối Unit: </a:t>
            </a:r>
            <a:r>
              <a:rPr>
                <a:solidFill>
                  <a:srgbClr val="334155"/>
                </a:solidFill>
              </a:rPr>
              <a:t>11 phép ALU, sinh 5 format hằng số, RegFile bypass, Forwarding MEM&gt;WB, Load-Use stall, Trap ưu tiên.</a:t>
            </a:r>
          </a:p>
          <a:p>
            <a:pPr>
              <a:spcAft>
                <a:spcPts val="300"/>
              </a:spcAft>
              <a:defRPr sz="900">
                <a:latin typeface="Segoe UI"/>
              </a:defRPr>
            </a:pPr>
            <a:r>
              <a:rPr b="1">
                <a:solidFill>
                  <a:srgbClr val="0F172A"/>
                </a:solidFill>
              </a:rPr>
              <a:t>• 4 Bài Core: </a:t>
            </a:r>
            <a:r>
              <a:rPr>
                <a:solidFill>
                  <a:srgbClr val="334155"/>
                </a:solidFill>
              </a:rPr>
              <a:t>Kiểm tra commit 1 lần (Replay Guard), bắt ngắt ngoài và mô hình bộ nhớ.</a:t>
            </a:r>
          </a:p>
          <a:p>
            <a:pPr>
              <a:spcAft>
                <a:spcPts val="300"/>
              </a:spcAft>
              <a:defRPr sz="900">
                <a:latin typeface="Segoe UI"/>
              </a:defRPr>
            </a:pPr>
            <a:r>
              <a:rPr b="1">
                <a:solidFill>
                  <a:srgbClr val="0F172A"/>
                </a:solidFill>
              </a:rPr>
              <a:t>• 3 Bài Bus AXI: </a:t>
            </a:r>
            <a:r>
              <a:rPr>
                <a:solidFill>
                  <a:srgbClr val="334155"/>
                </a:solidFill>
              </a:rPr>
              <a:t>Bắt tay AXI4-Lite và test tích hợp IP rv32i_axi_integration_top tới RAM thật.</a:t>
            </a:r>
          </a:p>
        </p:txBody>
      </p:sp>
      <p:sp>
        <p:nvSpPr>
          <p:cNvPr id="11" name="Rounded Rectangle 10"/>
          <p:cNvSpPr/>
          <p:nvPr/>
        </p:nvSpPr>
        <p:spPr>
          <a:xfrm>
            <a:off x="841248" y="4937760"/>
            <a:ext cx="3108960" cy="126187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spcAft>
                <a:spcPts val="200"/>
              </a:spcAft>
              <a:defRPr sz="900" b="1">
                <a:solidFill>
                  <a:srgbClr val="C2410C"/>
                </a:solidFill>
              </a:defRPr>
            </a:pPr>
            <a:r>
              <a:t>★ ĐIỂM ĐẶC BIỆT ĐẠT ĐƯỢC:</a:t>
            </a:r>
          </a:p>
          <a:p>
            <a:pPr>
              <a:defRPr sz="880">
                <a:solidFill>
                  <a:srgbClr val="0F172A"/>
                </a:solidFill>
              </a:defRPr>
            </a:pPr>
            <a:r>
              <a:t>Xác nhận cơ chế hủy fetch imem_cancel hoạt động hoàn hảo trên bus AXI thật, triệt tiêu hoàn toàn lỗi Combinatorial Loop trong Vivado.</a:t>
            </a:r>
          </a:p>
        </p:txBody>
      </p:sp>
      <p:sp>
        <p:nvSpPr>
          <p:cNvPr id="12" name="Rounded Rectangle 11"/>
          <p:cNvSpPr/>
          <p:nvPr/>
        </p:nvSpPr>
        <p:spPr>
          <a:xfrm>
            <a:off x="4389120" y="1600200"/>
            <a:ext cx="3328416" cy="4709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498848" y="1709928"/>
            <a:ext cx="3108960" cy="347472"/>
          </a:xfrm>
          <a:prstGeom prst="roundRect">
            <a:avLst/>
          </a:prstGeom>
          <a:solidFill>
            <a:srgbClr val="F1F5F9"/>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0284C7"/>
                </a:solidFill>
              </a:defRPr>
            </a:pPr>
            <a:r>
              <a:t>2. MINI ARCH (30 LƯỢT TEST)</a:t>
            </a:r>
          </a:p>
        </p:txBody>
      </p:sp>
      <p:sp>
        <p:nvSpPr>
          <p:cNvPr id="14" name="TextBox 13"/>
          <p:cNvSpPr txBox="1"/>
          <p:nvPr/>
        </p:nvSpPr>
        <p:spPr>
          <a:xfrm>
            <a:off x="4526280" y="2103120"/>
            <a:ext cx="3054096" cy="594360"/>
          </a:xfrm>
          <a:prstGeom prst="rect">
            <a:avLst/>
          </a:prstGeom>
          <a:noFill/>
        </p:spPr>
        <p:txBody>
          <a:bodyPr wrap="square" lIns="0" tIns="0" rIns="0" bIns="0">
            <a:spAutoFit/>
          </a:bodyPr>
          <a:lstStyle/>
          <a:p>
            <a:pPr>
              <a:spcAft>
                <a:spcPts val="200"/>
              </a:spcAft>
              <a:defRPr sz="980">
                <a:latin typeface="Segoe UI"/>
              </a:defRPr>
            </a:pPr>
            <a:r>
              <a:rPr b="1">
                <a:solidFill>
                  <a:srgbClr val="0F172A"/>
                </a:solidFill>
              </a:rPr>
              <a:t>Đối tượng (DUT): </a:t>
            </a:r>
            <a:r>
              <a:rPr b="1">
                <a:solidFill>
                  <a:srgbClr val="C2410C"/>
                </a:solidFill>
              </a:rPr>
              <a:t>Lõi rv32i_core (Có Trễ RAM)</a:t>
            </a:r>
          </a:p>
          <a:p>
            <a:pPr>
              <a:defRPr sz="919">
                <a:latin typeface="Segoe UI"/>
              </a:defRPr>
            </a:pPr>
            <a:r>
              <a:rPr b="1">
                <a:solidFill>
                  <a:srgbClr val="0F172A"/>
                </a:solidFill>
              </a:rPr>
              <a:t>Mục tiêu: </a:t>
            </a:r>
            <a:r>
              <a:rPr>
                <a:solidFill>
                  <a:srgbClr val="334155"/>
                </a:solidFill>
              </a:rPr>
              <a:t>Kiểm tra hành vi vi kiến trúc chuyên sâu với chuỗi lệnh thực tế.</a:t>
            </a:r>
          </a:p>
        </p:txBody>
      </p:sp>
      <p:sp>
        <p:nvSpPr>
          <p:cNvPr id="15" name="TextBox 14"/>
          <p:cNvSpPr txBox="1"/>
          <p:nvPr/>
        </p:nvSpPr>
        <p:spPr>
          <a:xfrm>
            <a:off x="4526280" y="2743200"/>
            <a:ext cx="3054096" cy="2057400"/>
          </a:xfrm>
          <a:prstGeom prst="rect">
            <a:avLst/>
          </a:prstGeom>
          <a:noFill/>
        </p:spPr>
        <p:txBody>
          <a:bodyPr wrap="square" lIns="0" tIns="0" rIns="0" bIns="0">
            <a:spAutoFit/>
          </a:bodyPr>
          <a:lstStyle/>
          <a:p>
            <a:pPr>
              <a:spcAft>
                <a:spcPts val="300"/>
              </a:spcAft>
              <a:defRPr sz="950" b="1">
                <a:solidFill>
                  <a:srgbClr val="0F172A"/>
                </a:solidFill>
              </a:defRPr>
            </a:pPr>
            <a:r>
              <a:t>Nội dung &amp; Nhóm bài test:</a:t>
            </a:r>
          </a:p>
          <a:p>
            <a:pPr>
              <a:spcAft>
                <a:spcPts val="300"/>
              </a:spcAft>
              <a:defRPr sz="900">
                <a:latin typeface="Segoe UI"/>
              </a:defRPr>
            </a:pPr>
            <a:r>
              <a:rPr b="1">
                <a:solidFill>
                  <a:srgbClr val="0F172A"/>
                </a:solidFill>
              </a:rPr>
              <a:t>• 5 Bài Tính &amp; Nhánh: </a:t>
            </a:r>
            <a:r>
              <a:rPr>
                <a:solidFill>
                  <a:srgbClr val="334155"/>
                </a:solidFill>
              </a:rPr>
              <a:t>Ma trận 6 điều kiện branch, load-use, nhảy AUIPC/JALR, đọc ghi byte/halfword có dấu âm.</a:t>
            </a:r>
          </a:p>
          <a:p>
            <a:pPr>
              <a:spcAft>
                <a:spcPts val="300"/>
              </a:spcAft>
              <a:defRPr sz="900">
                <a:latin typeface="Segoe UI"/>
              </a:defRPr>
            </a:pPr>
            <a:r>
              <a:rPr b="1">
                <a:solidFill>
                  <a:srgbClr val="0F172A"/>
                </a:solidFill>
              </a:rPr>
              <a:t>• 3 Bài CSR: </a:t>
            </a:r>
            <a:r>
              <a:rPr>
                <a:solidFill>
                  <a:srgbClr val="334155"/>
                </a:solidFill>
              </a:rPr>
              <a:t>Đọc ghi thanh ghi CSR Machine mode, CSR WARL và đường forwarding CSR.</a:t>
            </a:r>
          </a:p>
          <a:p>
            <a:pPr>
              <a:spcAft>
                <a:spcPts val="300"/>
              </a:spcAft>
              <a:defRPr sz="900">
                <a:latin typeface="Segoe UI"/>
              </a:defRPr>
            </a:pPr>
            <a:r>
              <a:rPr b="1">
                <a:solidFill>
                  <a:srgbClr val="0F172A"/>
                </a:solidFill>
              </a:rPr>
              <a:t>• 7 Bài Bẫy Lỗi (Trap): </a:t>
            </a:r>
            <a:r>
              <a:rPr>
                <a:solidFill>
                  <a:srgbClr val="334155"/>
                </a:solidFill>
              </a:rPr>
              <a:t>Mã lệnh lạ, lệch địa chỉ Load/Store, truy cập vùng cấm, kiểm tra lưu mepc/mtval.</a:t>
            </a:r>
          </a:p>
        </p:txBody>
      </p:sp>
      <p:sp>
        <p:nvSpPr>
          <p:cNvPr id="16" name="Rounded Rectangle 15"/>
          <p:cNvSpPr/>
          <p:nvPr/>
        </p:nvSpPr>
        <p:spPr>
          <a:xfrm>
            <a:off x="4498848" y="4937760"/>
            <a:ext cx="3108960" cy="126187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spcAft>
                <a:spcPts val="200"/>
              </a:spcAft>
              <a:defRPr sz="900" b="1">
                <a:solidFill>
                  <a:srgbClr val="C2410C"/>
                </a:solidFill>
              </a:defRPr>
            </a:pPr>
            <a:r>
              <a:t>★ ĐIỂM ĐẶC BIỆT ĐẠT ĐƯỢC:</a:t>
            </a:r>
          </a:p>
          <a:p>
            <a:pPr>
              <a:defRPr sz="880">
                <a:solidFill>
                  <a:srgbClr val="0F172A"/>
                </a:solidFill>
              </a:defRPr>
            </a:pPr>
            <a:r>
              <a:t>Chạy 2 lượt (0 trễ &amp; chèn trễ RAM ngẫu nhiên); chứng minh Core chịu trễ bất định tuyệt đối, không bao giờ bị double fetch hay double commit.</a:t>
            </a:r>
          </a:p>
        </p:txBody>
      </p:sp>
      <p:sp>
        <p:nvSpPr>
          <p:cNvPr id="17" name="Rounded Rectangle 16"/>
          <p:cNvSpPr/>
          <p:nvPr/>
        </p:nvSpPr>
        <p:spPr>
          <a:xfrm>
            <a:off x="8046720" y="1600200"/>
            <a:ext cx="3328416" cy="4709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156448" y="1709928"/>
            <a:ext cx="3108960" cy="347472"/>
          </a:xfrm>
          <a:prstGeom prst="roundRect">
            <a:avLst/>
          </a:prstGeom>
          <a:solidFill>
            <a:srgbClr val="F1F5F9"/>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50" b="1">
                <a:solidFill>
                  <a:srgbClr val="10B981"/>
                </a:solidFill>
              </a:defRPr>
            </a:pPr>
            <a:r>
              <a:t>3. RISCV-TESTS (50 BÀI CHUẨN)</a:t>
            </a:r>
          </a:p>
        </p:txBody>
      </p:sp>
      <p:sp>
        <p:nvSpPr>
          <p:cNvPr id="19" name="TextBox 18"/>
          <p:cNvSpPr txBox="1"/>
          <p:nvPr/>
        </p:nvSpPr>
        <p:spPr>
          <a:xfrm>
            <a:off x="8183880" y="2103120"/>
            <a:ext cx="3054096" cy="594360"/>
          </a:xfrm>
          <a:prstGeom prst="rect">
            <a:avLst/>
          </a:prstGeom>
          <a:noFill/>
        </p:spPr>
        <p:txBody>
          <a:bodyPr wrap="square" lIns="0" tIns="0" rIns="0" bIns="0">
            <a:spAutoFit/>
          </a:bodyPr>
          <a:lstStyle/>
          <a:p>
            <a:pPr>
              <a:spcAft>
                <a:spcPts val="200"/>
              </a:spcAft>
              <a:defRPr sz="980">
                <a:latin typeface="Segoe UI"/>
              </a:defRPr>
            </a:pPr>
            <a:r>
              <a:rPr b="1">
                <a:solidFill>
                  <a:srgbClr val="0F172A"/>
                </a:solidFill>
              </a:rPr>
              <a:t>Đối tượng (DUT): </a:t>
            </a:r>
            <a:r>
              <a:rPr b="1">
                <a:solidFill>
                  <a:srgbClr val="C2410C"/>
                </a:solidFill>
              </a:rPr>
              <a:t>Lõi rv32i_core (Bên Thứ 3)</a:t>
            </a:r>
          </a:p>
          <a:p>
            <a:pPr>
              <a:defRPr sz="919">
                <a:latin typeface="Segoe UI"/>
              </a:defRPr>
            </a:pPr>
            <a:r>
              <a:rPr b="1">
                <a:solidFill>
                  <a:srgbClr val="0F172A"/>
                </a:solidFill>
              </a:rPr>
              <a:t>Mục tiêu: </a:t>
            </a:r>
            <a:r>
              <a:rPr>
                <a:solidFill>
                  <a:srgbClr val="334155"/>
                </a:solidFill>
              </a:rPr>
              <a:t>Đánh giá độ tương thích chuẩn quốc tế do bên thứ 3 phát triển.</a:t>
            </a:r>
          </a:p>
        </p:txBody>
      </p:sp>
      <p:sp>
        <p:nvSpPr>
          <p:cNvPr id="20" name="TextBox 19"/>
          <p:cNvSpPr txBox="1"/>
          <p:nvPr/>
        </p:nvSpPr>
        <p:spPr>
          <a:xfrm>
            <a:off x="8183880" y="2743200"/>
            <a:ext cx="3054096" cy="2057400"/>
          </a:xfrm>
          <a:prstGeom prst="rect">
            <a:avLst/>
          </a:prstGeom>
          <a:noFill/>
        </p:spPr>
        <p:txBody>
          <a:bodyPr wrap="square" lIns="0" tIns="0" rIns="0" bIns="0">
            <a:spAutoFit/>
          </a:bodyPr>
          <a:lstStyle/>
          <a:p>
            <a:pPr>
              <a:spcAft>
                <a:spcPts val="300"/>
              </a:spcAft>
              <a:defRPr sz="950" b="1">
                <a:solidFill>
                  <a:srgbClr val="0F172A"/>
                </a:solidFill>
              </a:defRPr>
            </a:pPr>
            <a:r>
              <a:t>Nội dung &amp; Nhóm bài test:</a:t>
            </a:r>
          </a:p>
          <a:p>
            <a:pPr>
              <a:spcAft>
                <a:spcPts val="300"/>
              </a:spcAft>
              <a:defRPr sz="900">
                <a:latin typeface="Segoe UI"/>
              </a:defRPr>
            </a:pPr>
            <a:r>
              <a:rPr b="1">
                <a:solidFill>
                  <a:srgbClr val="0F172A"/>
                </a:solidFill>
              </a:rPr>
              <a:t>• 40 Bài RV32UI: </a:t>
            </a:r>
            <a:r>
              <a:rPr>
                <a:solidFill>
                  <a:srgbClr val="334155"/>
                </a:solidFill>
              </a:rPr>
              <a:t>Phủ toàn bộ 37 lệnh tập cơ bản: add, sub, and, or, xor, slt, branch, jal, lui, lw, sw...</a:t>
            </a:r>
          </a:p>
          <a:p>
            <a:pPr>
              <a:spcAft>
                <a:spcPts val="300"/>
              </a:spcAft>
              <a:defRPr sz="900">
                <a:latin typeface="Segoe UI"/>
              </a:defRPr>
            </a:pPr>
            <a:r>
              <a:rPr b="1">
                <a:solidFill>
                  <a:srgbClr val="0F172A"/>
                </a:solidFill>
              </a:rPr>
              <a:t>• 10 Bài RV32MI: </a:t>
            </a:r>
            <a:r>
              <a:rPr>
                <a:solidFill>
                  <a:srgbClr val="334155"/>
                </a:solidFill>
              </a:rPr>
              <a:t>Kiểm tra tập đặc quyền Machine mode: csr, scall, illegal, misaligned fetch/load/store, shamt...</a:t>
            </a:r>
          </a:p>
          <a:p>
            <a:pPr>
              <a:spcAft>
                <a:spcPts val="300"/>
              </a:spcAft>
              <a:defRPr sz="900">
                <a:latin typeface="Segoe UI"/>
              </a:defRPr>
            </a:pPr>
            <a:r>
              <a:rPr b="1">
                <a:solidFill>
                  <a:srgbClr val="0F172A"/>
                </a:solidFill>
              </a:rPr>
              <a:t>• Quy chuẩn độc lập: </a:t>
            </a:r>
            <a:r>
              <a:rPr>
                <a:solidFill>
                  <a:srgbClr val="334155"/>
                </a:solidFill>
              </a:rPr>
              <a:t>Tự động kết luận PASS/FAIL qua mã lỗi thanh ghi gp.</a:t>
            </a:r>
          </a:p>
        </p:txBody>
      </p:sp>
      <p:sp>
        <p:nvSpPr>
          <p:cNvPr id="21" name="Rounded Rectangle 20"/>
          <p:cNvSpPr/>
          <p:nvPr/>
        </p:nvSpPr>
        <p:spPr>
          <a:xfrm>
            <a:off x="8156448" y="4937760"/>
            <a:ext cx="3108960" cy="1261872"/>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lstStyle/>
          <a:p>
            <a:pPr algn="ctr">
              <a:spcAft>
                <a:spcPts val="200"/>
              </a:spcAft>
              <a:defRPr sz="900" b="1">
                <a:solidFill>
                  <a:srgbClr val="C2410C"/>
                </a:solidFill>
              </a:defRPr>
            </a:pPr>
            <a:r>
              <a:t>★ ĐIỂM ĐẶC BIỆT ĐẠT ĐƯỢC:</a:t>
            </a:r>
          </a:p>
          <a:p>
            <a:pPr>
              <a:defRPr sz="880">
                <a:solidFill>
                  <a:srgbClr val="0F172A"/>
                </a:solidFill>
              </a:defRPr>
            </a:pPr>
            <a:r>
              <a:t>Bộ test chuẩn quốc tế PASS 100% không cần chỉnh sửa testbench; khẳng định Core tuân thủ đúng chuẩn công nghiệp RISC-V Machine mode.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4. ĐIỂM SÁNG KIỂM CHỨNG</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4.3 Phân Tích 6 Lỗi Kỹ Thuật Đã Phát Hiện &amp; Xử Lý</a:t>
            </a:r>
          </a:p>
        </p:txBody>
      </p:sp>
      <p:sp>
        <p:nvSpPr>
          <p:cNvPr id="4" name="TextBox 3"/>
          <p:cNvSpPr txBox="1"/>
          <p:nvPr/>
        </p:nvSpPr>
        <p:spPr>
          <a:xfrm>
            <a:off x="731520" y="1115568"/>
            <a:ext cx="10698480" cy="256032"/>
          </a:xfrm>
          <a:prstGeom prst="rect">
            <a:avLst/>
          </a:prstGeom>
          <a:noFill/>
        </p:spPr>
        <p:txBody>
          <a:bodyPr wrap="square" lIns="0" tIns="0" rIns="0" bIns="0">
            <a:spAutoFit/>
          </a:bodyPr>
          <a:lstStyle/>
          <a:p>
            <a:pPr>
              <a:defRPr sz="1050">
                <a:solidFill>
                  <a:srgbClr val="64748B"/>
                </a:solidFill>
                <a:latin typeface="Segoe UI"/>
              </a:defRPr>
            </a:pPr>
            <a:r>
              <a:t>Những bài học xương máu từ việc bắt lỗi qua riscv-tests, trễ bộ nhớ và tổng hợp Vivado</a:t>
            </a:r>
          </a:p>
        </p:txBody>
      </p:sp>
      <p:sp>
        <p:nvSpPr>
          <p:cNvPr id="5" name="Rectangle 4"/>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24/28</a:t>
            </a:r>
          </a:p>
        </p:txBody>
      </p:sp>
      <p:sp>
        <p:nvSpPr>
          <p:cNvPr id="7" name="TextBox 6"/>
          <p:cNvSpPr txBox="1"/>
          <p:nvPr/>
        </p:nvSpPr>
        <p:spPr>
          <a:xfrm>
            <a:off x="731520" y="1737360"/>
            <a:ext cx="10698480" cy="219456"/>
          </a:xfrm>
          <a:prstGeom prst="rect">
            <a:avLst/>
          </a:prstGeom>
          <a:noFill/>
        </p:spPr>
        <p:txBody>
          <a:bodyPr wrap="square" lIns="0" tIns="0" rIns="0" bIns="0">
            <a:spAutoFit/>
          </a:bodyPr>
          <a:lstStyle/>
          <a:p>
            <a:pPr>
              <a:defRPr sz="900" b="1">
                <a:solidFill>
                  <a:srgbClr val="C2410C"/>
                </a:solidFill>
                <a:latin typeface="Segoe UI"/>
              </a:defRPr>
            </a:pPr>
            <a:r>
              <a:t>CÁC LỖI ĐÃ PHÁT HIỆN VÀ CÁCH XỬ LÝ.</a:t>
            </a:r>
          </a:p>
        </p:txBody>
      </p:sp>
      <p:graphicFrame>
        <p:nvGraphicFramePr>
          <p:cNvPr id="8" name="Table 7"/>
          <p:cNvGraphicFramePr>
            <a:graphicFrameLocks noGrp="1"/>
          </p:cNvGraphicFramePr>
          <p:nvPr/>
        </p:nvGraphicFramePr>
        <p:xfrm>
          <a:off x="731520" y="1975104"/>
          <a:ext cx="10698480" cy="4151376"/>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6492240">
                  <a:extLst>
                    <a:ext uri="{9D8B030D-6E8A-4147-A177-3AD203B41FA5}">
                      <a16:colId xmlns:a16="http://schemas.microsoft.com/office/drawing/2014/main" val="20002"/>
                    </a:ext>
                  </a:extLst>
                </a:gridCol>
              </a:tblGrid>
              <a:tr h="593053">
                <a:tc>
                  <a:txBody>
                    <a:bodyPr/>
                    <a:lstStyle/>
                    <a:p>
                      <a:pPr>
                        <a:defRPr sz="950" b="1">
                          <a:solidFill>
                            <a:srgbClr val="0F172A"/>
                          </a:solidFill>
                          <a:latin typeface="Segoe UI"/>
                        </a:defRPr>
                      </a:pPr>
                      <a:r>
                        <a:t>Lỗi Phát Hiện</a:t>
                      </a:r>
                    </a:p>
                  </a:txBody>
                  <a:tcPr>
                    <a:solidFill>
                      <a:srgbClr val="F1F5F9"/>
                    </a:solidFill>
                  </a:tcPr>
                </a:tc>
                <a:tc>
                  <a:txBody>
                    <a:bodyPr/>
                    <a:lstStyle/>
                    <a:p>
                      <a:pPr>
                        <a:defRPr sz="950" b="1">
                          <a:solidFill>
                            <a:srgbClr val="0F172A"/>
                          </a:solidFill>
                          <a:latin typeface="Segoe UI"/>
                        </a:defRPr>
                      </a:pPr>
                      <a:r>
                        <a:t>Hiện Tượng Quan Sát</a:t>
                      </a:r>
                    </a:p>
                  </a:txBody>
                  <a:tcPr>
                    <a:solidFill>
                      <a:srgbClr val="F1F5F9"/>
                    </a:solidFill>
                  </a:tcPr>
                </a:tc>
                <a:tc>
                  <a:txBody>
                    <a:bodyPr/>
                    <a:lstStyle/>
                    <a:p>
                      <a:pPr>
                        <a:defRPr sz="950" b="1">
                          <a:solidFill>
                            <a:srgbClr val="0F172A"/>
                          </a:solidFill>
                          <a:latin typeface="Segoe UI"/>
                        </a:defRPr>
                      </a:pPr>
                      <a:r>
                        <a:t>Nguyên Nhân Gốc &amp; Cách Khắc Phục Triệt Để</a:t>
                      </a:r>
                    </a:p>
                  </a:txBody>
                  <a:tcPr>
                    <a:solidFill>
                      <a:srgbClr val="F1F5F9"/>
                    </a:solidFill>
                  </a:tcPr>
                </a:tc>
                <a:extLst>
                  <a:ext uri="{0D108BD9-81ED-4DB2-BD59-A6C34878D82A}">
                    <a16:rowId xmlns:a16="http://schemas.microsoft.com/office/drawing/2014/main" val="10000"/>
                  </a:ext>
                </a:extLst>
              </a:tr>
              <a:tr h="593053">
                <a:tc>
                  <a:txBody>
                    <a:bodyPr/>
                    <a:lstStyle/>
                    <a:p>
                      <a:pPr>
                        <a:defRPr sz="900" b="1">
                          <a:solidFill>
                            <a:srgbClr val="0F172A"/>
                          </a:solidFill>
                          <a:latin typeface="Segoe UI"/>
                        </a:defRPr>
                      </a:pPr>
                      <a:r>
                        <a:t>1. MRET địa chỉ cũ</a:t>
                      </a:r>
                    </a:p>
                  </a:txBody>
                  <a:tcPr>
                    <a:solidFill>
                      <a:srgbClr val="FFFFFF"/>
                    </a:solidFill>
                  </a:tcPr>
                </a:tc>
                <a:tc>
                  <a:txBody>
                    <a:bodyPr/>
                    <a:lstStyle/>
                    <a:p>
                      <a:pPr>
                        <a:defRPr sz="900">
                          <a:solidFill>
                            <a:srgbClr val="334155"/>
                          </a:solidFill>
                          <a:latin typeface="Segoe UI"/>
                        </a:defRPr>
                      </a:pPr>
                      <a:r>
                        <a:t>5 bài rv32mi bị treo trong loop trap</a:t>
                      </a:r>
                    </a:p>
                  </a:txBody>
                  <a:tcPr>
                    <a:solidFill>
                      <a:srgbClr val="FFFFFF"/>
                    </a:solidFill>
                  </a:tcPr>
                </a:tc>
                <a:tc>
                  <a:txBody>
                    <a:bodyPr/>
                    <a:lstStyle/>
                    <a:p>
                      <a:pPr>
                        <a:defRPr sz="900">
                          <a:solidFill>
                            <a:srgbClr val="334155"/>
                          </a:solidFill>
                          <a:latin typeface="Segoe UI"/>
                        </a:defRPr>
                      </a:pPr>
                      <a:r>
                        <a:t>MRET đọc MEPC trước khi handler ghi -&gt; Sửa bằng MEPC forwarding</a:t>
                      </a:r>
                    </a:p>
                  </a:txBody>
                  <a:tcPr>
                    <a:solidFill>
                      <a:srgbClr val="FFFFFF"/>
                    </a:solidFill>
                  </a:tcPr>
                </a:tc>
                <a:extLst>
                  <a:ext uri="{0D108BD9-81ED-4DB2-BD59-A6C34878D82A}">
                    <a16:rowId xmlns:a16="http://schemas.microsoft.com/office/drawing/2014/main" val="10001"/>
                  </a:ext>
                </a:extLst>
              </a:tr>
              <a:tr h="593053">
                <a:tc>
                  <a:txBody>
                    <a:bodyPr/>
                    <a:lstStyle/>
                    <a:p>
                      <a:pPr>
                        <a:defRPr sz="900" b="1">
                          <a:solidFill>
                            <a:srgbClr val="0F172A"/>
                          </a:solidFill>
                          <a:latin typeface="Segoe UI"/>
                        </a:defRPr>
                      </a:pPr>
                      <a:r>
                        <a:t>2. Stale fault branch</a:t>
                      </a:r>
                    </a:p>
                  </a:txBody>
                  <a:tcPr>
                    <a:solidFill>
                      <a:srgbClr val="F8FAFC"/>
                    </a:solidFill>
                  </a:tcPr>
                </a:tc>
                <a:tc>
                  <a:txBody>
                    <a:bodyPr/>
                    <a:lstStyle/>
                    <a:p>
                      <a:pPr>
                        <a:defRPr sz="900">
                          <a:solidFill>
                            <a:srgbClr val="334155"/>
                          </a:solidFill>
                          <a:latin typeface="Segoe UI"/>
                        </a:defRPr>
                      </a:pPr>
                      <a:r>
                        <a:t>Lệnh sau branch vẫn báo Illegal</a:t>
                      </a:r>
                    </a:p>
                  </a:txBody>
                  <a:tcPr>
                    <a:solidFill>
                      <a:srgbClr val="F8FAFC"/>
                    </a:solidFill>
                  </a:tcPr>
                </a:tc>
                <a:tc>
                  <a:txBody>
                    <a:bodyPr/>
                    <a:lstStyle/>
                    <a:p>
                      <a:pPr>
                        <a:defRPr sz="900">
                          <a:solidFill>
                            <a:srgbClr val="334155"/>
                          </a:solidFill>
                          <a:latin typeface="Segoe UI"/>
                        </a:defRPr>
                      </a:pPr>
                      <a:r>
                        <a:t>Lệnh flush vẫn giữ cờ lỗi -&gt; Sửa: squash cờ lỗi khi redirect</a:t>
                      </a:r>
                    </a:p>
                  </a:txBody>
                  <a:tcPr>
                    <a:solidFill>
                      <a:srgbClr val="F8FAFC"/>
                    </a:solidFill>
                  </a:tcPr>
                </a:tc>
                <a:extLst>
                  <a:ext uri="{0D108BD9-81ED-4DB2-BD59-A6C34878D82A}">
                    <a16:rowId xmlns:a16="http://schemas.microsoft.com/office/drawing/2014/main" val="10002"/>
                  </a:ext>
                </a:extLst>
              </a:tr>
              <a:tr h="593053">
                <a:tc>
                  <a:txBody>
                    <a:bodyPr/>
                    <a:lstStyle/>
                    <a:p>
                      <a:pPr>
                        <a:defRPr sz="900" b="1">
                          <a:solidFill>
                            <a:srgbClr val="0F172A"/>
                          </a:solidFill>
                          <a:latin typeface="Segoe UI"/>
                        </a:defRPr>
                      </a:pPr>
                      <a:r>
                        <a:t>3. Double fetch PC</a:t>
                      </a:r>
                    </a:p>
                  </a:txBody>
                  <a:tcPr>
                    <a:solidFill>
                      <a:srgbClr val="FFFFFF"/>
                    </a:solidFill>
                  </a:tcPr>
                </a:tc>
                <a:tc>
                  <a:txBody>
                    <a:bodyPr/>
                    <a:lstStyle/>
                    <a:p>
                      <a:pPr>
                        <a:defRPr sz="900">
                          <a:solidFill>
                            <a:srgbClr val="334155"/>
                          </a:solidFill>
                          <a:latin typeface="Segoe UI"/>
                        </a:defRPr>
                      </a:pPr>
                      <a:r>
                        <a:t>JAL/JALR sai khi RAM có độ trễ</a:t>
                      </a:r>
                    </a:p>
                  </a:txBody>
                  <a:tcPr>
                    <a:solidFill>
                      <a:srgbClr val="FFFFFF"/>
                    </a:solidFill>
                  </a:tcPr>
                </a:tc>
                <a:tc>
                  <a:txBody>
                    <a:bodyPr/>
                    <a:lstStyle/>
                    <a:p>
                      <a:pPr>
                        <a:defRPr sz="900">
                          <a:solidFill>
                            <a:srgbClr val="334155"/>
                          </a:solidFill>
                          <a:latin typeface="Segoe UI"/>
                        </a:defRPr>
                      </a:pPr>
                      <a:r>
                        <a:t>Điều kiện dừng PC bị đặt thừa -&gt; Sửa: bỏ điều kiện thừa trong pc_unit.v</a:t>
                      </a:r>
                    </a:p>
                  </a:txBody>
                  <a:tcPr>
                    <a:solidFill>
                      <a:srgbClr val="FFFFFF"/>
                    </a:solidFill>
                  </a:tcPr>
                </a:tc>
                <a:extLst>
                  <a:ext uri="{0D108BD9-81ED-4DB2-BD59-A6C34878D82A}">
                    <a16:rowId xmlns:a16="http://schemas.microsoft.com/office/drawing/2014/main" val="10003"/>
                  </a:ext>
                </a:extLst>
              </a:tr>
              <a:tr h="593053">
                <a:tc>
                  <a:txBody>
                    <a:bodyPr/>
                    <a:lstStyle/>
                    <a:p>
                      <a:pPr>
                        <a:defRPr sz="900" b="1">
                          <a:solidFill>
                            <a:srgbClr val="0F172A"/>
                          </a:solidFill>
                          <a:latin typeface="Segoe UI"/>
                        </a:defRPr>
                      </a:pPr>
                      <a:r>
                        <a:t>4. Double commit</a:t>
                      </a:r>
                    </a:p>
                  </a:txBody>
                  <a:tcPr>
                    <a:solidFill>
                      <a:srgbClr val="F8FAFC"/>
                    </a:solidFill>
                  </a:tcPr>
                </a:tc>
                <a:tc>
                  <a:txBody>
                    <a:bodyPr/>
                    <a:lstStyle/>
                    <a:p>
                      <a:pPr>
                        <a:defRPr sz="900">
                          <a:solidFill>
                            <a:srgbClr val="334155"/>
                          </a:solidFill>
                          <a:latin typeface="Segoe UI"/>
                        </a:defRPr>
                      </a:pPr>
                      <a:r>
                        <a:t>Lệnh sau LOAD commit 2 lần</a:t>
                      </a:r>
                    </a:p>
                  </a:txBody>
                  <a:tcPr>
                    <a:solidFill>
                      <a:srgbClr val="F8FAFC"/>
                    </a:solidFill>
                  </a:tcPr>
                </a:tc>
                <a:tc>
                  <a:txBody>
                    <a:bodyPr/>
                    <a:lstStyle/>
                    <a:p>
                      <a:pPr>
                        <a:defRPr sz="900">
                          <a:solidFill>
                            <a:srgbClr val="334155"/>
                          </a:solidFill>
                          <a:latin typeface="Segoe UI"/>
                        </a:defRPr>
                      </a:pPr>
                      <a:r>
                        <a:t>Hold buffer chưa được xét -&gt; Sửa: bổ sung hold_valid_q</a:t>
                      </a:r>
                    </a:p>
                  </a:txBody>
                  <a:tcPr>
                    <a:solidFill>
                      <a:srgbClr val="F8FAFC"/>
                    </a:solidFill>
                  </a:tcPr>
                </a:tc>
                <a:extLst>
                  <a:ext uri="{0D108BD9-81ED-4DB2-BD59-A6C34878D82A}">
                    <a16:rowId xmlns:a16="http://schemas.microsoft.com/office/drawing/2014/main" val="10004"/>
                  </a:ext>
                </a:extLst>
              </a:tr>
              <a:tr h="593053">
                <a:tc>
                  <a:txBody>
                    <a:bodyPr/>
                    <a:lstStyle/>
                    <a:p>
                      <a:pPr>
                        <a:defRPr sz="900" b="1">
                          <a:solidFill>
                            <a:srgbClr val="0F172A"/>
                          </a:solidFill>
                          <a:latin typeface="Segoe UI"/>
                        </a:defRPr>
                      </a:pPr>
                      <a:r>
                        <a:t>5. Vòng lặp tổ hợp</a:t>
                      </a:r>
                    </a:p>
                  </a:txBody>
                  <a:tcPr>
                    <a:solidFill>
                      <a:srgbClr val="FFFFFF"/>
                    </a:solidFill>
                  </a:tcPr>
                </a:tc>
                <a:tc>
                  <a:txBody>
                    <a:bodyPr/>
                    <a:lstStyle/>
                    <a:p>
                      <a:pPr>
                        <a:defRPr sz="900">
                          <a:solidFill>
                            <a:srgbClr val="334155"/>
                          </a:solidFill>
                          <a:latin typeface="Segoe UI"/>
                        </a:defRPr>
                      </a:pPr>
                      <a:r>
                        <a:t>Vivado báo Combinatorial Loop</a:t>
                      </a:r>
                    </a:p>
                  </a:txBody>
                  <a:tcPr>
                    <a:solidFill>
                      <a:srgbClr val="FFFFFF"/>
                    </a:solidFill>
                  </a:tcPr>
                </a:tc>
                <a:tc>
                  <a:txBody>
                    <a:bodyPr/>
                    <a:lstStyle/>
                    <a:p>
                      <a:pPr>
                        <a:defRPr sz="900">
                          <a:solidFill>
                            <a:srgbClr val="334155"/>
                          </a:solidFill>
                          <a:latin typeface="Segoe UI"/>
                        </a:defRPr>
                      </a:pPr>
                      <a:r>
                        <a:t>Trap nối thẳng tới hủy fetch -&gt; Sửa: chốt tín hiệu qua thanh ghi</a:t>
                      </a:r>
                    </a:p>
                  </a:txBody>
                  <a:tcPr>
                    <a:solidFill>
                      <a:srgbClr val="FFFFFF"/>
                    </a:solidFill>
                  </a:tcPr>
                </a:tc>
                <a:extLst>
                  <a:ext uri="{0D108BD9-81ED-4DB2-BD59-A6C34878D82A}">
                    <a16:rowId xmlns:a16="http://schemas.microsoft.com/office/drawing/2014/main" val="10005"/>
                  </a:ext>
                </a:extLst>
              </a:tr>
              <a:tr h="593058">
                <a:tc>
                  <a:txBody>
                    <a:bodyPr/>
                    <a:lstStyle/>
                    <a:p>
                      <a:pPr>
                        <a:defRPr sz="900" b="1">
                          <a:solidFill>
                            <a:srgbClr val="0F172A"/>
                          </a:solidFill>
                          <a:latin typeface="Segoe UI"/>
                        </a:defRPr>
                      </a:pPr>
                      <a:r>
                        <a:t>6. Reset treo AXI</a:t>
                      </a:r>
                    </a:p>
                  </a:txBody>
                  <a:tcPr>
                    <a:solidFill>
                      <a:srgbClr val="F8FAFC"/>
                    </a:solidFill>
                  </a:tcPr>
                </a:tc>
                <a:tc>
                  <a:txBody>
                    <a:bodyPr/>
                    <a:lstStyle/>
                    <a:p>
                      <a:pPr>
                        <a:defRPr sz="900">
                          <a:solidFill>
                            <a:srgbClr val="334155"/>
                          </a:solidFill>
                          <a:latin typeface="Segoe UI"/>
                        </a:defRPr>
                      </a:pPr>
                      <a:r>
                        <a:t>Reset nhả nhưng AXI không hồi phục</a:t>
                      </a:r>
                    </a:p>
                  </a:txBody>
                  <a:tcPr>
                    <a:solidFill>
                      <a:srgbClr val="F8FAFC"/>
                    </a:solidFill>
                  </a:tcPr>
                </a:tc>
                <a:tc>
                  <a:txBody>
                    <a:bodyPr/>
                    <a:lstStyle/>
                    <a:p>
                      <a:pPr>
                        <a:defRPr sz="900">
                          <a:solidFill>
                            <a:srgbClr val="334155"/>
                          </a:solidFill>
                          <a:latin typeface="Segoe UI"/>
                        </a:defRPr>
                      </a:pPr>
                      <a:r>
                        <a:t>Reset ngắt clock IP AXI -&gt; Sửa: dùng Processor System Reset đồng bộ</a:t>
                      </a:r>
                    </a:p>
                  </a:txBody>
                  <a:tcPr>
                    <a:solidFill>
                      <a:srgbClr val="F8FAF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4. ĐIỂM SÁNG KIỂM CHỨNG</a:t>
            </a:r>
          </a:p>
        </p:txBody>
      </p:sp>
      <p:sp>
        <p:nvSpPr>
          <p:cNvPr id="3" name="TextBox 2"/>
          <p:cNvSpPr txBox="1"/>
          <p:nvPr/>
        </p:nvSpPr>
        <p:spPr>
          <a:xfrm>
            <a:off x="731520" y="621792"/>
            <a:ext cx="10698480" cy="300082"/>
          </a:xfrm>
          <a:prstGeom prst="rect">
            <a:avLst/>
          </a:prstGeom>
          <a:noFill/>
        </p:spPr>
        <p:txBody>
          <a:bodyPr wrap="square" lIns="0" tIns="0" rIns="0" bIns="0">
            <a:spAutoFit/>
          </a:bodyPr>
          <a:lstStyle/>
          <a:p>
            <a:pPr>
              <a:defRPr sz="1950" b="1">
                <a:solidFill>
                  <a:srgbClr val="0F172A"/>
                </a:solidFill>
                <a:latin typeface="Segoe UI"/>
              </a:defRPr>
            </a:pPr>
            <a:r>
              <a:rPr dirty="0"/>
              <a:t>4.4 Hai </a:t>
            </a:r>
            <a:r>
              <a:rPr dirty="0" err="1"/>
              <a:t>Bài</a:t>
            </a:r>
            <a:r>
              <a:rPr dirty="0"/>
              <a:t> </a:t>
            </a:r>
            <a:r>
              <a:rPr dirty="0" err="1"/>
              <a:t>Học</a:t>
            </a:r>
            <a:r>
              <a:rPr dirty="0"/>
              <a:t> Debug &amp; 4.5 </a:t>
            </a:r>
            <a:r>
              <a:rPr dirty="0" err="1"/>
              <a:t>Chạy</a:t>
            </a:r>
            <a:r>
              <a:rPr dirty="0"/>
              <a:t> </a:t>
            </a:r>
            <a:r>
              <a:rPr dirty="0" err="1"/>
              <a:t>Thực</a:t>
            </a:r>
            <a:r>
              <a:rPr dirty="0"/>
              <a:t> </a:t>
            </a:r>
            <a:r>
              <a:rPr dirty="0" err="1"/>
              <a:t>Trên</a:t>
            </a:r>
            <a:r>
              <a:rPr dirty="0"/>
              <a:t> ZCU106 </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25/28</a:t>
            </a:r>
          </a:p>
        </p:txBody>
      </p:sp>
      <p:sp>
        <p:nvSpPr>
          <p:cNvPr id="6" name="TextBox 5"/>
          <p:cNvSpPr txBox="1"/>
          <p:nvPr/>
        </p:nvSpPr>
        <p:spPr>
          <a:xfrm>
            <a:off x="608753" y="1737360"/>
            <a:ext cx="4572000" cy="2286000"/>
          </a:xfrm>
          <a:prstGeom prst="rect">
            <a:avLst/>
          </a:prstGeom>
          <a:noFill/>
        </p:spPr>
        <p:txBody>
          <a:bodyPr wrap="square" lIns="0" tIns="0" rIns="0" bIns="0">
            <a:spAutoFit/>
          </a:bodyPr>
          <a:lstStyle/>
          <a:p>
            <a:pPr>
              <a:spcAft>
                <a:spcPts val="1400"/>
              </a:spcAft>
              <a:defRPr sz="1000">
                <a:latin typeface="Segoe UI"/>
              </a:defRPr>
            </a:pPr>
            <a:r>
              <a:rPr b="1">
                <a:solidFill>
                  <a:srgbClr val="0F172A"/>
                </a:solidFill>
              </a:rPr>
              <a:t>Bài học 1: Giới hạn của mô phỏng — </a:t>
            </a:r>
            <a:r>
              <a:rPr>
                <a:solidFill>
                  <a:srgbClr val="334155"/>
                </a:solidFill>
              </a:rPr>
              <a:t>Mô phỏng Icarus Verilog không bắt được vòng lặp tổ hợp. Chỉ công cụ tổng hợp Vivado DRC/Elaboration mới phát hiện lỗi cấu trúc.</a:t>
            </a:r>
          </a:p>
          <a:p>
            <a:pPr>
              <a:spcAft>
                <a:spcPts val="1400"/>
              </a:spcAft>
              <a:defRPr sz="1000">
                <a:latin typeface="Segoe UI"/>
              </a:defRPr>
            </a:pPr>
            <a:r>
              <a:rPr b="1">
                <a:solidFill>
                  <a:srgbClr val="0F172A"/>
                </a:solidFill>
              </a:rPr>
              <a:t>Bài học 2: Hiện tượng reset đánh lừa — </a:t>
            </a:r>
            <a:r>
              <a:rPr>
                <a:solidFill>
                  <a:srgbClr val="334155"/>
                </a:solidFill>
              </a:rPr>
              <a:t>Đèn PLL lock sáng không đồng nghĩa bus AXI đã thoát reset. Clock AXI bị ngắt lúc reset làm các IP bị treo. Phải dùng reset đồng bộ clock-running.</a:t>
            </a:r>
          </a:p>
        </p:txBody>
      </p:sp>
      <p:sp>
        <p:nvSpPr>
          <p:cNvPr id="7" name="TextBox 6"/>
          <p:cNvSpPr txBox="1"/>
          <p:nvPr/>
        </p:nvSpPr>
        <p:spPr>
          <a:xfrm>
            <a:off x="608753" y="3877191"/>
            <a:ext cx="4572000" cy="2194560"/>
          </a:xfrm>
          <a:prstGeom prst="rect">
            <a:avLst/>
          </a:prstGeom>
          <a:noFill/>
        </p:spPr>
        <p:txBody>
          <a:bodyPr wrap="square" lIns="0" tIns="0" rIns="0" bIns="0">
            <a:spAutoFit/>
          </a:bodyPr>
          <a:lstStyle/>
          <a:p>
            <a:pPr>
              <a:spcAft>
                <a:spcPts val="800"/>
              </a:spcAft>
              <a:defRPr sz="1000">
                <a:latin typeface="Segoe UI"/>
              </a:defRPr>
            </a:pPr>
            <a:r>
              <a:rPr b="1" dirty="0">
                <a:solidFill>
                  <a:srgbClr val="0F172A"/>
                </a:solidFill>
              </a:rPr>
              <a:t>JTAG </a:t>
            </a:r>
            <a:r>
              <a:rPr b="1" dirty="0" err="1">
                <a:solidFill>
                  <a:srgbClr val="0F172A"/>
                </a:solidFill>
              </a:rPr>
              <a:t>nạp</a:t>
            </a:r>
            <a:r>
              <a:rPr b="1" dirty="0">
                <a:solidFill>
                  <a:srgbClr val="0F172A"/>
                </a:solidFill>
              </a:rPr>
              <a:t> firmware — </a:t>
            </a:r>
            <a:r>
              <a:rPr dirty="0" err="1">
                <a:solidFill>
                  <a:srgbClr val="334155"/>
                </a:solidFill>
              </a:rPr>
              <a:t>Nạp</a:t>
            </a:r>
            <a:r>
              <a:rPr dirty="0">
                <a:solidFill>
                  <a:srgbClr val="334155"/>
                </a:solidFill>
              </a:rPr>
              <a:t> BRAM qua JTAG, </a:t>
            </a:r>
            <a:r>
              <a:rPr dirty="0" err="1">
                <a:solidFill>
                  <a:srgbClr val="334155"/>
                </a:solidFill>
              </a:rPr>
              <a:t>đọc</a:t>
            </a:r>
            <a:r>
              <a:rPr dirty="0">
                <a:solidFill>
                  <a:srgbClr val="334155"/>
                </a:solidFill>
              </a:rPr>
              <a:t> </a:t>
            </a:r>
            <a:r>
              <a:rPr dirty="0" err="1">
                <a:solidFill>
                  <a:srgbClr val="334155"/>
                </a:solidFill>
              </a:rPr>
              <a:t>ngược</a:t>
            </a:r>
            <a:r>
              <a:rPr dirty="0">
                <a:solidFill>
                  <a:srgbClr val="334155"/>
                </a:solidFill>
              </a:rPr>
              <a:t> </a:t>
            </a:r>
            <a:r>
              <a:rPr dirty="0" err="1">
                <a:solidFill>
                  <a:srgbClr val="334155"/>
                </a:solidFill>
              </a:rPr>
              <a:t>lại</a:t>
            </a:r>
            <a:r>
              <a:rPr dirty="0">
                <a:solidFill>
                  <a:srgbClr val="334155"/>
                </a:solidFill>
              </a:rPr>
              <a:t> </a:t>
            </a:r>
            <a:r>
              <a:rPr dirty="0" err="1">
                <a:solidFill>
                  <a:srgbClr val="334155"/>
                </a:solidFill>
              </a:rPr>
              <a:t>đối</a:t>
            </a:r>
            <a:r>
              <a:rPr dirty="0">
                <a:solidFill>
                  <a:srgbClr val="334155"/>
                </a:solidFill>
              </a:rPr>
              <a:t> </a:t>
            </a:r>
            <a:r>
              <a:rPr dirty="0" err="1">
                <a:solidFill>
                  <a:srgbClr val="334155"/>
                </a:solidFill>
              </a:rPr>
              <a:t>soát</a:t>
            </a:r>
            <a:r>
              <a:rPr dirty="0">
                <a:solidFill>
                  <a:srgbClr val="334155"/>
                </a:solidFill>
              </a:rPr>
              <a:t> </a:t>
            </a:r>
            <a:r>
              <a:rPr dirty="0" err="1">
                <a:solidFill>
                  <a:srgbClr val="334155"/>
                </a:solidFill>
              </a:rPr>
              <a:t>khớp</a:t>
            </a:r>
            <a:r>
              <a:rPr dirty="0">
                <a:solidFill>
                  <a:srgbClr val="334155"/>
                </a:solidFill>
              </a:rPr>
              <a:t> 100% </a:t>
            </a:r>
            <a:r>
              <a:rPr dirty="0" err="1">
                <a:solidFill>
                  <a:srgbClr val="334155"/>
                </a:solidFill>
              </a:rPr>
              <a:t>từng</a:t>
            </a:r>
            <a:r>
              <a:rPr dirty="0">
                <a:solidFill>
                  <a:srgbClr val="334155"/>
                </a:solidFill>
              </a:rPr>
              <a:t> byte.</a:t>
            </a:r>
          </a:p>
          <a:p>
            <a:pPr>
              <a:spcAft>
                <a:spcPts val="800"/>
              </a:spcAft>
              <a:defRPr sz="1000">
                <a:latin typeface="Segoe UI"/>
              </a:defRPr>
            </a:pPr>
            <a:r>
              <a:rPr b="1" dirty="0" err="1">
                <a:solidFill>
                  <a:srgbClr val="0F172A"/>
                </a:solidFill>
              </a:rPr>
              <a:t>Biến</a:t>
            </a:r>
            <a:r>
              <a:rPr b="1" dirty="0">
                <a:solidFill>
                  <a:srgbClr val="0F172A"/>
                </a:solidFill>
              </a:rPr>
              <a:t> </a:t>
            </a:r>
            <a:r>
              <a:rPr b="1" dirty="0" err="1">
                <a:solidFill>
                  <a:srgbClr val="0F172A"/>
                </a:solidFill>
              </a:rPr>
              <a:t>đếm</a:t>
            </a:r>
            <a:r>
              <a:rPr b="1" dirty="0">
                <a:solidFill>
                  <a:srgbClr val="0F172A"/>
                </a:solidFill>
              </a:rPr>
              <a:t> DMEM — </a:t>
            </a:r>
            <a:r>
              <a:rPr dirty="0" err="1">
                <a:solidFill>
                  <a:srgbClr val="334155"/>
                </a:solidFill>
              </a:rPr>
              <a:t>Đọc</a:t>
            </a:r>
            <a:r>
              <a:rPr dirty="0">
                <a:solidFill>
                  <a:srgbClr val="334155"/>
                </a:solidFill>
              </a:rPr>
              <a:t> qua </a:t>
            </a:r>
            <a:r>
              <a:rPr dirty="0" err="1">
                <a:solidFill>
                  <a:srgbClr val="334155"/>
                </a:solidFill>
              </a:rPr>
              <a:t>Vivado</a:t>
            </a:r>
            <a:r>
              <a:rPr dirty="0">
                <a:solidFill>
                  <a:srgbClr val="334155"/>
                </a:solidFill>
              </a:rPr>
              <a:t> </a:t>
            </a:r>
            <a:r>
              <a:rPr dirty="0" err="1">
                <a:solidFill>
                  <a:srgbClr val="334155"/>
                </a:solidFill>
              </a:rPr>
              <a:t>Tcl</a:t>
            </a:r>
            <a:r>
              <a:rPr dirty="0">
                <a:solidFill>
                  <a:srgbClr val="334155"/>
                </a:solidFill>
              </a:rPr>
              <a:t> </a:t>
            </a:r>
            <a:r>
              <a:rPr dirty="0" err="1">
                <a:solidFill>
                  <a:srgbClr val="334155"/>
                </a:solidFill>
              </a:rPr>
              <a:t>nhiều</a:t>
            </a:r>
            <a:r>
              <a:rPr dirty="0">
                <a:solidFill>
                  <a:srgbClr val="334155"/>
                </a:solidFill>
              </a:rPr>
              <a:t> </a:t>
            </a:r>
            <a:r>
              <a:rPr dirty="0" err="1">
                <a:solidFill>
                  <a:srgbClr val="334155"/>
                </a:solidFill>
              </a:rPr>
              <a:t>lần</a:t>
            </a:r>
            <a:r>
              <a:rPr dirty="0">
                <a:solidFill>
                  <a:srgbClr val="334155"/>
                </a:solidFill>
              </a:rPr>
              <a:t> </a:t>
            </a:r>
            <a:r>
              <a:rPr dirty="0" err="1">
                <a:solidFill>
                  <a:srgbClr val="334155"/>
                </a:solidFill>
              </a:rPr>
              <a:t>thấy</a:t>
            </a:r>
            <a:r>
              <a:rPr dirty="0">
                <a:solidFill>
                  <a:srgbClr val="334155"/>
                </a:solidFill>
              </a:rPr>
              <a:t> </a:t>
            </a:r>
            <a:r>
              <a:rPr dirty="0" err="1">
                <a:solidFill>
                  <a:srgbClr val="334155"/>
                </a:solidFill>
              </a:rPr>
              <a:t>biến</a:t>
            </a:r>
            <a:r>
              <a:rPr dirty="0">
                <a:solidFill>
                  <a:srgbClr val="334155"/>
                </a:solidFill>
              </a:rPr>
              <a:t> </a:t>
            </a:r>
            <a:r>
              <a:rPr dirty="0" err="1">
                <a:solidFill>
                  <a:srgbClr val="334155"/>
                </a:solidFill>
              </a:rPr>
              <a:t>đếm</a:t>
            </a:r>
            <a:r>
              <a:rPr dirty="0">
                <a:solidFill>
                  <a:srgbClr val="334155"/>
                </a:solidFill>
              </a:rPr>
              <a:t> </a:t>
            </a:r>
            <a:r>
              <a:rPr dirty="0" err="1">
                <a:solidFill>
                  <a:srgbClr val="334155"/>
                </a:solidFill>
              </a:rPr>
              <a:t>tiến</a:t>
            </a:r>
            <a:r>
              <a:rPr dirty="0">
                <a:solidFill>
                  <a:srgbClr val="334155"/>
                </a:solidFill>
              </a:rPr>
              <a:t> </a:t>
            </a:r>
            <a:r>
              <a:rPr dirty="0" err="1">
                <a:solidFill>
                  <a:srgbClr val="334155"/>
                </a:solidFill>
              </a:rPr>
              <a:t>lên</a:t>
            </a:r>
            <a:r>
              <a:rPr dirty="0">
                <a:solidFill>
                  <a:srgbClr val="334155"/>
                </a:solidFill>
              </a:rPr>
              <a:t> -&gt; Core </a:t>
            </a:r>
            <a:r>
              <a:rPr dirty="0" err="1">
                <a:solidFill>
                  <a:srgbClr val="334155"/>
                </a:solidFill>
              </a:rPr>
              <a:t>chạy</a:t>
            </a:r>
            <a:r>
              <a:rPr dirty="0">
                <a:solidFill>
                  <a:srgbClr val="334155"/>
                </a:solidFill>
              </a:rPr>
              <a:t> </a:t>
            </a:r>
            <a:r>
              <a:rPr dirty="0" err="1">
                <a:solidFill>
                  <a:srgbClr val="334155"/>
                </a:solidFill>
              </a:rPr>
              <a:t>liên</a:t>
            </a:r>
            <a:r>
              <a:rPr dirty="0">
                <a:solidFill>
                  <a:srgbClr val="334155"/>
                </a:solidFill>
              </a:rPr>
              <a:t> </a:t>
            </a:r>
            <a:r>
              <a:rPr dirty="0" err="1">
                <a:solidFill>
                  <a:srgbClr val="334155"/>
                </a:solidFill>
              </a:rPr>
              <a:t>tục</a:t>
            </a:r>
            <a:r>
              <a:rPr dirty="0">
                <a:solidFill>
                  <a:srgbClr val="334155"/>
                </a:solidFill>
              </a:rPr>
              <a:t>.</a:t>
            </a:r>
          </a:p>
          <a:p>
            <a:pPr>
              <a:spcAft>
                <a:spcPts val="800"/>
              </a:spcAft>
              <a:defRPr sz="1000">
                <a:latin typeface="Segoe UI"/>
              </a:defRPr>
            </a:pPr>
            <a:r>
              <a:rPr b="1" dirty="0">
                <a:solidFill>
                  <a:srgbClr val="0F172A"/>
                </a:solidFill>
              </a:rPr>
              <a:t>UART Console 115200 — </a:t>
            </a:r>
            <a:r>
              <a:rPr dirty="0" err="1">
                <a:solidFill>
                  <a:srgbClr val="334155"/>
                </a:solidFill>
              </a:rPr>
              <a:t>Phát</a:t>
            </a:r>
            <a:r>
              <a:rPr dirty="0">
                <a:solidFill>
                  <a:srgbClr val="334155"/>
                </a:solidFill>
              </a:rPr>
              <a:t> </a:t>
            </a:r>
            <a:r>
              <a:rPr dirty="0" err="1">
                <a:solidFill>
                  <a:srgbClr val="334155"/>
                </a:solidFill>
              </a:rPr>
              <a:t>dữ</a:t>
            </a:r>
            <a:r>
              <a:rPr dirty="0">
                <a:solidFill>
                  <a:srgbClr val="334155"/>
                </a:solidFill>
              </a:rPr>
              <a:t> </a:t>
            </a:r>
            <a:r>
              <a:rPr dirty="0" err="1">
                <a:solidFill>
                  <a:srgbClr val="334155"/>
                </a:solidFill>
              </a:rPr>
              <a:t>liệu</a:t>
            </a:r>
            <a:r>
              <a:rPr dirty="0">
                <a:solidFill>
                  <a:srgbClr val="334155"/>
                </a:solidFill>
              </a:rPr>
              <a:t> </a:t>
            </a:r>
            <a:r>
              <a:rPr dirty="0" err="1">
                <a:solidFill>
                  <a:srgbClr val="334155"/>
                </a:solidFill>
              </a:rPr>
              <a:t>chuỗi</a:t>
            </a:r>
            <a:r>
              <a:rPr dirty="0">
                <a:solidFill>
                  <a:srgbClr val="334155"/>
                </a:solidFill>
              </a:rPr>
              <a:t> </a:t>
            </a:r>
            <a:r>
              <a:rPr dirty="0" err="1">
                <a:solidFill>
                  <a:srgbClr val="334155"/>
                </a:solidFill>
              </a:rPr>
              <a:t>ký</a:t>
            </a:r>
            <a:r>
              <a:rPr dirty="0">
                <a:solidFill>
                  <a:srgbClr val="334155"/>
                </a:solidFill>
              </a:rPr>
              <a:t> </a:t>
            </a:r>
            <a:r>
              <a:rPr dirty="0" err="1">
                <a:solidFill>
                  <a:srgbClr val="334155"/>
                </a:solidFill>
              </a:rPr>
              <a:t>tự</a:t>
            </a:r>
            <a:r>
              <a:rPr dirty="0">
                <a:solidFill>
                  <a:srgbClr val="334155"/>
                </a:solidFill>
              </a:rPr>
              <a:t> </a:t>
            </a:r>
            <a:r>
              <a:rPr dirty="0" err="1">
                <a:solidFill>
                  <a:srgbClr val="334155"/>
                </a:solidFill>
              </a:rPr>
              <a:t>hiển</a:t>
            </a:r>
            <a:r>
              <a:rPr dirty="0">
                <a:solidFill>
                  <a:srgbClr val="334155"/>
                </a:solidFill>
              </a:rPr>
              <a:t> </a:t>
            </a:r>
            <a:r>
              <a:rPr dirty="0" err="1">
                <a:solidFill>
                  <a:srgbClr val="334155"/>
                </a:solidFill>
              </a:rPr>
              <a:t>thị</a:t>
            </a:r>
            <a:r>
              <a:rPr dirty="0">
                <a:solidFill>
                  <a:srgbClr val="334155"/>
                </a:solidFill>
              </a:rPr>
              <a:t> </a:t>
            </a:r>
            <a:r>
              <a:rPr dirty="0" err="1">
                <a:solidFill>
                  <a:srgbClr val="334155"/>
                </a:solidFill>
              </a:rPr>
              <a:t>sắc</a:t>
            </a:r>
            <a:r>
              <a:rPr dirty="0">
                <a:solidFill>
                  <a:srgbClr val="334155"/>
                </a:solidFill>
              </a:rPr>
              <a:t> </a:t>
            </a:r>
            <a:r>
              <a:rPr dirty="0" err="1">
                <a:solidFill>
                  <a:srgbClr val="334155"/>
                </a:solidFill>
              </a:rPr>
              <a:t>nét</a:t>
            </a:r>
            <a:r>
              <a:rPr dirty="0">
                <a:solidFill>
                  <a:srgbClr val="334155"/>
                </a:solidFill>
              </a:rPr>
              <a:t> </a:t>
            </a:r>
            <a:r>
              <a:rPr dirty="0" err="1">
                <a:solidFill>
                  <a:srgbClr val="334155"/>
                </a:solidFill>
              </a:rPr>
              <a:t>trên</a:t>
            </a:r>
            <a:r>
              <a:rPr dirty="0">
                <a:solidFill>
                  <a:srgbClr val="334155"/>
                </a:solidFill>
              </a:rPr>
              <a:t> Terminal.</a:t>
            </a:r>
          </a:p>
          <a:p>
            <a:pPr>
              <a:spcAft>
                <a:spcPts val="800"/>
              </a:spcAft>
              <a:defRPr sz="1000">
                <a:latin typeface="Segoe UI"/>
              </a:defRPr>
            </a:pPr>
            <a:r>
              <a:rPr b="1" dirty="0" err="1">
                <a:solidFill>
                  <a:srgbClr val="0F172A"/>
                </a:solidFill>
              </a:rPr>
              <a:t>Nút</a:t>
            </a:r>
            <a:r>
              <a:rPr b="1" dirty="0">
                <a:solidFill>
                  <a:srgbClr val="0F172A"/>
                </a:solidFill>
              </a:rPr>
              <a:t> Reset </a:t>
            </a:r>
            <a:r>
              <a:rPr b="1" dirty="0" err="1">
                <a:solidFill>
                  <a:srgbClr val="0F172A"/>
                </a:solidFill>
              </a:rPr>
              <a:t>cứng</a:t>
            </a:r>
            <a:r>
              <a:rPr b="1" dirty="0">
                <a:solidFill>
                  <a:srgbClr val="0F172A"/>
                </a:solidFill>
              </a:rPr>
              <a:t> 5 </a:t>
            </a:r>
            <a:r>
              <a:rPr b="1" dirty="0" err="1">
                <a:solidFill>
                  <a:srgbClr val="0F172A"/>
                </a:solidFill>
              </a:rPr>
              <a:t>giây</a:t>
            </a:r>
            <a:r>
              <a:rPr b="1" dirty="0">
                <a:solidFill>
                  <a:srgbClr val="0F172A"/>
                </a:solidFill>
              </a:rPr>
              <a:t> — </a:t>
            </a:r>
            <a:r>
              <a:rPr dirty="0" err="1">
                <a:solidFill>
                  <a:srgbClr val="334155"/>
                </a:solidFill>
              </a:rPr>
              <a:t>Giữ</a:t>
            </a:r>
            <a:r>
              <a:rPr dirty="0">
                <a:solidFill>
                  <a:srgbClr val="334155"/>
                </a:solidFill>
              </a:rPr>
              <a:t> </a:t>
            </a:r>
            <a:r>
              <a:rPr dirty="0" err="1">
                <a:solidFill>
                  <a:srgbClr val="334155"/>
                </a:solidFill>
              </a:rPr>
              <a:t>nút</a:t>
            </a:r>
            <a:r>
              <a:rPr dirty="0">
                <a:solidFill>
                  <a:srgbClr val="334155"/>
                </a:solidFill>
              </a:rPr>
              <a:t> reset 5s </a:t>
            </a:r>
            <a:r>
              <a:rPr dirty="0" err="1">
                <a:solidFill>
                  <a:srgbClr val="334155"/>
                </a:solidFill>
              </a:rPr>
              <a:t>rồi</a:t>
            </a:r>
            <a:r>
              <a:rPr dirty="0">
                <a:solidFill>
                  <a:srgbClr val="334155"/>
                </a:solidFill>
              </a:rPr>
              <a:t> </a:t>
            </a:r>
            <a:r>
              <a:rPr dirty="0" err="1">
                <a:solidFill>
                  <a:srgbClr val="334155"/>
                </a:solidFill>
              </a:rPr>
              <a:t>nhả</a:t>
            </a:r>
            <a:r>
              <a:rPr dirty="0">
                <a:solidFill>
                  <a:srgbClr val="334155"/>
                </a:solidFill>
              </a:rPr>
              <a:t> -&gt; </a:t>
            </a:r>
            <a:r>
              <a:rPr dirty="0" err="1">
                <a:solidFill>
                  <a:srgbClr val="334155"/>
                </a:solidFill>
              </a:rPr>
              <a:t>hệ</a:t>
            </a:r>
            <a:r>
              <a:rPr dirty="0">
                <a:solidFill>
                  <a:srgbClr val="334155"/>
                </a:solidFill>
              </a:rPr>
              <a:t> </a:t>
            </a:r>
            <a:r>
              <a:rPr dirty="0" err="1">
                <a:solidFill>
                  <a:srgbClr val="334155"/>
                </a:solidFill>
              </a:rPr>
              <a:t>thống</a:t>
            </a:r>
            <a:r>
              <a:rPr dirty="0">
                <a:solidFill>
                  <a:srgbClr val="334155"/>
                </a:solidFill>
              </a:rPr>
              <a:t> </a:t>
            </a:r>
            <a:r>
              <a:rPr dirty="0" err="1">
                <a:solidFill>
                  <a:srgbClr val="334155"/>
                </a:solidFill>
              </a:rPr>
              <a:t>tự</a:t>
            </a:r>
            <a:r>
              <a:rPr dirty="0">
                <a:solidFill>
                  <a:srgbClr val="334155"/>
                </a:solidFill>
              </a:rPr>
              <a:t> </a:t>
            </a:r>
            <a:r>
              <a:rPr dirty="0" err="1">
                <a:solidFill>
                  <a:srgbClr val="334155"/>
                </a:solidFill>
              </a:rPr>
              <a:t>phục</a:t>
            </a:r>
            <a:r>
              <a:rPr dirty="0">
                <a:solidFill>
                  <a:srgbClr val="334155"/>
                </a:solidFill>
              </a:rPr>
              <a:t> </a:t>
            </a:r>
            <a:r>
              <a:rPr dirty="0" err="1">
                <a:solidFill>
                  <a:srgbClr val="334155"/>
                </a:solidFill>
              </a:rPr>
              <a:t>hồi</a:t>
            </a:r>
            <a:r>
              <a:rPr dirty="0">
                <a:solidFill>
                  <a:srgbClr val="334155"/>
                </a:solidFill>
              </a:rPr>
              <a:t> </a:t>
            </a:r>
            <a:r>
              <a:rPr dirty="0" err="1">
                <a:solidFill>
                  <a:srgbClr val="334155"/>
                </a:solidFill>
              </a:rPr>
              <a:t>hoàn</a:t>
            </a:r>
            <a:r>
              <a:rPr dirty="0">
                <a:solidFill>
                  <a:srgbClr val="334155"/>
                </a:solidFill>
              </a:rPr>
              <a:t> </a:t>
            </a:r>
            <a:r>
              <a:rPr dirty="0" err="1">
                <a:solidFill>
                  <a:srgbClr val="334155"/>
                </a:solidFill>
              </a:rPr>
              <a:t>hảo</a:t>
            </a:r>
            <a:r>
              <a:rPr dirty="0">
                <a:solidFill>
                  <a:srgbClr val="334155"/>
                </a:solidFill>
              </a:rPr>
              <a:t>.</a:t>
            </a:r>
          </a:p>
        </p:txBody>
      </p:sp>
      <p:sp>
        <p:nvSpPr>
          <p:cNvPr id="9" name="TextBox 8"/>
          <p:cNvSpPr txBox="1"/>
          <p:nvPr/>
        </p:nvSpPr>
        <p:spPr>
          <a:xfrm>
            <a:off x="5669280" y="3657600"/>
            <a:ext cx="5760720" cy="548640"/>
          </a:xfrm>
          <a:prstGeom prst="rect">
            <a:avLst/>
          </a:prstGeom>
          <a:noFill/>
        </p:spPr>
        <p:txBody>
          <a:bodyPr wrap="square" lIns="0" tIns="0" rIns="0" bIns="0">
            <a:spAutoFit/>
          </a:bodyPr>
          <a:lstStyle/>
          <a:p>
            <a:pPr algn="ctr">
              <a:defRPr sz="1100" b="1">
                <a:solidFill>
                  <a:srgbClr val="64748B"/>
                </a:solidFill>
                <a:latin typeface="Segoe UI"/>
              </a:defRPr>
            </a:pPr>
            <a:r>
              <a:t>[ Hình 4. Bằng chứng chạy thực trên board ZCU106 ]</a:t>
            </a:r>
          </a:p>
          <a:p>
            <a:pPr algn="ctr">
              <a:defRPr sz="900">
                <a:solidFill>
                  <a:srgbClr val="64748B"/>
                </a:solidFill>
                <a:latin typeface="Segoe UI"/>
              </a:defRPr>
            </a:pPr>
            <a:r>
              <a:t>Dán hình từ Word vào đây</a:t>
            </a:r>
          </a:p>
        </p:txBody>
      </p:sp>
      <p:pic>
        <p:nvPicPr>
          <p:cNvPr id="11" name="Picture 10">
            <a:extLst>
              <a:ext uri="{FF2B5EF4-FFF2-40B4-BE49-F238E27FC236}">
                <a16:creationId xmlns:a16="http://schemas.microsoft.com/office/drawing/2014/main" id="{834E7783-E33E-447D-9972-B7E5DB48F52E}"/>
              </a:ext>
            </a:extLst>
          </p:cNvPr>
          <p:cNvPicPr>
            <a:picLocks noChangeAspect="1"/>
          </p:cNvPicPr>
          <p:nvPr/>
        </p:nvPicPr>
        <p:blipFill>
          <a:blip r:embed="rId2"/>
          <a:stretch>
            <a:fillRect/>
          </a:stretch>
        </p:blipFill>
        <p:spPr>
          <a:xfrm>
            <a:off x="5294631" y="1679986"/>
            <a:ext cx="6827520" cy="367839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4. ĐIỂM SÁNG KIỂM CHỨNG</a:t>
            </a:r>
          </a:p>
        </p:txBody>
      </p:sp>
      <p:sp>
        <p:nvSpPr>
          <p:cNvPr id="3" name="TextBox 2"/>
          <p:cNvSpPr txBox="1"/>
          <p:nvPr/>
        </p:nvSpPr>
        <p:spPr>
          <a:xfrm>
            <a:off x="731520" y="621792"/>
            <a:ext cx="10698480" cy="300082"/>
          </a:xfrm>
          <a:prstGeom prst="rect">
            <a:avLst/>
          </a:prstGeom>
          <a:noFill/>
        </p:spPr>
        <p:txBody>
          <a:bodyPr wrap="square" lIns="0" tIns="0" rIns="0" bIns="0">
            <a:spAutoFit/>
          </a:bodyPr>
          <a:lstStyle/>
          <a:p>
            <a:pPr>
              <a:defRPr sz="1950" b="1">
                <a:solidFill>
                  <a:srgbClr val="0F172A"/>
                </a:solidFill>
                <a:latin typeface="Segoe UI"/>
              </a:defRPr>
            </a:pPr>
            <a:r>
              <a:rPr dirty="0"/>
              <a:t>4.6 Timing Sau Route &amp; 4.7 </a:t>
            </a:r>
            <a:r>
              <a:rPr dirty="0" err="1"/>
              <a:t>Tài</a:t>
            </a:r>
            <a:r>
              <a:rPr dirty="0"/>
              <a:t> </a:t>
            </a:r>
            <a:r>
              <a:rPr dirty="0" err="1"/>
              <a:t>Nguyên</a:t>
            </a:r>
            <a:r>
              <a:rPr dirty="0"/>
              <a:t> SoC </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26/28</a:t>
            </a:r>
          </a:p>
        </p:txBody>
      </p:sp>
      <p:sp>
        <p:nvSpPr>
          <p:cNvPr id="7" name="TextBox 6"/>
          <p:cNvSpPr txBox="1"/>
          <p:nvPr/>
        </p:nvSpPr>
        <p:spPr>
          <a:xfrm>
            <a:off x="731520" y="2834640"/>
            <a:ext cx="4572000" cy="548640"/>
          </a:xfrm>
          <a:prstGeom prst="rect">
            <a:avLst/>
          </a:prstGeom>
          <a:noFill/>
        </p:spPr>
        <p:txBody>
          <a:bodyPr wrap="square" lIns="0" tIns="0" rIns="0" bIns="0">
            <a:spAutoFit/>
          </a:bodyPr>
          <a:lstStyle/>
          <a:p>
            <a:pPr algn="ctr">
              <a:defRPr sz="1100" b="1">
                <a:solidFill>
                  <a:srgbClr val="64748B"/>
                </a:solidFill>
                <a:latin typeface="Segoe UI"/>
              </a:defRPr>
            </a:pPr>
            <a:r>
              <a:t>[ Hình 5. Timing Summary sau route ]</a:t>
            </a:r>
          </a:p>
          <a:p>
            <a:pPr algn="ctr">
              <a:defRPr sz="900">
                <a:solidFill>
                  <a:srgbClr val="64748B"/>
                </a:solidFill>
                <a:latin typeface="Segoe UI"/>
              </a:defRPr>
            </a:pPr>
            <a:r>
              <a:t>Dán hình từ Word vào đây</a:t>
            </a:r>
          </a:p>
        </p:txBody>
      </p:sp>
      <p:sp>
        <p:nvSpPr>
          <p:cNvPr id="8" name="TextBox 7"/>
          <p:cNvSpPr txBox="1"/>
          <p:nvPr/>
        </p:nvSpPr>
        <p:spPr>
          <a:xfrm>
            <a:off x="5669280" y="1737360"/>
            <a:ext cx="5760720" cy="219456"/>
          </a:xfrm>
          <a:prstGeom prst="rect">
            <a:avLst/>
          </a:prstGeom>
          <a:noFill/>
        </p:spPr>
        <p:txBody>
          <a:bodyPr wrap="square" lIns="0" tIns="0" rIns="0" bIns="0">
            <a:spAutoFit/>
          </a:bodyPr>
          <a:lstStyle/>
          <a:p>
            <a:pPr>
              <a:defRPr sz="900" b="1">
                <a:solidFill>
                  <a:srgbClr val="C2410C"/>
                </a:solidFill>
                <a:latin typeface="Segoe UI"/>
              </a:defRPr>
            </a:pPr>
            <a:r>
              <a:t>TÀI NGUYÊN SỬ DỤNG TOÀN HỆ THỐNG.</a:t>
            </a:r>
          </a:p>
        </p:txBody>
      </p:sp>
      <p:graphicFrame>
        <p:nvGraphicFramePr>
          <p:cNvPr id="9" name="Table 8"/>
          <p:cNvGraphicFramePr>
            <a:graphicFrameLocks noGrp="1"/>
          </p:cNvGraphicFramePr>
          <p:nvPr/>
        </p:nvGraphicFramePr>
        <p:xfrm>
          <a:off x="5669280" y="1975104"/>
          <a:ext cx="5760720" cy="2505456"/>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17576">
                <a:tc>
                  <a:txBody>
                    <a:bodyPr/>
                    <a:lstStyle/>
                    <a:p>
                      <a:pPr>
                        <a:defRPr sz="950" b="1">
                          <a:solidFill>
                            <a:srgbClr val="0F172A"/>
                          </a:solidFill>
                          <a:latin typeface="Segoe UI"/>
                        </a:defRPr>
                      </a:pPr>
                      <a:r>
                        <a:t>Loại Tài Nguyên</a:t>
                      </a:r>
                    </a:p>
                  </a:txBody>
                  <a:tcPr>
                    <a:solidFill>
                      <a:srgbClr val="F1F5F9"/>
                    </a:solidFill>
                  </a:tcPr>
                </a:tc>
                <a:tc>
                  <a:txBody>
                    <a:bodyPr/>
                    <a:lstStyle/>
                    <a:p>
                      <a:pPr>
                        <a:defRPr sz="950" b="1">
                          <a:solidFill>
                            <a:srgbClr val="0F172A"/>
                          </a:solidFill>
                          <a:latin typeface="Segoe UI"/>
                        </a:defRPr>
                      </a:pPr>
                      <a:r>
                        <a:t>Sử Dụng</a:t>
                      </a:r>
                    </a:p>
                  </a:txBody>
                  <a:tcPr>
                    <a:solidFill>
                      <a:srgbClr val="F1F5F9"/>
                    </a:solidFill>
                  </a:tcPr>
                </a:tc>
                <a:tc>
                  <a:txBody>
                    <a:bodyPr/>
                    <a:lstStyle/>
                    <a:p>
                      <a:pPr>
                        <a:defRPr sz="950" b="1">
                          <a:solidFill>
                            <a:srgbClr val="0F172A"/>
                          </a:solidFill>
                          <a:latin typeface="Segoe UI"/>
                        </a:defRPr>
                      </a:pPr>
                      <a:r>
                        <a:t>Tổng Khả Dụng</a:t>
                      </a:r>
                    </a:p>
                  </a:txBody>
                  <a:tcPr>
                    <a:solidFill>
                      <a:srgbClr val="F1F5F9"/>
                    </a:solidFill>
                  </a:tcPr>
                </a:tc>
                <a:tc>
                  <a:txBody>
                    <a:bodyPr/>
                    <a:lstStyle/>
                    <a:p>
                      <a:pPr>
                        <a:defRPr sz="950" b="1">
                          <a:solidFill>
                            <a:srgbClr val="0F172A"/>
                          </a:solidFill>
                          <a:latin typeface="Segoe UI"/>
                        </a:defRPr>
                      </a:pPr>
                      <a:r>
                        <a:t>Tỉ Lệ (%)</a:t>
                      </a:r>
                    </a:p>
                  </a:txBody>
                  <a:tcPr>
                    <a:solidFill>
                      <a:srgbClr val="F1F5F9"/>
                    </a:solidFill>
                  </a:tcPr>
                </a:tc>
                <a:extLst>
                  <a:ext uri="{0D108BD9-81ED-4DB2-BD59-A6C34878D82A}">
                    <a16:rowId xmlns:a16="http://schemas.microsoft.com/office/drawing/2014/main" val="10000"/>
                  </a:ext>
                </a:extLst>
              </a:tr>
              <a:tr h="417576">
                <a:tc>
                  <a:txBody>
                    <a:bodyPr/>
                    <a:lstStyle/>
                    <a:p>
                      <a:pPr>
                        <a:defRPr sz="900" b="1">
                          <a:solidFill>
                            <a:srgbClr val="0F172A"/>
                          </a:solidFill>
                          <a:latin typeface="Segoe UI"/>
                        </a:defRPr>
                      </a:pPr>
                      <a:r>
                        <a:t>CLB LUTs (Toàn SoC)</a:t>
                      </a:r>
                    </a:p>
                  </a:txBody>
                  <a:tcPr>
                    <a:solidFill>
                      <a:srgbClr val="FFFFFF"/>
                    </a:solidFill>
                  </a:tcPr>
                </a:tc>
                <a:tc>
                  <a:txBody>
                    <a:bodyPr/>
                    <a:lstStyle/>
                    <a:p>
                      <a:pPr>
                        <a:defRPr sz="900">
                          <a:solidFill>
                            <a:srgbClr val="334155"/>
                          </a:solidFill>
                          <a:latin typeface="Segoe UI"/>
                        </a:defRPr>
                      </a:pPr>
                      <a:r>
                        <a:t>4,337</a:t>
                      </a:r>
                    </a:p>
                  </a:txBody>
                  <a:tcPr>
                    <a:solidFill>
                      <a:srgbClr val="FFFFFF"/>
                    </a:solidFill>
                  </a:tcPr>
                </a:tc>
                <a:tc>
                  <a:txBody>
                    <a:bodyPr/>
                    <a:lstStyle/>
                    <a:p>
                      <a:pPr>
                        <a:defRPr sz="900">
                          <a:solidFill>
                            <a:srgbClr val="334155"/>
                          </a:solidFill>
                          <a:latin typeface="Segoe UI"/>
                        </a:defRPr>
                      </a:pPr>
                      <a:r>
                        <a:t>230,400</a:t>
                      </a:r>
                    </a:p>
                  </a:txBody>
                  <a:tcPr>
                    <a:solidFill>
                      <a:srgbClr val="FFFFFF"/>
                    </a:solidFill>
                  </a:tcPr>
                </a:tc>
                <a:tc>
                  <a:txBody>
                    <a:bodyPr/>
                    <a:lstStyle/>
                    <a:p>
                      <a:pPr>
                        <a:defRPr sz="900">
                          <a:solidFill>
                            <a:srgbClr val="334155"/>
                          </a:solidFill>
                          <a:latin typeface="Segoe UI"/>
                        </a:defRPr>
                      </a:pPr>
                      <a:r>
                        <a:t>1.88%</a:t>
                      </a:r>
                    </a:p>
                  </a:txBody>
                  <a:tcPr>
                    <a:solidFill>
                      <a:srgbClr val="FFFFFF"/>
                    </a:solidFill>
                  </a:tcPr>
                </a:tc>
                <a:extLst>
                  <a:ext uri="{0D108BD9-81ED-4DB2-BD59-A6C34878D82A}">
                    <a16:rowId xmlns:a16="http://schemas.microsoft.com/office/drawing/2014/main" val="10001"/>
                  </a:ext>
                </a:extLst>
              </a:tr>
              <a:tr h="417576">
                <a:tc>
                  <a:txBody>
                    <a:bodyPr/>
                    <a:lstStyle/>
                    <a:p>
                      <a:pPr>
                        <a:defRPr sz="900" b="1">
                          <a:solidFill>
                            <a:srgbClr val="0F172A"/>
                          </a:solidFill>
                          <a:latin typeface="Segoe UI"/>
                        </a:defRPr>
                      </a:pPr>
                      <a:r>
                        <a:t>CLB Registers (Flip-Flop)</a:t>
                      </a:r>
                    </a:p>
                  </a:txBody>
                  <a:tcPr>
                    <a:solidFill>
                      <a:srgbClr val="F8FAFC"/>
                    </a:solidFill>
                  </a:tcPr>
                </a:tc>
                <a:tc>
                  <a:txBody>
                    <a:bodyPr/>
                    <a:lstStyle/>
                    <a:p>
                      <a:pPr>
                        <a:defRPr sz="900">
                          <a:solidFill>
                            <a:srgbClr val="334155"/>
                          </a:solidFill>
                          <a:latin typeface="Segoe UI"/>
                        </a:defRPr>
                      </a:pPr>
                      <a:r>
                        <a:rPr dirty="0"/>
                        <a:t>4,905</a:t>
                      </a:r>
                    </a:p>
                  </a:txBody>
                  <a:tcPr>
                    <a:solidFill>
                      <a:srgbClr val="F8FAFC"/>
                    </a:solidFill>
                  </a:tcPr>
                </a:tc>
                <a:tc>
                  <a:txBody>
                    <a:bodyPr/>
                    <a:lstStyle/>
                    <a:p>
                      <a:pPr>
                        <a:defRPr sz="900">
                          <a:solidFill>
                            <a:srgbClr val="334155"/>
                          </a:solidFill>
                          <a:latin typeface="Segoe UI"/>
                        </a:defRPr>
                      </a:pPr>
                      <a:r>
                        <a:t>460,800</a:t>
                      </a:r>
                    </a:p>
                  </a:txBody>
                  <a:tcPr>
                    <a:solidFill>
                      <a:srgbClr val="F8FAFC"/>
                    </a:solidFill>
                  </a:tcPr>
                </a:tc>
                <a:tc>
                  <a:txBody>
                    <a:bodyPr/>
                    <a:lstStyle/>
                    <a:p>
                      <a:pPr>
                        <a:defRPr sz="900">
                          <a:solidFill>
                            <a:srgbClr val="334155"/>
                          </a:solidFill>
                          <a:latin typeface="Segoe UI"/>
                        </a:defRPr>
                      </a:pPr>
                      <a:r>
                        <a:t>1.06%</a:t>
                      </a:r>
                    </a:p>
                  </a:txBody>
                  <a:tcPr>
                    <a:solidFill>
                      <a:srgbClr val="F8FAFC"/>
                    </a:solidFill>
                  </a:tcPr>
                </a:tc>
                <a:extLst>
                  <a:ext uri="{0D108BD9-81ED-4DB2-BD59-A6C34878D82A}">
                    <a16:rowId xmlns:a16="http://schemas.microsoft.com/office/drawing/2014/main" val="10002"/>
                  </a:ext>
                </a:extLst>
              </a:tr>
              <a:tr h="417576">
                <a:tc>
                  <a:txBody>
                    <a:bodyPr/>
                    <a:lstStyle/>
                    <a:p>
                      <a:pPr>
                        <a:defRPr sz="900" b="1">
                          <a:solidFill>
                            <a:srgbClr val="0F172A"/>
                          </a:solidFill>
                          <a:latin typeface="Segoe UI"/>
                        </a:defRPr>
                      </a:pPr>
                      <a:r>
                        <a:t>Block RAM Tile</a:t>
                      </a:r>
                    </a:p>
                  </a:txBody>
                  <a:tcPr>
                    <a:solidFill>
                      <a:srgbClr val="FFFFFF"/>
                    </a:solidFill>
                  </a:tcPr>
                </a:tc>
                <a:tc>
                  <a:txBody>
                    <a:bodyPr/>
                    <a:lstStyle/>
                    <a:p>
                      <a:pPr>
                        <a:defRPr sz="900">
                          <a:solidFill>
                            <a:srgbClr val="334155"/>
                          </a:solidFill>
                          <a:latin typeface="Segoe UI"/>
                        </a:defRPr>
                      </a:pPr>
                      <a:r>
                        <a:t>6.5</a:t>
                      </a:r>
                    </a:p>
                  </a:txBody>
                  <a:tcPr>
                    <a:solidFill>
                      <a:srgbClr val="FFFFFF"/>
                    </a:solidFill>
                  </a:tcPr>
                </a:tc>
                <a:tc>
                  <a:txBody>
                    <a:bodyPr/>
                    <a:lstStyle/>
                    <a:p>
                      <a:pPr>
                        <a:defRPr sz="900">
                          <a:solidFill>
                            <a:srgbClr val="334155"/>
                          </a:solidFill>
                          <a:latin typeface="Segoe UI"/>
                        </a:defRPr>
                      </a:pPr>
                      <a:r>
                        <a:t>312</a:t>
                      </a:r>
                    </a:p>
                  </a:txBody>
                  <a:tcPr>
                    <a:solidFill>
                      <a:srgbClr val="FFFFFF"/>
                    </a:solidFill>
                  </a:tcPr>
                </a:tc>
                <a:tc>
                  <a:txBody>
                    <a:bodyPr/>
                    <a:lstStyle/>
                    <a:p>
                      <a:pPr>
                        <a:defRPr sz="900">
                          <a:solidFill>
                            <a:srgbClr val="334155"/>
                          </a:solidFill>
                          <a:latin typeface="Segoe UI"/>
                        </a:defRPr>
                      </a:pPr>
                      <a:r>
                        <a:t>2.08%</a:t>
                      </a:r>
                    </a:p>
                  </a:txBody>
                  <a:tcPr>
                    <a:solidFill>
                      <a:srgbClr val="FFFFFF"/>
                    </a:solidFill>
                  </a:tcPr>
                </a:tc>
                <a:extLst>
                  <a:ext uri="{0D108BD9-81ED-4DB2-BD59-A6C34878D82A}">
                    <a16:rowId xmlns:a16="http://schemas.microsoft.com/office/drawing/2014/main" val="10003"/>
                  </a:ext>
                </a:extLst>
              </a:tr>
              <a:tr h="417576">
                <a:tc>
                  <a:txBody>
                    <a:bodyPr/>
                    <a:lstStyle/>
                    <a:p>
                      <a:pPr>
                        <a:defRPr sz="900" b="1">
                          <a:solidFill>
                            <a:srgbClr val="0F172A"/>
                          </a:solidFill>
                          <a:latin typeface="Segoe UI"/>
                        </a:defRPr>
                      </a:pPr>
                      <a:r>
                        <a:t>CARRY8 Primitives</a:t>
                      </a:r>
                    </a:p>
                  </a:txBody>
                  <a:tcPr>
                    <a:solidFill>
                      <a:srgbClr val="F8FAFC"/>
                    </a:solidFill>
                  </a:tcPr>
                </a:tc>
                <a:tc>
                  <a:txBody>
                    <a:bodyPr/>
                    <a:lstStyle/>
                    <a:p>
                      <a:pPr>
                        <a:defRPr sz="900">
                          <a:solidFill>
                            <a:srgbClr val="334155"/>
                          </a:solidFill>
                          <a:latin typeface="Segoe UI"/>
                        </a:defRPr>
                      </a:pPr>
                      <a:r>
                        <a:t>57</a:t>
                      </a:r>
                    </a:p>
                  </a:txBody>
                  <a:tcPr>
                    <a:solidFill>
                      <a:srgbClr val="F8FAFC"/>
                    </a:solidFill>
                  </a:tcPr>
                </a:tc>
                <a:tc>
                  <a:txBody>
                    <a:bodyPr/>
                    <a:lstStyle/>
                    <a:p>
                      <a:pPr>
                        <a:defRPr sz="900">
                          <a:solidFill>
                            <a:srgbClr val="334155"/>
                          </a:solidFill>
                          <a:latin typeface="Segoe UI"/>
                        </a:defRPr>
                      </a:pPr>
                      <a:r>
                        <a:t>28,800</a:t>
                      </a:r>
                    </a:p>
                  </a:txBody>
                  <a:tcPr>
                    <a:solidFill>
                      <a:srgbClr val="F8FAFC"/>
                    </a:solidFill>
                  </a:tcPr>
                </a:tc>
                <a:tc>
                  <a:txBody>
                    <a:bodyPr/>
                    <a:lstStyle/>
                    <a:p>
                      <a:pPr>
                        <a:defRPr sz="900">
                          <a:solidFill>
                            <a:srgbClr val="334155"/>
                          </a:solidFill>
                          <a:latin typeface="Segoe UI"/>
                        </a:defRPr>
                      </a:pPr>
                      <a:r>
                        <a:t>0.20%</a:t>
                      </a:r>
                    </a:p>
                  </a:txBody>
                  <a:tcPr>
                    <a:solidFill>
                      <a:srgbClr val="F8FAFC"/>
                    </a:solidFill>
                  </a:tcPr>
                </a:tc>
                <a:extLst>
                  <a:ext uri="{0D108BD9-81ED-4DB2-BD59-A6C34878D82A}">
                    <a16:rowId xmlns:a16="http://schemas.microsoft.com/office/drawing/2014/main" val="10004"/>
                  </a:ext>
                </a:extLst>
              </a:tr>
              <a:tr h="417576">
                <a:tc>
                  <a:txBody>
                    <a:bodyPr/>
                    <a:lstStyle/>
                    <a:p>
                      <a:pPr>
                        <a:defRPr sz="900" b="1">
                          <a:solidFill>
                            <a:srgbClr val="0F172A"/>
                          </a:solidFill>
                          <a:latin typeface="Segoe UI"/>
                        </a:defRPr>
                      </a:pPr>
                      <a:r>
                        <a:t>DSP và URAM</a:t>
                      </a:r>
                    </a:p>
                  </a:txBody>
                  <a:tcPr>
                    <a:solidFill>
                      <a:srgbClr val="FFFFFF"/>
                    </a:solidFill>
                  </a:tcPr>
                </a:tc>
                <a:tc>
                  <a:txBody>
                    <a:bodyPr/>
                    <a:lstStyle/>
                    <a:p>
                      <a:pPr>
                        <a:defRPr sz="900">
                          <a:solidFill>
                            <a:srgbClr val="334155"/>
                          </a:solidFill>
                          <a:latin typeface="Segoe UI"/>
                        </a:defRPr>
                      </a:pPr>
                      <a:r>
                        <a:t>0</a:t>
                      </a:r>
                    </a:p>
                  </a:txBody>
                  <a:tcPr>
                    <a:solidFill>
                      <a:srgbClr val="FFFFFF"/>
                    </a:solidFill>
                  </a:tcPr>
                </a:tc>
                <a:tc>
                  <a:txBody>
                    <a:bodyPr/>
                    <a:lstStyle/>
                    <a:p>
                      <a:pPr>
                        <a:defRPr sz="900">
                          <a:solidFill>
                            <a:srgbClr val="334155"/>
                          </a:solidFill>
                          <a:latin typeface="Segoe UI"/>
                        </a:defRPr>
                      </a:pPr>
                      <a:r>
                        <a:t>1,728</a:t>
                      </a:r>
                    </a:p>
                  </a:txBody>
                  <a:tcPr>
                    <a:solidFill>
                      <a:srgbClr val="FFFFFF"/>
                    </a:solidFill>
                  </a:tcPr>
                </a:tc>
                <a:tc>
                  <a:txBody>
                    <a:bodyPr/>
                    <a:lstStyle/>
                    <a:p>
                      <a:pPr>
                        <a:defRPr sz="900">
                          <a:solidFill>
                            <a:srgbClr val="334155"/>
                          </a:solidFill>
                          <a:latin typeface="Segoe UI"/>
                        </a:defRPr>
                      </a:pPr>
                      <a:r>
                        <a:rPr dirty="0"/>
                        <a:t>0.00%</a:t>
                      </a:r>
                    </a:p>
                  </a:txBody>
                  <a:tcPr>
                    <a:solidFill>
                      <a:srgbClr val="FFFFF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731520" y="4754880"/>
            <a:ext cx="10698480" cy="1371600"/>
          </a:xfrm>
          <a:prstGeom prst="rect">
            <a:avLst/>
          </a:prstGeom>
          <a:noFill/>
        </p:spPr>
        <p:txBody>
          <a:bodyPr wrap="square" lIns="0" tIns="0" rIns="0" bIns="0">
            <a:spAutoFit/>
          </a:bodyPr>
          <a:lstStyle/>
          <a:p>
            <a:pPr>
              <a:spcAft>
                <a:spcPts val="600"/>
              </a:spcAft>
              <a:defRPr sz="950">
                <a:latin typeface="Segoe UI"/>
              </a:defRPr>
            </a:pPr>
            <a:r>
              <a:rPr b="1">
                <a:solidFill>
                  <a:srgbClr val="0F172A"/>
                </a:solidFill>
              </a:rPr>
              <a:t>Worst Negative Slack (WNS) — </a:t>
            </a:r>
            <a:r>
              <a:rPr>
                <a:solidFill>
                  <a:srgbClr val="334155"/>
                </a:solidFill>
              </a:rPr>
              <a:t>+3.733 ns (chu kỳ 10.0 ns) — Fmax lý thuyết ~160 MHz.</a:t>
            </a:r>
          </a:p>
          <a:p>
            <a:pPr>
              <a:spcAft>
                <a:spcPts val="600"/>
              </a:spcAft>
              <a:defRPr sz="950">
                <a:latin typeface="Segoe UI"/>
              </a:defRPr>
            </a:pPr>
            <a:r>
              <a:rPr b="1">
                <a:solidFill>
                  <a:srgbClr val="0F172A"/>
                </a:solidFill>
              </a:rPr>
              <a:t>Total Negative Slack (TNS) — </a:t>
            </a:r>
            <a:r>
              <a:rPr>
                <a:solidFill>
                  <a:srgbClr val="334155"/>
                </a:solidFill>
              </a:rPr>
              <a:t>0.000 ns — Không vi phạm setup tại bất kỳ endpoint nào.</a:t>
            </a:r>
          </a:p>
          <a:p>
            <a:pPr>
              <a:spcAft>
                <a:spcPts val="600"/>
              </a:spcAft>
              <a:defRPr sz="950">
                <a:latin typeface="Segoe UI"/>
              </a:defRPr>
            </a:pPr>
            <a:r>
              <a:rPr b="1">
                <a:solidFill>
                  <a:srgbClr val="0F172A"/>
                </a:solidFill>
              </a:rPr>
              <a:t>Worst Hold Slack (WHS) — </a:t>
            </a:r>
            <a:r>
              <a:rPr>
                <a:solidFill>
                  <a:srgbClr val="334155"/>
                </a:solidFill>
              </a:rPr>
              <a:t>+0.011 ns / THS = 0.000 ns — Hold slack đạt chuẩn sau Route.</a:t>
            </a:r>
          </a:p>
          <a:p>
            <a:pPr>
              <a:spcAft>
                <a:spcPts val="600"/>
              </a:spcAft>
              <a:defRPr sz="950">
                <a:latin typeface="Segoe UI"/>
              </a:defRPr>
            </a:pPr>
            <a:r>
              <a:rPr b="1">
                <a:solidFill>
                  <a:srgbClr val="0F172A"/>
                </a:solidFill>
              </a:rPr>
              <a:t>Tài nguyên riêng Core — </a:t>
            </a:r>
            <a:r>
              <a:rPr>
                <a:solidFill>
                  <a:srgbClr val="334155"/>
                </a:solidFill>
              </a:rPr>
              <a:t>2,425 LUTs và 1,550 FFs. Thí nghiệm tối ưu có thể giảm 327 LUT (13.5%).</a:t>
            </a:r>
          </a:p>
        </p:txBody>
      </p:sp>
      <p:pic>
        <p:nvPicPr>
          <p:cNvPr id="13" name="Picture 12">
            <a:extLst>
              <a:ext uri="{FF2B5EF4-FFF2-40B4-BE49-F238E27FC236}">
                <a16:creationId xmlns:a16="http://schemas.microsoft.com/office/drawing/2014/main" id="{59131494-C2A9-43DB-A211-D1E1C40EAD11}"/>
              </a:ext>
            </a:extLst>
          </p:cNvPr>
          <p:cNvPicPr>
            <a:picLocks noChangeAspect="1"/>
          </p:cNvPicPr>
          <p:nvPr/>
        </p:nvPicPr>
        <p:blipFill>
          <a:blip r:embed="rId2"/>
          <a:stretch>
            <a:fillRect/>
          </a:stretch>
        </p:blipFill>
        <p:spPr>
          <a:xfrm>
            <a:off x="165100" y="1956816"/>
            <a:ext cx="5213350" cy="19018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84048"/>
            <a:ext cx="10698480" cy="228600"/>
          </a:xfrm>
          <a:prstGeom prst="rect">
            <a:avLst/>
          </a:prstGeom>
          <a:noFill/>
        </p:spPr>
        <p:txBody>
          <a:bodyPr wrap="none" lIns="0" tIns="0" rIns="0" bIns="0">
            <a:spAutoFit/>
          </a:bodyPr>
          <a:lstStyle/>
          <a:p>
            <a:pPr>
              <a:defRPr sz="900" b="1">
                <a:solidFill>
                  <a:srgbClr val="F26F21"/>
                </a:solidFill>
                <a:latin typeface="Segoe UI"/>
              </a:defRPr>
            </a:pPr>
            <a:r>
              <a:t>CHƯƠNG 5. HƯỚNG PHÁT TRIỂN</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1950" b="1">
                <a:solidFill>
                  <a:srgbClr val="0F172A"/>
                </a:solidFill>
                <a:latin typeface="Segoe UI"/>
              </a:defRPr>
            </a:pPr>
            <a:r>
              <a:t>5. Các Hướng Phát Triển &amp; Nâng Cao Hiệu Năng</a:t>
            </a:r>
          </a:p>
        </p:txBody>
      </p:sp>
      <p:sp>
        <p:nvSpPr>
          <p:cNvPr id="4" name="Rectangle 3"/>
          <p:cNvSpPr/>
          <p:nvPr/>
        </p:nvSpPr>
        <p:spPr>
          <a:xfrm>
            <a:off x="731520" y="1408176"/>
            <a:ext cx="10698480"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10698480" cy="228600"/>
          </a:xfrm>
          <a:prstGeom prst="rect">
            <a:avLst/>
          </a:prstGeom>
          <a:noFill/>
        </p:spPr>
        <p:txBody>
          <a:bodyPr wrap="none" lIns="0" tIns="0" rIns="0" bIns="0">
            <a:spAutoFit/>
          </a:bodyPr>
          <a:lstStyle/>
          <a:p>
            <a:pPr>
              <a:defRPr sz="850">
                <a:solidFill>
                  <a:srgbClr val="64748B"/>
                </a:solidFill>
                <a:latin typeface="Segoe UI"/>
              </a:defRPr>
            </a:pPr>
            <a:r>
              <a:t>Báo Cáo Kỹ Thuật CPU RV32I • Nguyễn Tuấn Ngọc • FPT Semiconductor  —  Trang 27/28</a:t>
            </a:r>
          </a:p>
        </p:txBody>
      </p:sp>
      <p:sp>
        <p:nvSpPr>
          <p:cNvPr id="6" name="TextBox 5"/>
          <p:cNvSpPr txBox="1"/>
          <p:nvPr/>
        </p:nvSpPr>
        <p:spPr>
          <a:xfrm>
            <a:off x="731520" y="1737360"/>
            <a:ext cx="3291840" cy="4389120"/>
          </a:xfrm>
          <a:prstGeom prst="rect">
            <a:avLst/>
          </a:prstGeom>
          <a:noFill/>
        </p:spPr>
        <p:txBody>
          <a:bodyPr wrap="square" lIns="0" tIns="0" rIns="0" bIns="0">
            <a:spAutoFit/>
          </a:bodyPr>
          <a:lstStyle/>
          <a:p>
            <a:pPr>
              <a:spcAft>
                <a:spcPts val="1200"/>
              </a:spcAft>
              <a:defRPr sz="1000">
                <a:latin typeface="Segoe UI"/>
              </a:defRPr>
            </a:pPr>
            <a:r>
              <a:rPr b="1">
                <a:solidFill>
                  <a:srgbClr val="0F172A"/>
                </a:solidFill>
              </a:rPr>
              <a:t>Vấn đề hiện tại — </a:t>
            </a:r>
            <a:r>
              <a:rPr>
                <a:solidFill>
                  <a:srgbClr val="334155"/>
                </a:solidFill>
              </a:rPr>
              <a:t>Toàn hệ thống chạy chung clock 100 MHz.</a:t>
            </a:r>
          </a:p>
          <a:p>
            <a:pPr>
              <a:spcAft>
                <a:spcPts val="1200"/>
              </a:spcAft>
              <a:defRPr sz="1000">
                <a:latin typeface="Segoe UI"/>
              </a:defRPr>
            </a:pPr>
            <a:r>
              <a:rPr b="1">
                <a:solidFill>
                  <a:srgbClr val="0F172A"/>
                </a:solidFill>
              </a:rPr>
              <a:t>Giải pháp đề xuất — </a:t>
            </a:r>
            <a:r>
              <a:rPr>
                <a:solidFill>
                  <a:srgbClr val="334155"/>
                </a:solidFill>
              </a:rPr>
              <a:t>Core 150 MHz (tăng 50%), ngoại vi 50 MHz (tiết kiệm năng lượng).</a:t>
            </a:r>
          </a:p>
          <a:p>
            <a:pPr>
              <a:spcAft>
                <a:spcPts val="1200"/>
              </a:spcAft>
              <a:defRPr sz="1000">
                <a:latin typeface="Segoe UI"/>
              </a:defRPr>
            </a:pPr>
            <a:r>
              <a:rPr b="1">
                <a:solidFill>
                  <a:srgbClr val="0F172A"/>
                </a:solidFill>
              </a:rPr>
              <a:t>Cơ chế thực hiện — </a:t>
            </a:r>
            <a:r>
              <a:rPr>
                <a:solidFill>
                  <a:srgbClr val="334155"/>
                </a:solidFill>
              </a:rPr>
              <a:t>Clock Wizard xuất 2 clock, SmartConnect làm cầu CDC.</a:t>
            </a:r>
          </a:p>
        </p:txBody>
      </p:sp>
      <p:sp>
        <p:nvSpPr>
          <p:cNvPr id="7" name="TextBox 6"/>
          <p:cNvSpPr txBox="1"/>
          <p:nvPr/>
        </p:nvSpPr>
        <p:spPr>
          <a:xfrm>
            <a:off x="4389120" y="1737360"/>
            <a:ext cx="3291840" cy="4389120"/>
          </a:xfrm>
          <a:prstGeom prst="rect">
            <a:avLst/>
          </a:prstGeom>
          <a:noFill/>
        </p:spPr>
        <p:txBody>
          <a:bodyPr wrap="square" lIns="0" tIns="0" rIns="0" bIns="0">
            <a:spAutoFit/>
          </a:bodyPr>
          <a:lstStyle/>
          <a:p>
            <a:pPr>
              <a:spcAft>
                <a:spcPts val="1200"/>
              </a:spcAft>
              <a:defRPr sz="1000">
                <a:latin typeface="Segoe UI"/>
              </a:defRPr>
            </a:pPr>
            <a:r>
              <a:rPr b="1">
                <a:solidFill>
                  <a:srgbClr val="0F172A"/>
                </a:solidFill>
              </a:rPr>
              <a:t>Đã viết xong RTL — </a:t>
            </a:r>
            <a:r>
              <a:rPr>
                <a:solidFill>
                  <a:srgbClr val="334155"/>
                </a:solidFill>
              </a:rPr>
              <a:t>CLA 32-bit, Carry-Select Adder, Barrel Shifter.</a:t>
            </a:r>
          </a:p>
          <a:p>
            <a:pPr>
              <a:spcAft>
                <a:spcPts val="1200"/>
              </a:spcAft>
              <a:defRPr sz="1000">
                <a:latin typeface="Segoe UI"/>
              </a:defRPr>
            </a:pPr>
            <a:r>
              <a:rPr b="1">
                <a:solidFill>
                  <a:srgbClr val="0F172A"/>
                </a:solidFill>
              </a:rPr>
              <a:t>Kế hoạch kích hoạt — </a:t>
            </a:r>
            <a:r>
              <a:rPr>
                <a:solidFill>
                  <a:srgbClr val="334155"/>
                </a:solidFill>
              </a:rPr>
              <a:t>Chạy 3 bộ regression, so sánh PPA rồi chọn mặc định.</a:t>
            </a:r>
          </a:p>
          <a:p>
            <a:pPr>
              <a:spcAft>
                <a:spcPts val="1200"/>
              </a:spcAft>
              <a:defRPr sz="1000">
                <a:latin typeface="Segoe UI"/>
              </a:defRPr>
            </a:pPr>
            <a:r>
              <a:rPr b="1">
                <a:solidFill>
                  <a:srgbClr val="0F172A"/>
                </a:solidFill>
              </a:rPr>
              <a:t>Tối ưu diện tích — </a:t>
            </a:r>
            <a:r>
              <a:rPr>
                <a:solidFill>
                  <a:srgbClr val="334155"/>
                </a:solidFill>
              </a:rPr>
              <a:t>Giảm 327 LUT ở id_ex_reg sau khi regression đầy đủ.</a:t>
            </a:r>
          </a:p>
        </p:txBody>
      </p:sp>
      <p:sp>
        <p:nvSpPr>
          <p:cNvPr id="8" name="TextBox 7"/>
          <p:cNvSpPr txBox="1"/>
          <p:nvPr/>
        </p:nvSpPr>
        <p:spPr>
          <a:xfrm>
            <a:off x="8046720" y="1737360"/>
            <a:ext cx="3291840" cy="4389120"/>
          </a:xfrm>
          <a:prstGeom prst="rect">
            <a:avLst/>
          </a:prstGeom>
          <a:noFill/>
        </p:spPr>
        <p:txBody>
          <a:bodyPr wrap="square" lIns="0" tIns="0" rIns="0" bIns="0">
            <a:spAutoFit/>
          </a:bodyPr>
          <a:lstStyle/>
          <a:p>
            <a:pPr>
              <a:spcAft>
                <a:spcPts val="1200"/>
              </a:spcAft>
              <a:defRPr sz="1000">
                <a:latin typeface="Segoe UI"/>
              </a:defRPr>
            </a:pPr>
            <a:r>
              <a:rPr b="1">
                <a:solidFill>
                  <a:srgbClr val="0F172A"/>
                </a:solidFill>
              </a:rPr>
              <a:t>Mở rộng ISA — </a:t>
            </a:r>
            <a:r>
              <a:rPr>
                <a:solidFill>
                  <a:srgbClr val="334155"/>
                </a:solidFill>
              </a:rPr>
              <a:t>Thêm RV32M (nhân/chia) và RV32C (nén lệnh).</a:t>
            </a:r>
          </a:p>
          <a:p>
            <a:pPr>
              <a:spcAft>
                <a:spcPts val="1200"/>
              </a:spcAft>
              <a:defRPr sz="1000">
                <a:latin typeface="Segoe UI"/>
              </a:defRPr>
            </a:pPr>
            <a:r>
              <a:rPr b="1">
                <a:solidFill>
                  <a:srgbClr val="0F172A"/>
                </a:solidFill>
              </a:rPr>
              <a:t>Mở rộng ngoại vi — </a:t>
            </a:r>
            <a:r>
              <a:rPr>
                <a:solidFill>
                  <a:srgbClr val="334155"/>
                </a:solidFill>
              </a:rPr>
              <a:t>Thêm SPI, I2C kết nối cảm biến (còn trống 98% LUT).</a:t>
            </a:r>
          </a:p>
          <a:p>
            <a:pPr>
              <a:spcAft>
                <a:spcPts val="1200"/>
              </a:spcAft>
              <a:defRPr sz="1000">
                <a:latin typeface="Segoe UI"/>
              </a:defRPr>
            </a:pPr>
            <a:r>
              <a:rPr b="1">
                <a:solidFill>
                  <a:srgbClr val="0F172A"/>
                </a:solidFill>
              </a:rPr>
              <a:t>ILA Debug — </a:t>
            </a:r>
            <a:r>
              <a:rPr>
                <a:solidFill>
                  <a:srgbClr val="334155"/>
                </a:solidFill>
              </a:rPr>
              <a:t>Bắt tín hiệu pipeline thời gian thực trên board.</a:t>
            </a:r>
          </a:p>
          <a:p>
            <a:pPr>
              <a:spcAft>
                <a:spcPts val="1200"/>
              </a:spcAft>
              <a:defRPr sz="1000">
                <a:latin typeface="Segoe UI"/>
              </a:defRPr>
            </a:pPr>
            <a:r>
              <a:rPr b="1">
                <a:solidFill>
                  <a:srgbClr val="0F172A"/>
                </a:solidFill>
              </a:rPr>
              <a:t>Kiểm chứng — </a:t>
            </a:r>
            <a:r>
              <a:rPr>
                <a:solidFill>
                  <a:srgbClr val="334155"/>
                </a:solidFill>
              </a:rPr>
              <a:t>Co-simulation với ISS và tích hợp RISCOF.</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1520" y="1280160"/>
            <a:ext cx="73152" cy="4206240"/>
          </a:xfrm>
          <a:prstGeom prst="rect">
            <a:avLst/>
          </a:prstGeom>
          <a:solidFill>
            <a:srgbClr val="F26F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280160"/>
            <a:ext cx="10332720" cy="914400"/>
          </a:xfrm>
          <a:prstGeom prst="rect">
            <a:avLst/>
          </a:prstGeom>
          <a:noFill/>
        </p:spPr>
        <p:txBody>
          <a:bodyPr wrap="square" lIns="0" tIns="0" rIns="0" bIns="0">
            <a:spAutoFit/>
          </a:bodyPr>
          <a:lstStyle/>
          <a:p>
            <a:pPr>
              <a:defRPr sz="1050" b="1">
                <a:solidFill>
                  <a:srgbClr val="F26F21"/>
                </a:solidFill>
                <a:latin typeface="Segoe UI"/>
              </a:defRPr>
            </a:pPr>
            <a:r>
              <a:t>CHƯƠNG 6. TỔNG KẾT</a:t>
            </a:r>
          </a:p>
          <a:p>
            <a:pPr>
              <a:spcBef>
                <a:spcPts val="400"/>
              </a:spcBef>
              <a:defRPr sz="2200" b="1">
                <a:solidFill>
                  <a:srgbClr val="0F172A"/>
                </a:solidFill>
                <a:latin typeface="Segoe UI"/>
              </a:defRPr>
            </a:pPr>
            <a:r>
              <a:t>Tổng Kết Dự Án &amp; Phiên Thảo Luận Q&amp;A</a:t>
            </a:r>
          </a:p>
        </p:txBody>
      </p:sp>
      <p:sp>
        <p:nvSpPr>
          <p:cNvPr id="4" name="TextBox 3"/>
          <p:cNvSpPr txBox="1"/>
          <p:nvPr/>
        </p:nvSpPr>
        <p:spPr>
          <a:xfrm>
            <a:off x="1097280" y="2468880"/>
            <a:ext cx="3291840" cy="3108960"/>
          </a:xfrm>
          <a:prstGeom prst="rect">
            <a:avLst/>
          </a:prstGeom>
          <a:noFill/>
        </p:spPr>
        <p:txBody>
          <a:bodyPr wrap="square" lIns="0" tIns="0" rIns="0" bIns="0">
            <a:spAutoFit/>
          </a:bodyPr>
          <a:lstStyle/>
          <a:p>
            <a:pPr>
              <a:spcAft>
                <a:spcPts val="1000"/>
              </a:spcAft>
              <a:defRPr sz="950">
                <a:latin typeface="Segoe UI"/>
              </a:defRPr>
            </a:pPr>
            <a:r>
              <a:rPr b="1">
                <a:solidFill>
                  <a:srgbClr val="0F172A"/>
                </a:solidFill>
              </a:rPr>
              <a:t>Core RV32I hoàn chỉnh — </a:t>
            </a:r>
            <a:r>
              <a:rPr>
                <a:solidFill>
                  <a:srgbClr val="334155"/>
                </a:solidFill>
              </a:rPr>
              <a:t>5 tầng, Zicsr, Machine mode, chạy thực trên bo ZCU106.</a:t>
            </a:r>
          </a:p>
          <a:p>
            <a:pPr>
              <a:spcAft>
                <a:spcPts val="1000"/>
              </a:spcAft>
              <a:defRPr sz="950">
                <a:latin typeface="Segoe UI"/>
              </a:defRPr>
            </a:pPr>
            <a:r>
              <a:rPr b="1">
                <a:solidFill>
                  <a:srgbClr val="0F172A"/>
                </a:solidFill>
              </a:rPr>
              <a:t>Single Commit Point — </a:t>
            </a:r>
            <a:r>
              <a:rPr>
                <a:solidFill>
                  <a:srgbClr val="334155"/>
                </a:solidFill>
              </a:rPr>
              <a:t>Bảo đảm trật tự lệnh và ngoại lệ chính xác bằng phần cứng.</a:t>
            </a:r>
          </a:p>
          <a:p>
            <a:pPr>
              <a:spcAft>
                <a:spcPts val="1000"/>
              </a:spcAft>
              <a:defRPr sz="950">
                <a:latin typeface="Segoe UI"/>
              </a:defRPr>
            </a:pPr>
            <a:r>
              <a:rPr b="1">
                <a:solidFill>
                  <a:srgbClr val="0F172A"/>
                </a:solidFill>
              </a:rPr>
              <a:t>Xử lý độ trễ AXI — </a:t>
            </a:r>
            <a:r>
              <a:rPr>
                <a:solidFill>
                  <a:srgbClr val="334155"/>
                </a:solidFill>
              </a:rPr>
              <a:t>Đóng băng pipeline và hủy fetch cũ an toàn qua thanh ghi.</a:t>
            </a:r>
          </a:p>
        </p:txBody>
      </p:sp>
      <p:sp>
        <p:nvSpPr>
          <p:cNvPr id="5" name="TextBox 4"/>
          <p:cNvSpPr txBox="1"/>
          <p:nvPr/>
        </p:nvSpPr>
        <p:spPr>
          <a:xfrm>
            <a:off x="4663440" y="2468880"/>
            <a:ext cx="3291840" cy="3108960"/>
          </a:xfrm>
          <a:prstGeom prst="rect">
            <a:avLst/>
          </a:prstGeom>
          <a:noFill/>
        </p:spPr>
        <p:txBody>
          <a:bodyPr wrap="square" lIns="0" tIns="0" rIns="0" bIns="0">
            <a:spAutoFit/>
          </a:bodyPr>
          <a:lstStyle/>
          <a:p>
            <a:pPr>
              <a:spcAft>
                <a:spcPts val="1000"/>
              </a:spcAft>
              <a:defRPr sz="950">
                <a:latin typeface="Segoe UI"/>
              </a:defRPr>
            </a:pPr>
            <a:r>
              <a:rPr b="1">
                <a:solidFill>
                  <a:srgbClr val="0F172A"/>
                </a:solidFill>
              </a:rPr>
              <a:t>Timing Closure 100 MHz — </a:t>
            </a:r>
            <a:r>
              <a:rPr>
                <a:solidFill>
                  <a:srgbClr val="334155"/>
                </a:solidFill>
              </a:rPr>
              <a:t>WNS +3.733 ns, TNS = 0.000 ns sau Place &amp; Route.</a:t>
            </a:r>
          </a:p>
          <a:p>
            <a:pPr>
              <a:spcAft>
                <a:spcPts val="1000"/>
              </a:spcAft>
              <a:defRPr sz="950">
                <a:latin typeface="Segoe UI"/>
              </a:defRPr>
            </a:pPr>
            <a:r>
              <a:rPr b="1">
                <a:solidFill>
                  <a:srgbClr val="0F172A"/>
                </a:solidFill>
              </a:rPr>
              <a:t>Tài nguyên dùng &lt; 2% — </a:t>
            </a:r>
            <a:r>
              <a:rPr>
                <a:solidFill>
                  <a:srgbClr val="334155"/>
                </a:solidFill>
              </a:rPr>
              <a:t>4,337 LUTs trên chip AMD ZU7EV (rất tiết kiệm diện tích).</a:t>
            </a:r>
          </a:p>
          <a:p>
            <a:pPr>
              <a:spcAft>
                <a:spcPts val="1000"/>
              </a:spcAft>
              <a:defRPr sz="950">
                <a:latin typeface="Segoe UI"/>
              </a:defRPr>
            </a:pPr>
            <a:r>
              <a:rPr b="1">
                <a:solidFill>
                  <a:srgbClr val="0F172A"/>
                </a:solidFill>
              </a:rPr>
              <a:t>101/101 Regression PASS — </a:t>
            </a:r>
            <a:r>
              <a:rPr>
                <a:solidFill>
                  <a:srgbClr val="334155"/>
                </a:solidFill>
              </a:rPr>
              <a:t>0 FAIL trên cả 3 bộ kiểm chứng tự động self-checking.</a:t>
            </a:r>
          </a:p>
          <a:p>
            <a:pPr>
              <a:spcAft>
                <a:spcPts val="1000"/>
              </a:spcAft>
              <a:defRPr sz="950">
                <a:latin typeface="Segoe UI"/>
              </a:defRPr>
            </a:pPr>
            <a:r>
              <a:rPr b="1">
                <a:solidFill>
                  <a:srgbClr val="0F172A"/>
                </a:solidFill>
              </a:rPr>
              <a:t>6 lỗi debug thực tế — </a:t>
            </a:r>
            <a:r>
              <a:rPr>
                <a:solidFill>
                  <a:srgbClr val="334155"/>
                </a:solidFill>
              </a:rPr>
              <a:t>Đã tìm và khắc phục triệt để; rút ra 2 bài học lớn.</a:t>
            </a:r>
          </a:p>
        </p:txBody>
      </p:sp>
      <p:sp>
        <p:nvSpPr>
          <p:cNvPr id="6" name="TextBox 5"/>
          <p:cNvSpPr txBox="1"/>
          <p:nvPr/>
        </p:nvSpPr>
        <p:spPr>
          <a:xfrm>
            <a:off x="8229600" y="2468880"/>
            <a:ext cx="3291840" cy="3108960"/>
          </a:xfrm>
          <a:prstGeom prst="rect">
            <a:avLst/>
          </a:prstGeom>
          <a:noFill/>
        </p:spPr>
        <p:txBody>
          <a:bodyPr wrap="square" lIns="0" tIns="0" rIns="0" bIns="0">
            <a:spAutoFit/>
          </a:bodyPr>
          <a:lstStyle/>
          <a:p>
            <a:pPr>
              <a:spcAft>
                <a:spcPts val="1000"/>
              </a:spcAft>
              <a:defRPr sz="950">
                <a:latin typeface="Segoe UI"/>
              </a:defRPr>
            </a:pPr>
            <a:r>
              <a:rPr b="1">
                <a:solidFill>
                  <a:srgbClr val="0F172A"/>
                </a:solidFill>
              </a:rPr>
              <a:t>Dư địa mở rộng rất lớn — </a:t>
            </a:r>
            <a:r>
              <a:rPr>
                <a:solidFill>
                  <a:srgbClr val="334155"/>
                </a:solidFill>
              </a:rPr>
              <a:t>Còn trống &gt; 98% LUT logic trên FPGA.</a:t>
            </a:r>
          </a:p>
          <a:p>
            <a:pPr>
              <a:spcAft>
                <a:spcPts val="1000"/>
              </a:spcAft>
              <a:defRPr sz="950">
                <a:latin typeface="Segoe UI"/>
              </a:defRPr>
            </a:pPr>
            <a:r>
              <a:rPr b="1">
                <a:solidFill>
                  <a:srgbClr val="0F172A"/>
                </a:solidFill>
              </a:rPr>
              <a:t>Kiến trúc Dual-Clock — </a:t>
            </a:r>
            <a:r>
              <a:rPr>
                <a:solidFill>
                  <a:srgbClr val="334155"/>
                </a:solidFill>
              </a:rPr>
              <a:t>Sẵn sàng nâng xung Core lên 150 MHz.</a:t>
            </a:r>
          </a:p>
          <a:p>
            <a:pPr>
              <a:spcAft>
                <a:spcPts val="1000"/>
              </a:spcAft>
              <a:defRPr sz="950">
                <a:latin typeface="Segoe UI"/>
              </a:defRPr>
            </a:pPr>
            <a:r>
              <a:rPr b="1">
                <a:solidFill>
                  <a:srgbClr val="0F172A"/>
                </a:solidFill>
              </a:rPr>
              <a:t>Lộ trình tương lai — </a:t>
            </a:r>
            <a:r>
              <a:rPr>
                <a:solidFill>
                  <a:srgbClr val="334155"/>
                </a:solidFill>
              </a:rPr>
              <a:t>Tích hợp RV32M, RV32C và L1 Cache nhúng.</a:t>
            </a:r>
          </a:p>
        </p:txBody>
      </p:sp>
      <p:sp>
        <p:nvSpPr>
          <p:cNvPr id="7" name="TextBox 6"/>
          <p:cNvSpPr txBox="1"/>
          <p:nvPr/>
        </p:nvSpPr>
        <p:spPr>
          <a:xfrm>
            <a:off x="1097280" y="5760720"/>
            <a:ext cx="10332720" cy="457200"/>
          </a:xfrm>
          <a:prstGeom prst="rect">
            <a:avLst/>
          </a:prstGeom>
          <a:noFill/>
        </p:spPr>
        <p:txBody>
          <a:bodyPr wrap="none">
            <a:spAutoFit/>
          </a:bodyPr>
          <a:lstStyle/>
          <a:p>
            <a:pPr>
              <a:defRPr sz="1100" b="1">
                <a:solidFill>
                  <a:srgbClr val="F26F21"/>
                </a:solidFill>
                <a:latin typeface="Segoe UI"/>
              </a:defRPr>
            </a:pPr>
            <a:r>
              <a:t>XIN TRÂN TRỌNG CẢM ƠN QUÝ BAN LÃNH ĐẠO VÀ HỘI ĐỒNG FPT SEMICONDUCTOR! KÍNH MỜI ĐẶT CÂU HỎI.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105</TotalTime>
  <Words>6261</Words>
  <Application>Microsoft Office PowerPoint</Application>
  <PresentationFormat>Widescreen</PresentationFormat>
  <Paragraphs>607</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Ngoc Nguyen Tuan</cp:lastModifiedBy>
  <cp:revision>4</cp:revision>
  <dcterms:created xsi:type="dcterms:W3CDTF">2013-01-27T09:14:16Z</dcterms:created>
  <dcterms:modified xsi:type="dcterms:W3CDTF">2026-08-18T05:21:02Z</dcterms:modified>
  <cp:category/>
</cp:coreProperties>
</file>